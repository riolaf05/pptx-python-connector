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3" r:id="rId1"/>
  </p:sldMasterIdLst>
  <p:notesMasterIdLst>
    <p:notesMasterId r:id="rId15"/>
  </p:notesMasterIdLst>
  <p:sldIdLst>
    <p:sldId id="1324" r:id="rId2"/>
    <p:sldId id="1901" r:id="rId3"/>
    <p:sldId id="1885" r:id="rId4"/>
    <p:sldId id="1892" r:id="rId5"/>
    <p:sldId id="1898" r:id="rId6"/>
    <p:sldId id="1899" r:id="rId7"/>
    <p:sldId id="1900" r:id="rId8"/>
    <p:sldId id="1886" r:id="rId9"/>
    <p:sldId id="1888" r:id="rId10"/>
    <p:sldId id="1891" r:id="rId11"/>
    <p:sldId id="1889" r:id="rId12"/>
    <p:sldId id="1890" r:id="rId13"/>
    <p:sldId id="1902" r:id="rId14"/>
  </p:sldIdLst>
  <p:sldSz cx="12192000" cy="6858000"/>
  <p:notesSz cx="6858000" cy="9144000"/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A78C11F-7E67-9A59-152B-758E50360179}" name="Stefano Silvani" initials="SS" userId="S::s.silvani@value-accelerator.io::8136c9d8-095e-4c36-8b6a-0ea97ab3a2a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34B"/>
    <a:srgbClr val="E5EAF8"/>
    <a:srgbClr val="0030BC"/>
    <a:srgbClr val="5A5A5A"/>
    <a:srgbClr val="2CB786"/>
    <a:srgbClr val="BFCBEE"/>
    <a:srgbClr val="000000"/>
    <a:srgbClr val="F0FAF7"/>
    <a:srgbClr val="124936"/>
    <a:srgbClr val="EBE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4FF526-E4B3-5F44-A2AC-587DCA591C04}" v="80" dt="2026-04-26T16:55:30.2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9"/>
    <p:restoredTop sz="95988"/>
  </p:normalViewPr>
  <p:slideViewPr>
    <p:cSldViewPr snapToGrid="0">
      <p:cViewPr varScale="1">
        <p:scale>
          <a:sx n="97" d="100"/>
          <a:sy n="97" d="100"/>
        </p:scale>
        <p:origin x="232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5/10/relationships/revisionInfo" Target="revisionInfo.xml"/><Relationship Id="rId2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1E24E-A61C-8C4A-A51D-3F5ADFA72098}" type="datetimeFigureOut">
              <a:rPr lang="en-IT" smtClean="0"/>
              <a:t>04/29/2026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1D4D61-4DAF-E841-95A3-780FBB057D5A}" type="slidenum">
              <a:rPr lang="en-IT" smtClean="0"/>
              <a:t>‹N›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096092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Page_with pic_blue">
    <p:bg>
      <p:bgPr>
        <a:solidFill>
          <a:srgbClr val="0030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7A7429D-B533-6FEF-0A67-E7E33DD50B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36950"/>
          </a:xfrm>
          <a:solidFill>
            <a:schemeClr val="bg2"/>
          </a:solidFill>
        </p:spPr>
        <p:txBody>
          <a:bodyPr/>
          <a:lstStyle/>
          <a:p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Header Page with </a:t>
            </a:r>
            <a:r>
              <a:rPr lang="de-DE" err="1"/>
              <a:t>picture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EE5363F0-145A-E4D6-4469-AA2F913129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29"/>
            <a:ext cx="11412538" cy="964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410896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Page_with pic_blue">
    <p:bg>
      <p:bgPr>
        <a:solidFill>
          <a:srgbClr val="001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7A7429D-B533-6FEF-0A67-E7E33DD50B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36950"/>
          </a:xfrm>
          <a:solidFill>
            <a:schemeClr val="bg2"/>
          </a:solidFill>
        </p:spPr>
        <p:txBody>
          <a:bodyPr/>
          <a:lstStyle/>
          <a:p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Header Page with </a:t>
            </a:r>
            <a:r>
              <a:rPr lang="de-DE" err="1"/>
              <a:t>picture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EE5363F0-145A-E4D6-4469-AA2F913129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29"/>
            <a:ext cx="11412538" cy="964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888419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 userDrawn="1">
          <p15:clr>
            <a:srgbClr val="5ACBF0"/>
          </p15:clr>
        </p15:guide>
        <p15:guide id="2" pos="234" userDrawn="1">
          <p15:clr>
            <a:srgbClr val="5ACBF0"/>
          </p15:clr>
        </p15:guide>
        <p15:guide id="3" pos="7423" userDrawn="1">
          <p15:clr>
            <a:srgbClr val="5ACBF0"/>
          </p15:clr>
        </p15:guide>
        <p15:guide id="4" orient="horz" pos="4156" userDrawn="1">
          <p15:clr>
            <a:srgbClr val="5ACBF0"/>
          </p15:clr>
        </p15:guide>
        <p15:guide id="5" orient="horz" pos="3884" userDrawn="1">
          <p15:clr>
            <a:srgbClr val="5ACBF0"/>
          </p15:clr>
        </p15:guide>
        <p15:guide id="6" pos="6131" userDrawn="1">
          <p15:clr>
            <a:srgbClr val="5ACBF0"/>
          </p15:clr>
        </p15:guide>
        <p15:guide id="7" orient="horz" pos="2341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Page_with pic_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7A7429D-B533-6FEF-0A67-E7E33DD50B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36950"/>
          </a:xfrm>
          <a:solidFill>
            <a:schemeClr val="bg2"/>
          </a:solidFill>
        </p:spPr>
        <p:txBody>
          <a:bodyPr/>
          <a:lstStyle/>
          <a:p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de-DE"/>
              <a:t>Header Page with </a:t>
            </a:r>
            <a:r>
              <a:rPr lang="de-DE" err="1"/>
              <a:t>picture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9AFAE5A-6176-E11F-2285-A16D838FB60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29"/>
            <a:ext cx="11412538" cy="964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416834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Page_with logo_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Header Page with logo 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208" y="430823"/>
            <a:ext cx="11412000" cy="3101085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F1AA37-C943-F3F6-BA00-FA2E273748E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30"/>
            <a:ext cx="11412538" cy="9647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666333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Page_with logo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de-DE"/>
              <a:t>Header Page with logo 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208" y="430823"/>
            <a:ext cx="11412000" cy="3101085"/>
          </a:xfrm>
          <a:prstGeom prst="rect">
            <a:avLst/>
          </a:prstGeom>
        </p:spPr>
      </p:pic>
      <p:sp>
        <p:nvSpPr>
          <p:cNvPr id="2" name="Textplatzhalter 2">
            <a:extLst>
              <a:ext uri="{FF2B5EF4-FFF2-40B4-BE49-F238E27FC236}">
                <a16:creationId xmlns:a16="http://schemas.microsoft.com/office/drawing/2014/main" id="{13EEFDE1-6E9E-1D71-521E-7107B5137C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30"/>
            <a:ext cx="11412538" cy="9647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29194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Page_with logo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de-DE"/>
              <a:t>Header Page with logo 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208" y="430823"/>
            <a:ext cx="11412000" cy="3101085"/>
          </a:xfrm>
          <a:prstGeom prst="rect">
            <a:avLst/>
          </a:prstGeom>
        </p:spPr>
      </p:pic>
      <p:sp>
        <p:nvSpPr>
          <p:cNvPr id="2" name="Textplatzhalter 2">
            <a:extLst>
              <a:ext uri="{FF2B5EF4-FFF2-40B4-BE49-F238E27FC236}">
                <a16:creationId xmlns:a16="http://schemas.microsoft.com/office/drawing/2014/main" id="{9822EDF2-8A09-71EA-D20C-D37CF23863F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30"/>
            <a:ext cx="11412538" cy="9647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380545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Page_with logo_blue">
    <p:bg>
      <p:bgPr>
        <a:solidFill>
          <a:srgbClr val="001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Header Page with logo 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208" y="430823"/>
            <a:ext cx="11412000" cy="3101085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F1AA37-C943-F3F6-BA00-FA2E273748E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30"/>
            <a:ext cx="11412538" cy="9647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72737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hapter Page_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1412875"/>
            <a:ext cx="11412538" cy="2772000"/>
          </a:xfrm>
        </p:spPr>
        <p:txBody>
          <a:bodyPr anchor="t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de-DE"/>
              <a:t>Chapter Slide,</a:t>
            </a:r>
            <a:br>
              <a:rPr lang="de-DE"/>
            </a:br>
            <a:r>
              <a:rPr lang="de-DE"/>
              <a:t>Title </a:t>
            </a:r>
            <a:r>
              <a:rPr lang="de-DE" err="1"/>
              <a:t>line</a:t>
            </a:r>
            <a:r>
              <a:rPr lang="de-DE"/>
              <a:t>,</a:t>
            </a:r>
            <a:br>
              <a:rPr lang="de-DE"/>
            </a:br>
            <a:r>
              <a:rPr lang="de-DE"/>
              <a:t>60pt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8FBBF4-1EC5-FE80-A033-2D8200896C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4184874"/>
            <a:ext cx="11412538" cy="16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24pt</a:t>
            </a:r>
            <a:endParaRPr lang="de-AT"/>
          </a:p>
        </p:txBody>
      </p:sp>
      <p:sp>
        <p:nvSpPr>
          <p:cNvPr id="6" name="Fußzeilenplatzhalter 3">
            <a:extLst>
              <a:ext uri="{FF2B5EF4-FFF2-40B4-BE49-F238E27FC236}">
                <a16:creationId xmlns:a16="http://schemas.microsoft.com/office/drawing/2014/main" id="{251EF7EC-D561-6EBA-2D81-D85F77C5C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10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7" name="Datumsplatzhalter 2">
            <a:extLst>
              <a:ext uri="{FF2B5EF4-FFF2-40B4-BE49-F238E27FC236}">
                <a16:creationId xmlns:a16="http://schemas.microsoft.com/office/drawing/2014/main" id="{359BBA35-3801-36D3-8622-CCC3992F26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28620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_l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2">
            <a:extLst>
              <a:ext uri="{FF2B5EF4-FFF2-40B4-BE49-F238E27FC236}">
                <a16:creationId xmlns:a16="http://schemas.microsoft.com/office/drawing/2014/main" id="{E44E60E7-8B3D-D89A-614E-8F07317123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4184874"/>
            <a:ext cx="11412538" cy="16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24pt</a:t>
            </a:r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1412875"/>
            <a:ext cx="11412538" cy="2772000"/>
          </a:xfrm>
        </p:spPr>
        <p:txBody>
          <a:bodyPr anchor="t">
            <a:normAutofit/>
          </a:bodyPr>
          <a:lstStyle>
            <a:lvl1pPr algn="l"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de-DE"/>
              <a:t>Chapter Slide,</a:t>
            </a:r>
            <a:br>
              <a:rPr lang="de-DE"/>
            </a:br>
            <a:r>
              <a:rPr lang="de-DE"/>
              <a:t>Title </a:t>
            </a:r>
            <a:r>
              <a:rPr lang="de-DE" err="1"/>
              <a:t>line</a:t>
            </a:r>
            <a:r>
              <a:rPr lang="de-DE"/>
              <a:t>,</a:t>
            </a:r>
            <a:br>
              <a:rPr lang="de-DE"/>
            </a:br>
            <a:r>
              <a:rPr lang="de-DE"/>
              <a:t>60pt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5" name="Fußzeilenplatzhalter 3">
            <a:extLst>
              <a:ext uri="{FF2B5EF4-FFF2-40B4-BE49-F238E27FC236}">
                <a16:creationId xmlns:a16="http://schemas.microsoft.com/office/drawing/2014/main" id="{89AE636F-5BBF-D776-3AC7-6DD8D061F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10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6" name="Datumsplatzhalter 2">
            <a:extLst>
              <a:ext uri="{FF2B5EF4-FFF2-40B4-BE49-F238E27FC236}">
                <a16:creationId xmlns:a16="http://schemas.microsoft.com/office/drawing/2014/main" id="{AF23422C-540E-52A4-04D4-A3FA0EAA2C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374843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1412875"/>
            <a:ext cx="11412538" cy="2772000"/>
          </a:xfrm>
        </p:spPr>
        <p:txBody>
          <a:bodyPr anchor="t">
            <a:normAutofit/>
          </a:bodyPr>
          <a:lstStyle>
            <a:lvl1pPr algn="l"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de-DE"/>
              <a:t>Chapter Slide,</a:t>
            </a:r>
            <a:br>
              <a:rPr lang="de-DE"/>
            </a:br>
            <a:r>
              <a:rPr lang="de-DE"/>
              <a:t>Title </a:t>
            </a:r>
            <a:r>
              <a:rPr lang="de-DE" err="1"/>
              <a:t>line</a:t>
            </a:r>
            <a:r>
              <a:rPr lang="de-DE"/>
              <a:t>,</a:t>
            </a:r>
            <a:br>
              <a:rPr lang="de-DE"/>
            </a:br>
            <a:r>
              <a:rPr lang="de-DE"/>
              <a:t>60pt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2" name="Textplatzhalter 2">
            <a:extLst>
              <a:ext uri="{FF2B5EF4-FFF2-40B4-BE49-F238E27FC236}">
                <a16:creationId xmlns:a16="http://schemas.microsoft.com/office/drawing/2014/main" id="{C6D71FA2-511E-FDAA-9B59-D9DED97960C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4184874"/>
            <a:ext cx="11412538" cy="16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24pt</a:t>
            </a:r>
            <a:endParaRPr lang="de-AT"/>
          </a:p>
        </p:txBody>
      </p:sp>
      <p:sp>
        <p:nvSpPr>
          <p:cNvPr id="5" name="Fußzeilenplatzhalter 3">
            <a:extLst>
              <a:ext uri="{FF2B5EF4-FFF2-40B4-BE49-F238E27FC236}">
                <a16:creationId xmlns:a16="http://schemas.microsoft.com/office/drawing/2014/main" id="{0D14840A-FCC3-7677-58BC-6A48C3A96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10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6" name="Datumsplatzhalter 2">
            <a:extLst>
              <a:ext uri="{FF2B5EF4-FFF2-40B4-BE49-F238E27FC236}">
                <a16:creationId xmlns:a16="http://schemas.microsoft.com/office/drawing/2014/main" id="{371DBDAF-9C33-F92D-A591-5D0DF8A325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717973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_blue">
    <p:bg>
      <p:bgPr>
        <a:solidFill>
          <a:srgbClr val="001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1412875"/>
            <a:ext cx="11412538" cy="2772000"/>
          </a:xfrm>
        </p:spPr>
        <p:txBody>
          <a:bodyPr anchor="t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de-DE"/>
              <a:t>Chapter Slide,</a:t>
            </a:r>
            <a:br>
              <a:rPr lang="de-DE"/>
            </a:br>
            <a:r>
              <a:rPr lang="de-DE"/>
              <a:t>Title </a:t>
            </a:r>
            <a:r>
              <a:rPr lang="de-DE" err="1"/>
              <a:t>line</a:t>
            </a:r>
            <a:r>
              <a:rPr lang="de-DE"/>
              <a:t>,</a:t>
            </a:r>
            <a:br>
              <a:rPr lang="de-DE"/>
            </a:br>
            <a:r>
              <a:rPr lang="de-DE"/>
              <a:t>60pt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8FBBF4-1EC5-FE80-A033-2D8200896C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4184874"/>
            <a:ext cx="11412538" cy="16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24pt</a:t>
            </a:r>
            <a:endParaRPr lang="de-AT"/>
          </a:p>
        </p:txBody>
      </p:sp>
      <p:sp>
        <p:nvSpPr>
          <p:cNvPr id="6" name="Fußzeilenplatzhalter 3">
            <a:extLst>
              <a:ext uri="{FF2B5EF4-FFF2-40B4-BE49-F238E27FC236}">
                <a16:creationId xmlns:a16="http://schemas.microsoft.com/office/drawing/2014/main" id="{251EF7EC-D561-6EBA-2D81-D85F77C5C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10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7" name="Datumsplatzhalter 2">
            <a:extLst>
              <a:ext uri="{FF2B5EF4-FFF2-40B4-BE49-F238E27FC236}">
                <a16:creationId xmlns:a16="http://schemas.microsoft.com/office/drawing/2014/main" id="{359BBA35-3801-36D3-8622-CCC3992F26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55423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block_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12CC48E-79C9-FED9-2A7E-E43AC11F1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12538" cy="4789487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771572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lock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accent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12CC48E-79C9-FED9-2A7E-E43AC11F177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7987" y="1376363"/>
            <a:ext cx="11412538" cy="4789487"/>
          </a:xfrm>
        </p:spPr>
        <p:txBody>
          <a:bodyPr/>
          <a:lstStyle>
            <a:lvl1pPr>
              <a:defRPr sz="1800">
                <a:solidFill>
                  <a:schemeClr val="accent1"/>
                </a:solidFill>
              </a:defRPr>
            </a:lvl1pPr>
            <a:lvl2pPr>
              <a:defRPr sz="1600">
                <a:solidFill>
                  <a:schemeClr val="accent1"/>
                </a:solidFill>
              </a:defRPr>
            </a:lvl2pPr>
            <a:lvl3pPr>
              <a:defRPr sz="1400">
                <a:solidFill>
                  <a:schemeClr val="accent1"/>
                </a:solidFill>
              </a:defRPr>
            </a:lvl3pPr>
            <a:lvl4pPr>
              <a:defRPr sz="1200">
                <a:solidFill>
                  <a:schemeClr val="accent1"/>
                </a:solidFill>
              </a:defRPr>
            </a:lvl4pPr>
            <a:lvl5pPr>
              <a:defRPr sz="1000">
                <a:solidFill>
                  <a:schemeClr val="accent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 18pt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2">
            <a:extLst>
              <a:ext uri="{FF2B5EF4-FFF2-40B4-BE49-F238E27FC236}">
                <a16:creationId xmlns:a16="http://schemas.microsoft.com/office/drawing/2014/main" id="{EA34C94E-E038-C3E5-041D-07292B1B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7988" y="6267600"/>
            <a:ext cx="693012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570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lock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accent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12CC48E-79C9-FED9-2A7E-E43AC11F1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12538" cy="478948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438128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 userDrawn="1">
          <p15:clr>
            <a:srgbClr val="5ACBF0"/>
          </p15:clr>
        </p15:guide>
        <p15:guide id="2" orient="horz" pos="663" userDrawn="1">
          <p15:clr>
            <a:srgbClr val="5ACBF0"/>
          </p15:clr>
        </p15:guide>
        <p15:guide id="3" orient="horz" pos="867" userDrawn="1">
          <p15:clr>
            <a:srgbClr val="5ACBF0"/>
          </p15:clr>
        </p15:guide>
        <p15:guide id="4" orient="horz" pos="3884" userDrawn="1">
          <p15:clr>
            <a:srgbClr val="5ACBF0"/>
          </p15:clr>
        </p15:guide>
        <p15:guide id="5" orient="horz" pos="4156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pos="257" userDrawn="1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lock_blue">
    <p:bg>
      <p:bgPr>
        <a:solidFill>
          <a:srgbClr val="001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12CC48E-79C9-FED9-2A7E-E43AC11F1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12538" cy="4789487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619276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ree content_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282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accent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6881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accent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39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_blue">
    <p:bg>
      <p:bgPr>
        <a:solidFill>
          <a:srgbClr val="001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988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84F0BB-9A36-0647-6580-BF5FBC57E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F40A79-CAA9-6729-8CE5-4B48BEE05E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C92D054-2475-7CB0-8F84-99D318C137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1475" y="6267600"/>
            <a:ext cx="720000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Page ‹Nr.›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66CD80-E711-811A-295A-FF8442B81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1475" y="6267601"/>
            <a:ext cx="7061925" cy="590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Value Accelerator GmbH | Address | YYYY-MM-DD</a:t>
            </a:r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1C00541-7997-DF8D-1EA2-E5C4A3388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7E0CCFD-FD2C-44BF-8CDB-89610C49BCA0}" type="slidenum">
              <a:rPr lang="de-AT" smtClean="0"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8857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ree conten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  <a:latin typeface="+mn-lt"/>
              </a:rPr>
              <a:t>© Value Accelerator GmbH | </a:t>
            </a:r>
            <a:r>
              <a:rPr lang="en-US" noProof="1">
                <a:solidFill>
                  <a:srgbClr val="000000"/>
                </a:solidFill>
                <a:latin typeface="+mn-lt"/>
              </a:rPr>
              <a:t>{{document_date}} | {{document_version}}</a:t>
            </a:r>
            <a:endParaRPr lang="en-GB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18875" y="6394348"/>
            <a:ext cx="606426" cy="336904"/>
          </a:xfrm>
          <a:prstGeom prst="rect">
            <a:avLst/>
          </a:prstGeom>
        </p:spPr>
      </p:pic>
      <p:sp>
        <p:nvSpPr>
          <p:cNvPr id="5" name="TitleBar">
            <a:extLst>
              <a:ext uri="{FF2B5EF4-FFF2-40B4-BE49-F238E27FC236}">
                <a16:creationId xmlns:a16="http://schemas.microsoft.com/office/drawing/2014/main" id="{D2D9B772-1069-743E-3BD2-0236B95EED4B}"/>
              </a:ext>
            </a:extLst>
          </p:cNvPr>
          <p:cNvSpPr>
            <a:spLocks noGrp="1"/>
          </p:cNvSpPr>
          <p:nvPr userDrawn="1"/>
        </p:nvSpPr>
        <p:spPr>
          <a:xfrm>
            <a:off x="0" y="0"/>
            <a:ext cx="12192000" cy="1028700"/>
          </a:xfrm>
          <a:prstGeom prst="rect">
            <a:avLst/>
          </a:prstGeom>
          <a:solidFill>
            <a:srgbClr val="00134B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TitleAccent">
            <a:extLst>
              <a:ext uri="{FF2B5EF4-FFF2-40B4-BE49-F238E27FC236}">
                <a16:creationId xmlns:a16="http://schemas.microsoft.com/office/drawing/2014/main" id="{0BF62977-ACF6-971E-FE16-E7C8E8313C75}"/>
              </a:ext>
            </a:extLst>
          </p:cNvPr>
          <p:cNvSpPr>
            <a:spLocks noGrp="1"/>
          </p:cNvSpPr>
          <p:nvPr userDrawn="1"/>
        </p:nvSpPr>
        <p:spPr>
          <a:xfrm>
            <a:off x="0" y="0"/>
            <a:ext cx="228600" cy="10287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8D276572-4627-42DA-A262-ADAD9E1105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23814"/>
            <a:ext cx="10000000" cy="1004886"/>
          </a:xfrm>
        </p:spPr>
        <p:txBody>
          <a:bodyPr anchor="ctr">
            <a:normAutofit/>
          </a:bodyPr>
          <a:lstStyle>
            <a:lvl1pPr>
              <a:defRPr sz="2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Headline 20pt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96719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50E7471-52B4-A7E2-64E5-5FDB7C8EB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10284C9-56FC-84E0-5D48-B0A46021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C4DCF1-96B7-E7E8-E3A9-B718C280C6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71475" y="6267600"/>
            <a:ext cx="720000" cy="59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Page ‹Nr.›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F3CB436-FD7C-2BA7-7A70-893832EE85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91475" y="6267601"/>
            <a:ext cx="7061925" cy="59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68797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6" r:id="rId1"/>
    <p:sldLayoutId id="2147483756" r:id="rId2"/>
    <p:sldLayoutId id="2147483770" r:id="rId3"/>
    <p:sldLayoutId id="2147483772" r:id="rId4"/>
    <p:sldLayoutId id="2147483771" r:id="rId5"/>
    <p:sldLayoutId id="2147483765" r:id="rId6"/>
    <p:sldLayoutId id="2147483757" r:id="rId7"/>
    <p:sldLayoutId id="2147483773" r:id="rId8"/>
    <p:sldLayoutId id="2147483760" r:id="rId9"/>
    <p:sldLayoutId id="2147483764" r:id="rId10"/>
    <p:sldLayoutId id="2147483763" r:id="rId11"/>
    <p:sldLayoutId id="2147483774" r:id="rId12"/>
    <p:sldLayoutId id="2147483766" r:id="rId13"/>
    <p:sldLayoutId id="2147483761" r:id="rId14"/>
    <p:sldLayoutId id="2147483762" r:id="rId15"/>
    <p:sldLayoutId id="2147483775" r:id="rId16"/>
    <p:sldLayoutId id="2147483767" r:id="rId17"/>
    <p:sldLayoutId id="2147483768" r:id="rId18"/>
    <p:sldLayoutId id="2147483769" r:id="rId19"/>
    <p:sldLayoutId id="2147483745" r:id="rId20"/>
    <p:sldLayoutId id="2147483792" r:id="rId21"/>
  </p:sldLayoutIdLst>
  <p:hf sldNum="0"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hyperlink" Target="https://www.linkedin.com/in/michael-okoli/" TargetMode="External"/><Relationship Id="rId7" Type="http://schemas.openxmlformats.org/officeDocument/2006/relationships/image" Target="../media/image10.png"/><Relationship Id="rId8" Type="http://schemas.openxmlformats.org/officeDocument/2006/relationships/hyperlink" Target="https://www.linkedin.com/in/gabperrone/" TargetMode="External"/><Relationship Id="rId9" Type="http://schemas.openxmlformats.org/officeDocument/2006/relationships/hyperlink" Target="https://www.linkedin.com/in/rosario-laface-b88a2799/" TargetMode="External"/><Relationship Id="rId10" Type="http://schemas.openxmlformats.org/officeDocument/2006/relationships/hyperlink" Target="https://www.linkedin.com/in/christoph-conrad-2997a621/" TargetMode="External"/><Relationship Id="rId11" Type="http://schemas.openxmlformats.org/officeDocument/2006/relationships/image" Target="../media/image11.png"/><Relationship Id="rId12" Type="http://schemas.openxmlformats.org/officeDocument/2006/relationships/hyperlink" Target="https://www.linkedin.com/in/stefanosilvani/" TargetMode="External"/><Relationship Id="rId13" Type="http://schemas.openxmlformats.org/officeDocument/2006/relationships/hyperlink" Target="https://www.value-accelerator.i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9509F57-F004-E02D-BAD1-31C41D688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© Value Accelerator GmbH | 29 Aprile 2026 | 1.0</a:t>
            </a:r>
            <a:r>
              <a:rPr kumimoji="0" lang="en-US" sz="8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/>
            </a:r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6B709-4B15-2199-EE89-BD6D35A09ED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 noProof="1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085155F-C9FA-68B2-B586-A237447BA2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noProof="1"/>
              <a:t>Acme S.p.A.Sales Assessment Report</a:t>
            </a:r>
            <a:br>
              <a:rPr lang="en-US" noProof="1"/>
            </a:br>
            <a:r>
              <a:rPr lang="en-US" noProof="1"/>
              <a:t/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2B7E30-E0F1-9760-5D1B-6C4F1167E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1"/>
              <a:t>Value Accelerator ProgramDate: 29 Aprile 2026Version: 1.0</a:t>
            </a:r>
            <a:br>
              <a:rPr lang="en-US" noProof="1"/>
            </a:br>
            <a:r>
              <a:rPr lang="en-US" sz="1600" noProof="1"/>
              <a:t/>
            </a:r>
            <a:br>
              <a:rPr lang="en-US" sz="1600" noProof="1"/>
            </a:br>
            <a:r>
              <a:rPr lang="en-US" sz="1600" noProof="1"/>
              <a:t/>
            </a:r>
            <a:r>
              <a:rPr lang="en-US" noProof="1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739068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54A8F-EE00-C1AF-88A3-BF2DE6E83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1C4650-A1D0-1B04-5145-763267281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2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012AD4-6D69-5272-D80B-D58A3B341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29 Aprile 2026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161C19-A542-75F4-F0AF-945D9CC65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ASSESSMENT SCOPE SUMMARY</a:t>
            </a:r>
            <a:endParaRPr lang="en-IT" dirty="0"/>
          </a:p>
        </p:txBody>
      </p:sp>
      <p:sp>
        <p:nvSpPr>
          <p:cNvPr id="5" name="Shape 24">
            <a:extLst>
              <a:ext uri="{FF2B5EF4-FFF2-40B4-BE49-F238E27FC236}">
                <a16:creationId xmlns:a16="http://schemas.microsoft.com/office/drawing/2014/main" id="{BCB4125D-AEEB-AC6A-0B4A-E0BE7F4AE042}"/>
              </a:ext>
            </a:extLst>
          </p:cNvPr>
          <p:cNvSpPr/>
          <p:nvPr/>
        </p:nvSpPr>
        <p:spPr>
          <a:xfrm>
            <a:off x="419099" y="1376362"/>
            <a:ext cx="11401425" cy="1424895"/>
          </a:xfrm>
          <a:prstGeom prst="rect">
            <a:avLst/>
          </a:prstGeom>
          <a:solidFill>
            <a:srgbClr val="F0F4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25">
            <a:extLst>
              <a:ext uri="{FF2B5EF4-FFF2-40B4-BE49-F238E27FC236}">
                <a16:creationId xmlns:a16="http://schemas.microsoft.com/office/drawing/2014/main" id="{D27C3424-1A18-A796-DBB5-4788EB0F6C18}"/>
              </a:ext>
            </a:extLst>
          </p:cNvPr>
          <p:cNvSpPr/>
          <p:nvPr/>
        </p:nvSpPr>
        <p:spPr>
          <a:xfrm>
            <a:off x="419099" y="1376361"/>
            <a:ext cx="57007" cy="140400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26">
            <a:extLst>
              <a:ext uri="{FF2B5EF4-FFF2-40B4-BE49-F238E27FC236}">
                <a16:creationId xmlns:a16="http://schemas.microsoft.com/office/drawing/2014/main" id="{532F44E1-AAEC-A60F-F278-6655646CC2BA}"/>
              </a:ext>
            </a:extLst>
          </p:cNvPr>
          <p:cNvSpPr/>
          <p:nvPr/>
        </p:nvSpPr>
        <p:spPr>
          <a:xfrm>
            <a:off x="583692" y="1486091"/>
            <a:ext cx="5410870" cy="23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Overview</a:t>
            </a:r>
            <a:endParaRPr lang="en-US" sz="1400" dirty="0"/>
          </a:p>
        </p:txBody>
      </p:sp>
      <p:sp>
        <p:nvSpPr>
          <p:cNvPr id="8" name="Text 27">
            <a:extLst>
              <a:ext uri="{FF2B5EF4-FFF2-40B4-BE49-F238E27FC236}">
                <a16:creationId xmlns:a16="http://schemas.microsoft.com/office/drawing/2014/main" id="{32FC4647-EE9F-54FB-C329-9F79AB5CE507}"/>
              </a:ext>
            </a:extLst>
          </p:cNvPr>
          <p:cNvSpPr/>
          <p:nvPr/>
        </p:nvSpPr>
        <p:spPr>
          <a:xfrm>
            <a:off x="656282" y="1926795"/>
            <a:ext cx="1680537" cy="276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3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Interviews</a:t>
            </a:r>
            <a:endParaRPr lang="en-US" sz="1050" dirty="0"/>
          </a:p>
        </p:txBody>
      </p:sp>
      <p:sp>
        <p:nvSpPr>
          <p:cNvPr id="9" name="Text 28">
            <a:extLst>
              <a:ext uri="{FF2B5EF4-FFF2-40B4-BE49-F238E27FC236}">
                <a16:creationId xmlns:a16="http://schemas.microsoft.com/office/drawing/2014/main" id="{3F9DC77C-7445-799B-0391-1CE175BB5292}"/>
              </a:ext>
            </a:extLst>
          </p:cNvPr>
          <p:cNvSpPr/>
          <p:nvPr/>
        </p:nvSpPr>
        <p:spPr>
          <a:xfrm>
            <a:off x="804411" y="2144469"/>
            <a:ext cx="1384279" cy="21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050" i="1" dirty="0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>12</a:t>
            </a:r>
            <a:r>
              <a:rPr lang="en-US" sz="1050" i="1" dirty="0" err="1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/>
            </a:r>
            <a:r>
              <a:rPr lang="en-US" sz="1050" i="1" dirty="0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/>
            </a:r>
            <a:endParaRPr lang="en-US" sz="1050" dirty="0"/>
          </a:p>
        </p:txBody>
      </p:sp>
      <p:sp>
        <p:nvSpPr>
          <p:cNvPr id="10" name="Text 29">
            <a:extLst>
              <a:ext uri="{FF2B5EF4-FFF2-40B4-BE49-F238E27FC236}">
                <a16:creationId xmlns:a16="http://schemas.microsoft.com/office/drawing/2014/main" id="{FFDA6A18-5EE6-6D71-7B62-E7FCB8D9315F}"/>
              </a:ext>
            </a:extLst>
          </p:cNvPr>
          <p:cNvSpPr/>
          <p:nvPr/>
        </p:nvSpPr>
        <p:spPr>
          <a:xfrm>
            <a:off x="5308046" y="1932912"/>
            <a:ext cx="1680537" cy="276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3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Document Reviewed</a:t>
            </a:r>
            <a:endParaRPr lang="en-US" sz="1050" dirty="0"/>
          </a:p>
        </p:txBody>
      </p:sp>
      <p:sp>
        <p:nvSpPr>
          <p:cNvPr id="11" name="Text 30">
            <a:extLst>
              <a:ext uri="{FF2B5EF4-FFF2-40B4-BE49-F238E27FC236}">
                <a16:creationId xmlns:a16="http://schemas.microsoft.com/office/drawing/2014/main" id="{D88865BB-E0AF-22E1-80AF-097B7A594077}"/>
              </a:ext>
            </a:extLst>
          </p:cNvPr>
          <p:cNvSpPr/>
          <p:nvPr/>
        </p:nvSpPr>
        <p:spPr>
          <a:xfrm>
            <a:off x="5227625" y="2150587"/>
            <a:ext cx="1841379" cy="21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r>
              <a:rPr lang="en-US" sz="1050" i="1" dirty="0" err="1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050" i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50" dirty="0"/>
          </a:p>
        </p:txBody>
      </p:sp>
      <p:sp>
        <p:nvSpPr>
          <p:cNvPr id="12" name="Text 31">
            <a:extLst>
              <a:ext uri="{FF2B5EF4-FFF2-40B4-BE49-F238E27FC236}">
                <a16:creationId xmlns:a16="http://schemas.microsoft.com/office/drawing/2014/main" id="{0010BA91-3C1D-5DBA-3235-010A8395F0CB}"/>
              </a:ext>
            </a:extLst>
          </p:cNvPr>
          <p:cNvSpPr/>
          <p:nvPr/>
        </p:nvSpPr>
        <p:spPr>
          <a:xfrm>
            <a:off x="8701167" y="1909938"/>
            <a:ext cx="1680537" cy="276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3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Period</a:t>
            </a:r>
            <a:endParaRPr lang="en-US" sz="1050" dirty="0"/>
          </a:p>
        </p:txBody>
      </p:sp>
      <p:sp>
        <p:nvSpPr>
          <p:cNvPr id="13" name="Text 32">
            <a:extLst>
              <a:ext uri="{FF2B5EF4-FFF2-40B4-BE49-F238E27FC236}">
                <a16:creationId xmlns:a16="http://schemas.microsoft.com/office/drawing/2014/main" id="{52E705AC-30ED-D085-1E5B-87AF70BD9D11}"/>
              </a:ext>
            </a:extLst>
          </p:cNvPr>
          <p:cNvSpPr/>
          <p:nvPr/>
        </p:nvSpPr>
        <p:spPr>
          <a:xfrm>
            <a:off x="8674884" y="2086670"/>
            <a:ext cx="1733103" cy="276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>Q1 2026</a:t>
            </a:r>
            <a:r>
              <a:rPr lang="en-US" sz="1050" i="1" dirty="0" err="1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/>
            </a:r>
            <a:r>
              <a:rPr lang="en-US" sz="1050" i="1" dirty="0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/>
            </a:r>
            <a:endParaRPr lang="en-US" sz="1050" dirty="0"/>
          </a:p>
        </p:txBody>
      </p:sp>
      <p:graphicFrame>
        <p:nvGraphicFramePr>
          <p:cNvPr id="14" name="Table 0">
            <a:extLst>
              <a:ext uri="{FF2B5EF4-FFF2-40B4-BE49-F238E27FC236}">
                <a16:creationId xmlns:a16="http://schemas.microsoft.com/office/drawing/2014/main" id="{418B799D-3ACD-A5C0-0BFE-D6DBBABE93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2983842"/>
              </p:ext>
            </p:extLst>
          </p:nvPr>
        </p:nvGraphicFramePr>
        <p:xfrm>
          <a:off x="419098" y="3429000"/>
          <a:ext cx="5676901" cy="2174550"/>
        </p:xfrm>
        <a:graphic>
          <a:graphicData uri="http://schemas.openxmlformats.org/drawingml/2006/table">
            <a:tbl>
              <a:tblPr/>
              <a:tblGrid>
                <a:gridCol w="28384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3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Interviewee Name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B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Title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B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 Date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5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{{interviewee_row_1_name}}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{{interviewee_row_1_function}}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{{interviewee_row_1_date}}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5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{{interviewee_row_2_name}}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{{interviewee_row_2_function}}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{{interviewee_row_2_date}}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5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{{interviewee_row_3_name}}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{{interviewee_row_3_function}}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{{interviewee_row_3_date}}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5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{{interviewee_row_4_name}}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{{interviewee_row_4_function}}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{{interviewee_row_4_date}}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5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{{interviewee_row_5_name}}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{{interviewee_row_5_function}}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{{interviewee_row_5_date}}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5" name="Table 0">
            <a:extLst>
              <a:ext uri="{FF2B5EF4-FFF2-40B4-BE49-F238E27FC236}">
                <a16:creationId xmlns:a16="http://schemas.microsoft.com/office/drawing/2014/main" id="{CC98AC0A-698B-761B-9B46-5E50E85C9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294524"/>
              </p:ext>
            </p:extLst>
          </p:nvPr>
        </p:nvGraphicFramePr>
        <p:xfrm>
          <a:off x="6362281" y="3429000"/>
          <a:ext cx="5458244" cy="2174549"/>
        </p:xfrm>
        <a:graphic>
          <a:graphicData uri="http://schemas.openxmlformats.org/drawingml/2006/table">
            <a:tbl>
              <a:tblPr/>
              <a:tblGrid>
                <a:gridCol w="54582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53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 Analyzed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8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{{document_analyzed_1_name}}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8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{{document_analyzed_2_name}}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8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{{document_analyzed_3_name}}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38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{{document_analyzed_4_name}}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38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{{document_analyzed_5_name}}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4206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D302ED-E2CD-4CAE-ECD7-F80C0F60A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3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B1E552-3E83-3D37-282A-730495F53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29 Aprile 2026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9601E2-521B-0243-7055-4E9466414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SWOT ANALYSIS</a:t>
            </a:r>
            <a:endParaRPr lang="en-IT" sz="1600" b="0" dirty="0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7DADC44E-EC01-B58B-5E98-D1F4FD58EE74}"/>
              </a:ext>
            </a:extLst>
          </p:cNvPr>
          <p:cNvSpPr/>
          <p:nvPr/>
        </p:nvSpPr>
        <p:spPr>
          <a:xfrm>
            <a:off x="435808" y="1472184"/>
            <a:ext cx="5477256" cy="235684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7" name="Shape 10">
            <a:extLst>
              <a:ext uri="{FF2B5EF4-FFF2-40B4-BE49-F238E27FC236}">
                <a16:creationId xmlns:a16="http://schemas.microsoft.com/office/drawing/2014/main" id="{960DB436-69D0-C7E3-F9DB-1DE259B10676}"/>
              </a:ext>
            </a:extLst>
          </p:cNvPr>
          <p:cNvSpPr/>
          <p:nvPr/>
        </p:nvSpPr>
        <p:spPr>
          <a:xfrm>
            <a:off x="435808" y="1472184"/>
            <a:ext cx="5477256" cy="336060"/>
          </a:xfrm>
          <a:prstGeom prst="rect">
            <a:avLst/>
          </a:prstGeom>
          <a:solidFill>
            <a:srgbClr val="2CB786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11">
            <a:extLst>
              <a:ext uri="{FF2B5EF4-FFF2-40B4-BE49-F238E27FC236}">
                <a16:creationId xmlns:a16="http://schemas.microsoft.com/office/drawing/2014/main" id="{6FF46ACC-5C82-67BB-5079-793E65D1F810}"/>
              </a:ext>
            </a:extLst>
          </p:cNvPr>
          <p:cNvSpPr/>
          <p:nvPr/>
        </p:nvSpPr>
        <p:spPr>
          <a:xfrm>
            <a:off x="563824" y="1472184"/>
            <a:ext cx="5257800" cy="336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9" name="Shape 12">
            <a:extLst>
              <a:ext uri="{FF2B5EF4-FFF2-40B4-BE49-F238E27FC236}">
                <a16:creationId xmlns:a16="http://schemas.microsoft.com/office/drawing/2014/main" id="{224BA142-636F-C966-A71A-3A7B861EFCAF}"/>
              </a:ext>
            </a:extLst>
          </p:cNvPr>
          <p:cNvSpPr/>
          <p:nvPr/>
        </p:nvSpPr>
        <p:spPr>
          <a:xfrm>
            <a:off x="545536" y="1892808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B846FE66-A103-8E5B-EF1B-6C14D7AF8166}"/>
              </a:ext>
            </a:extLst>
          </p:cNvPr>
          <p:cNvSpPr/>
          <p:nvPr/>
        </p:nvSpPr>
        <p:spPr>
          <a:xfrm>
            <a:off x="636976" y="1929385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riconosciuto sul mercato nazionale</a:t>
            </a:r>
            <a:endParaRPr lang="en-US" sz="850" dirty="0"/>
          </a:p>
        </p:txBody>
      </p:sp>
      <p:sp>
        <p:nvSpPr>
          <p:cNvPr id="11" name="Shape 14">
            <a:extLst>
              <a:ext uri="{FF2B5EF4-FFF2-40B4-BE49-F238E27FC236}">
                <a16:creationId xmlns:a16="http://schemas.microsoft.com/office/drawing/2014/main" id="{F5DD59AA-DACD-89D7-1D92-BFA185F5090B}"/>
              </a:ext>
            </a:extLst>
          </p:cNvPr>
          <p:cNvSpPr/>
          <p:nvPr/>
        </p:nvSpPr>
        <p:spPr>
          <a:xfrm>
            <a:off x="545536" y="2378583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D77C6C86-9D89-5780-49DD-846AFE2CC837}"/>
              </a:ext>
            </a:extLst>
          </p:cNvPr>
          <p:cNvSpPr/>
          <p:nvPr/>
        </p:nvSpPr>
        <p:spPr>
          <a:xfrm>
            <a:off x="636976" y="2415160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tecnico altamente specializzato</a:t>
            </a:r>
            <a:endParaRPr lang="en-US" sz="850" dirty="0"/>
          </a:p>
        </p:txBody>
      </p:sp>
      <p:sp>
        <p:nvSpPr>
          <p:cNvPr id="13" name="Shape 16">
            <a:extLst>
              <a:ext uri="{FF2B5EF4-FFF2-40B4-BE49-F238E27FC236}">
                <a16:creationId xmlns:a16="http://schemas.microsoft.com/office/drawing/2014/main" id="{109A8EE8-2FF7-11C8-D28A-C2396D59C6A4}"/>
              </a:ext>
            </a:extLst>
          </p:cNvPr>
          <p:cNvSpPr/>
          <p:nvPr/>
        </p:nvSpPr>
        <p:spPr>
          <a:xfrm>
            <a:off x="545536" y="2864358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11FC681A-CDAC-0067-3F57-351870EADBA4}"/>
              </a:ext>
            </a:extLst>
          </p:cNvPr>
          <p:cNvSpPr/>
          <p:nvPr/>
        </p:nvSpPr>
        <p:spPr>
          <a:xfrm>
            <a:off x="636976" y="2900935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Portafoglio prodotti diversificato</a:t>
            </a:r>
            <a:endParaRPr lang="en-US" sz="850" dirty="0"/>
          </a:p>
        </p:txBody>
      </p:sp>
      <p:sp>
        <p:nvSpPr>
          <p:cNvPr id="15" name="Shape 18">
            <a:extLst>
              <a:ext uri="{FF2B5EF4-FFF2-40B4-BE49-F238E27FC236}">
                <a16:creationId xmlns:a16="http://schemas.microsoft.com/office/drawing/2014/main" id="{9F00682D-6C6B-C27B-4C03-F7605D0B2BBE}"/>
              </a:ext>
            </a:extLst>
          </p:cNvPr>
          <p:cNvSpPr/>
          <p:nvPr/>
        </p:nvSpPr>
        <p:spPr>
          <a:xfrm>
            <a:off x="545536" y="3350133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9">
            <a:extLst>
              <a:ext uri="{FF2B5EF4-FFF2-40B4-BE49-F238E27FC236}">
                <a16:creationId xmlns:a16="http://schemas.microsoft.com/office/drawing/2014/main" id="{9D3F1E54-D1D7-34EC-7D1D-5EF88B9870A3}"/>
              </a:ext>
            </a:extLst>
          </p:cNvPr>
          <p:cNvSpPr/>
          <p:nvPr/>
        </p:nvSpPr>
        <p:spPr>
          <a:xfrm>
            <a:off x="636976" y="3386710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Solida base clienti enterprise</a:t>
            </a:r>
            <a:endParaRPr lang="en-US" sz="850" dirty="0"/>
          </a:p>
        </p:txBody>
      </p:sp>
      <p:sp>
        <p:nvSpPr>
          <p:cNvPr id="17" name="Shape 20">
            <a:extLst>
              <a:ext uri="{FF2B5EF4-FFF2-40B4-BE49-F238E27FC236}">
                <a16:creationId xmlns:a16="http://schemas.microsoft.com/office/drawing/2014/main" id="{DAE3BDA2-9165-8070-B1A0-0E9258515035}"/>
              </a:ext>
            </a:extLst>
          </p:cNvPr>
          <p:cNvSpPr/>
          <p:nvPr/>
        </p:nvSpPr>
        <p:spPr>
          <a:xfrm>
            <a:off x="6114232" y="1472184"/>
            <a:ext cx="5477256" cy="235684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1DE469FE-F0AF-F48A-31B2-45B6D81038BC}"/>
              </a:ext>
            </a:extLst>
          </p:cNvPr>
          <p:cNvSpPr/>
          <p:nvPr/>
        </p:nvSpPr>
        <p:spPr>
          <a:xfrm>
            <a:off x="6114232" y="1472184"/>
            <a:ext cx="5477256" cy="3360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Text 22">
            <a:extLst>
              <a:ext uri="{FF2B5EF4-FFF2-40B4-BE49-F238E27FC236}">
                <a16:creationId xmlns:a16="http://schemas.microsoft.com/office/drawing/2014/main" id="{FFF63B91-FD12-CFFA-563A-6619392995A3}"/>
              </a:ext>
            </a:extLst>
          </p:cNvPr>
          <p:cNvSpPr/>
          <p:nvPr/>
        </p:nvSpPr>
        <p:spPr>
          <a:xfrm>
            <a:off x="6242248" y="1472184"/>
            <a:ext cx="5257800" cy="336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100" dirty="0"/>
          </a:p>
        </p:txBody>
      </p:sp>
      <p:sp>
        <p:nvSpPr>
          <p:cNvPr id="20" name="Shape 23">
            <a:extLst>
              <a:ext uri="{FF2B5EF4-FFF2-40B4-BE49-F238E27FC236}">
                <a16:creationId xmlns:a16="http://schemas.microsoft.com/office/drawing/2014/main" id="{11B150C7-B942-7261-6F2D-1EA0A4D1094F}"/>
              </a:ext>
            </a:extLst>
          </p:cNvPr>
          <p:cNvSpPr/>
          <p:nvPr/>
        </p:nvSpPr>
        <p:spPr>
          <a:xfrm>
            <a:off x="6223960" y="1892808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Text 24">
            <a:extLst>
              <a:ext uri="{FF2B5EF4-FFF2-40B4-BE49-F238E27FC236}">
                <a16:creationId xmlns:a16="http://schemas.microsoft.com/office/drawing/2014/main" id="{08314D92-AE50-D663-5E30-7D4D1DE84066}"/>
              </a:ext>
            </a:extLst>
          </p:cNvPr>
          <p:cNvSpPr/>
          <p:nvPr/>
        </p:nvSpPr>
        <p:spPr>
          <a:xfrm>
            <a:off x="6315400" y="1929385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 interni non ancora digitalizzati</a:t>
            </a:r>
            <a:endParaRPr lang="en-US" sz="850" dirty="0"/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B0DE31E9-A5D7-D94E-7E61-861EED9BE7A1}"/>
              </a:ext>
            </a:extLst>
          </p:cNvPr>
          <p:cNvSpPr/>
          <p:nvPr/>
        </p:nvSpPr>
        <p:spPr>
          <a:xfrm>
            <a:off x="6223960" y="2378583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Text 26">
            <a:extLst>
              <a:ext uri="{FF2B5EF4-FFF2-40B4-BE49-F238E27FC236}">
                <a16:creationId xmlns:a16="http://schemas.microsoft.com/office/drawing/2014/main" id="{B44AC2FB-531C-87B5-9882-CEC2F90947FE}"/>
              </a:ext>
            </a:extLst>
          </p:cNvPr>
          <p:cNvSpPr/>
          <p:nvPr/>
        </p:nvSpPr>
        <p:spPr>
          <a:xfrm>
            <a:off x="6315400" y="2415160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Dipendenza da pochi fornitori chiave</a:t>
            </a:r>
            <a:endParaRPr lang="en-US" sz="850" dirty="0"/>
          </a:p>
        </p:txBody>
      </p:sp>
      <p:sp>
        <p:nvSpPr>
          <p:cNvPr id="24" name="Shape 27">
            <a:extLst>
              <a:ext uri="{FF2B5EF4-FFF2-40B4-BE49-F238E27FC236}">
                <a16:creationId xmlns:a16="http://schemas.microsoft.com/office/drawing/2014/main" id="{ED06D853-4B20-647C-E4FA-180102AE26CE}"/>
              </a:ext>
            </a:extLst>
          </p:cNvPr>
          <p:cNvSpPr/>
          <p:nvPr/>
        </p:nvSpPr>
        <p:spPr>
          <a:xfrm>
            <a:off x="6223960" y="2864358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Text 28">
            <a:extLst>
              <a:ext uri="{FF2B5EF4-FFF2-40B4-BE49-F238E27FC236}">
                <a16:creationId xmlns:a16="http://schemas.microsoft.com/office/drawing/2014/main" id="{F41B736D-482A-7828-F021-FEDA777E2452}"/>
              </a:ext>
            </a:extLst>
          </p:cNvPr>
          <p:cNvSpPr/>
          <p:nvPr/>
        </p:nvSpPr>
        <p:spPr>
          <a:xfrm>
            <a:off x="6315400" y="2900935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Time-to-market elevato</a:t>
            </a:r>
            <a:endParaRPr lang="en-US" sz="850" dirty="0"/>
          </a:p>
        </p:txBody>
      </p:sp>
      <p:sp>
        <p:nvSpPr>
          <p:cNvPr id="26" name="Shape 29">
            <a:extLst>
              <a:ext uri="{FF2B5EF4-FFF2-40B4-BE49-F238E27FC236}">
                <a16:creationId xmlns:a16="http://schemas.microsoft.com/office/drawing/2014/main" id="{F819AF23-7876-2786-45D3-E4386E920B1F}"/>
              </a:ext>
            </a:extLst>
          </p:cNvPr>
          <p:cNvSpPr/>
          <p:nvPr/>
        </p:nvSpPr>
        <p:spPr>
          <a:xfrm>
            <a:off x="6223960" y="3350133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Text 30">
            <a:extLst>
              <a:ext uri="{FF2B5EF4-FFF2-40B4-BE49-F238E27FC236}">
                <a16:creationId xmlns:a16="http://schemas.microsoft.com/office/drawing/2014/main" id="{3B1E5D38-C181-D242-AC01-182BF2B1D3FE}"/>
              </a:ext>
            </a:extLst>
          </p:cNvPr>
          <p:cNvSpPr/>
          <p:nvPr/>
        </p:nvSpPr>
        <p:spPr>
          <a:xfrm>
            <a:off x="6315400" y="3386710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Scarsa presenza sui canali digitali</a:t>
            </a:r>
            <a:endParaRPr lang="en-US" sz="850" dirty="0"/>
          </a:p>
        </p:txBody>
      </p:sp>
      <p:sp>
        <p:nvSpPr>
          <p:cNvPr id="28" name="Shape 31">
            <a:extLst>
              <a:ext uri="{FF2B5EF4-FFF2-40B4-BE49-F238E27FC236}">
                <a16:creationId xmlns:a16="http://schemas.microsoft.com/office/drawing/2014/main" id="{70B46049-9105-46B8-0B42-096CF7BC9D2B}"/>
              </a:ext>
            </a:extLst>
          </p:cNvPr>
          <p:cNvSpPr/>
          <p:nvPr/>
        </p:nvSpPr>
        <p:spPr>
          <a:xfrm>
            <a:off x="435808" y="4018788"/>
            <a:ext cx="5477256" cy="235684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9" name="Shape 32">
            <a:extLst>
              <a:ext uri="{FF2B5EF4-FFF2-40B4-BE49-F238E27FC236}">
                <a16:creationId xmlns:a16="http://schemas.microsoft.com/office/drawing/2014/main" id="{D039BF2D-017E-9D5C-D058-FA67ED1E4B00}"/>
              </a:ext>
            </a:extLst>
          </p:cNvPr>
          <p:cNvSpPr/>
          <p:nvPr/>
        </p:nvSpPr>
        <p:spPr>
          <a:xfrm>
            <a:off x="435808" y="4018788"/>
            <a:ext cx="5477256" cy="33606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Text 33">
            <a:extLst>
              <a:ext uri="{FF2B5EF4-FFF2-40B4-BE49-F238E27FC236}">
                <a16:creationId xmlns:a16="http://schemas.microsoft.com/office/drawing/2014/main" id="{636C71EA-725B-A440-42CB-20067BC151DB}"/>
              </a:ext>
            </a:extLst>
          </p:cNvPr>
          <p:cNvSpPr/>
          <p:nvPr/>
        </p:nvSpPr>
        <p:spPr>
          <a:xfrm>
            <a:off x="563824" y="4018788"/>
            <a:ext cx="5257800" cy="336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31" name="Shape 34">
            <a:extLst>
              <a:ext uri="{FF2B5EF4-FFF2-40B4-BE49-F238E27FC236}">
                <a16:creationId xmlns:a16="http://schemas.microsoft.com/office/drawing/2014/main" id="{35B9DF15-1D24-89A8-99C2-0AF5FF23DCB8}"/>
              </a:ext>
            </a:extLst>
          </p:cNvPr>
          <p:cNvSpPr/>
          <p:nvPr/>
        </p:nvSpPr>
        <p:spPr>
          <a:xfrm>
            <a:off x="545536" y="4439412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Text 35">
            <a:extLst>
              <a:ext uri="{FF2B5EF4-FFF2-40B4-BE49-F238E27FC236}">
                <a16:creationId xmlns:a16="http://schemas.microsoft.com/office/drawing/2014/main" id="{3E3C5631-222C-7EB1-48B3-E79531232EC0}"/>
              </a:ext>
            </a:extLst>
          </p:cNvPr>
          <p:cNvSpPr/>
          <p:nvPr/>
        </p:nvSpPr>
        <p:spPr>
          <a:xfrm>
            <a:off x="636976" y="4475989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Crescita del mercato cloud in EMEA</a:t>
            </a:r>
            <a:endParaRPr lang="en-US" sz="850" dirty="0"/>
          </a:p>
        </p:txBody>
      </p:sp>
      <p:sp>
        <p:nvSpPr>
          <p:cNvPr id="33" name="Shape 36">
            <a:extLst>
              <a:ext uri="{FF2B5EF4-FFF2-40B4-BE49-F238E27FC236}">
                <a16:creationId xmlns:a16="http://schemas.microsoft.com/office/drawing/2014/main" id="{A723244A-64FD-D487-9835-ADA0FEA8856C}"/>
              </a:ext>
            </a:extLst>
          </p:cNvPr>
          <p:cNvSpPr/>
          <p:nvPr/>
        </p:nvSpPr>
        <p:spPr>
          <a:xfrm>
            <a:off x="545536" y="4925187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4" name="Text 37">
            <a:extLst>
              <a:ext uri="{FF2B5EF4-FFF2-40B4-BE49-F238E27FC236}">
                <a16:creationId xmlns:a16="http://schemas.microsoft.com/office/drawing/2014/main" id="{85C9E492-22C6-A2CC-6A52-33070931C807}"/>
              </a:ext>
            </a:extLst>
          </p:cNvPr>
          <p:cNvSpPr/>
          <p:nvPr/>
        </p:nvSpPr>
        <p:spPr>
          <a:xfrm>
            <a:off x="636976" y="4961764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Nuovi segmenti SMB non ancora presidiati</a:t>
            </a:r>
            <a:endParaRPr lang="en-US" sz="850" dirty="0"/>
          </a:p>
        </p:txBody>
      </p:sp>
      <p:sp>
        <p:nvSpPr>
          <p:cNvPr id="35" name="Shape 38">
            <a:extLst>
              <a:ext uri="{FF2B5EF4-FFF2-40B4-BE49-F238E27FC236}">
                <a16:creationId xmlns:a16="http://schemas.microsoft.com/office/drawing/2014/main" id="{B864E06A-E14B-88AF-7977-E69D8CC2F5E0}"/>
              </a:ext>
            </a:extLst>
          </p:cNvPr>
          <p:cNvSpPr/>
          <p:nvPr/>
        </p:nvSpPr>
        <p:spPr>
          <a:xfrm>
            <a:off x="545536" y="5410962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6" name="Text 39">
            <a:extLst>
              <a:ext uri="{FF2B5EF4-FFF2-40B4-BE49-F238E27FC236}">
                <a16:creationId xmlns:a16="http://schemas.microsoft.com/office/drawing/2014/main" id="{1FF5B17E-7181-0A6C-73EA-EA4D1CC822C8}"/>
              </a:ext>
            </a:extLst>
          </p:cNvPr>
          <p:cNvSpPr/>
          <p:nvPr/>
        </p:nvSpPr>
        <p:spPr>
          <a:xfrm>
            <a:off x="636976" y="5447539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con system integrator</a:t>
            </a:r>
            <a:endParaRPr lang="en-US" sz="850" dirty="0"/>
          </a:p>
        </p:txBody>
      </p:sp>
      <p:sp>
        <p:nvSpPr>
          <p:cNvPr id="37" name="Shape 40">
            <a:extLst>
              <a:ext uri="{FF2B5EF4-FFF2-40B4-BE49-F238E27FC236}">
                <a16:creationId xmlns:a16="http://schemas.microsoft.com/office/drawing/2014/main" id="{56E10A5B-8803-A4AF-4E9B-0DD3DBD8260D}"/>
              </a:ext>
            </a:extLst>
          </p:cNvPr>
          <p:cNvSpPr/>
          <p:nvPr/>
        </p:nvSpPr>
        <p:spPr>
          <a:xfrm>
            <a:off x="545536" y="5896737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8" name="Text 41">
            <a:extLst>
              <a:ext uri="{FF2B5EF4-FFF2-40B4-BE49-F238E27FC236}">
                <a16:creationId xmlns:a16="http://schemas.microsoft.com/office/drawing/2014/main" id="{6949F00D-68CC-EBBE-6D87-956A9D1C5453}"/>
              </a:ext>
            </a:extLst>
          </p:cNvPr>
          <p:cNvSpPr/>
          <p:nvPr/>
        </p:nvSpPr>
        <p:spPr>
          <a:xfrm>
            <a:off x="636976" y="5933314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Espansione geografica nel mercato DACH</a:t>
            </a:r>
            <a:endParaRPr lang="en-US" sz="850" dirty="0"/>
          </a:p>
        </p:txBody>
      </p:sp>
      <p:sp>
        <p:nvSpPr>
          <p:cNvPr id="39" name="Shape 42">
            <a:extLst>
              <a:ext uri="{FF2B5EF4-FFF2-40B4-BE49-F238E27FC236}">
                <a16:creationId xmlns:a16="http://schemas.microsoft.com/office/drawing/2014/main" id="{DCF7698C-0A63-3478-5026-B95106C586D1}"/>
              </a:ext>
            </a:extLst>
          </p:cNvPr>
          <p:cNvSpPr/>
          <p:nvPr/>
        </p:nvSpPr>
        <p:spPr>
          <a:xfrm>
            <a:off x="6114232" y="4018788"/>
            <a:ext cx="5477256" cy="235684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40" name="Shape 43">
            <a:extLst>
              <a:ext uri="{FF2B5EF4-FFF2-40B4-BE49-F238E27FC236}">
                <a16:creationId xmlns:a16="http://schemas.microsoft.com/office/drawing/2014/main" id="{B1513869-F8A0-50C6-4ABE-CB6413962A0F}"/>
              </a:ext>
            </a:extLst>
          </p:cNvPr>
          <p:cNvSpPr/>
          <p:nvPr/>
        </p:nvSpPr>
        <p:spPr>
          <a:xfrm>
            <a:off x="6114232" y="4018788"/>
            <a:ext cx="5477256" cy="3360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1" name="Text 44">
            <a:extLst>
              <a:ext uri="{FF2B5EF4-FFF2-40B4-BE49-F238E27FC236}">
                <a16:creationId xmlns:a16="http://schemas.microsoft.com/office/drawing/2014/main" id="{530C97F0-6C1F-9219-7D51-619271F02677}"/>
              </a:ext>
            </a:extLst>
          </p:cNvPr>
          <p:cNvSpPr/>
          <p:nvPr/>
        </p:nvSpPr>
        <p:spPr>
          <a:xfrm>
            <a:off x="6242248" y="4018788"/>
            <a:ext cx="5257800" cy="336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</a:t>
            </a:r>
            <a:endParaRPr lang="en-US" sz="1100" dirty="0"/>
          </a:p>
        </p:txBody>
      </p:sp>
      <p:sp>
        <p:nvSpPr>
          <p:cNvPr id="42" name="Shape 45">
            <a:extLst>
              <a:ext uri="{FF2B5EF4-FFF2-40B4-BE49-F238E27FC236}">
                <a16:creationId xmlns:a16="http://schemas.microsoft.com/office/drawing/2014/main" id="{51B94A8E-4266-8A2C-F61C-00BC8404954F}"/>
              </a:ext>
            </a:extLst>
          </p:cNvPr>
          <p:cNvSpPr/>
          <p:nvPr/>
        </p:nvSpPr>
        <p:spPr>
          <a:xfrm>
            <a:off x="6223960" y="4439412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Text 46">
            <a:extLst>
              <a:ext uri="{FF2B5EF4-FFF2-40B4-BE49-F238E27FC236}">
                <a16:creationId xmlns:a16="http://schemas.microsoft.com/office/drawing/2014/main" id="{F4099DE6-A6D5-21BA-2538-A9885E0583C0}"/>
              </a:ext>
            </a:extLst>
          </p:cNvPr>
          <p:cNvSpPr/>
          <p:nvPr/>
        </p:nvSpPr>
        <p:spPr>
          <a:xfrm>
            <a:off x="6315400" y="4475989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Ingresso di nuovi competitor low-cost</a:t>
            </a:r>
            <a:endParaRPr lang="en-US" sz="850" dirty="0"/>
          </a:p>
        </p:txBody>
      </p:sp>
      <p:sp>
        <p:nvSpPr>
          <p:cNvPr id="44" name="Shape 47">
            <a:extLst>
              <a:ext uri="{FF2B5EF4-FFF2-40B4-BE49-F238E27FC236}">
                <a16:creationId xmlns:a16="http://schemas.microsoft.com/office/drawing/2014/main" id="{64BB5912-FA7D-357D-FA96-A26886ECA099}"/>
              </a:ext>
            </a:extLst>
          </p:cNvPr>
          <p:cNvSpPr/>
          <p:nvPr/>
        </p:nvSpPr>
        <p:spPr>
          <a:xfrm>
            <a:off x="6223960" y="4925187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5" name="Text 48">
            <a:extLst>
              <a:ext uri="{FF2B5EF4-FFF2-40B4-BE49-F238E27FC236}">
                <a16:creationId xmlns:a16="http://schemas.microsoft.com/office/drawing/2014/main" id="{311932B6-99E7-2AC6-9D71-59E14E100064}"/>
              </a:ext>
            </a:extLst>
          </p:cNvPr>
          <p:cNvSpPr/>
          <p:nvPr/>
        </p:nvSpPr>
        <p:spPr>
          <a:xfrm>
            <a:off x="6315400" y="4961764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Evoluzione normativa GDPR e AI Act</a:t>
            </a:r>
            <a:endParaRPr lang="en-US" sz="850" dirty="0"/>
          </a:p>
        </p:txBody>
      </p:sp>
      <p:sp>
        <p:nvSpPr>
          <p:cNvPr id="46" name="Shape 49">
            <a:extLst>
              <a:ext uri="{FF2B5EF4-FFF2-40B4-BE49-F238E27FC236}">
                <a16:creationId xmlns:a16="http://schemas.microsoft.com/office/drawing/2014/main" id="{32755365-AE01-461E-3DF0-85C230E46669}"/>
              </a:ext>
            </a:extLst>
          </p:cNvPr>
          <p:cNvSpPr/>
          <p:nvPr/>
        </p:nvSpPr>
        <p:spPr>
          <a:xfrm>
            <a:off x="6223960" y="5410962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7" name="Text 50">
            <a:extLst>
              <a:ext uri="{FF2B5EF4-FFF2-40B4-BE49-F238E27FC236}">
                <a16:creationId xmlns:a16="http://schemas.microsoft.com/office/drawing/2014/main" id="{DE1BFDFA-A240-7797-A972-BC76B2C24E26}"/>
              </a:ext>
            </a:extLst>
          </p:cNvPr>
          <p:cNvSpPr/>
          <p:nvPr/>
        </p:nvSpPr>
        <p:spPr>
          <a:xfrm>
            <a:off x="6315400" y="5447539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Pressione sui margini da parte dei clienti</a:t>
            </a:r>
            <a:endParaRPr lang="en-US" sz="850" dirty="0"/>
          </a:p>
        </p:txBody>
      </p:sp>
      <p:sp>
        <p:nvSpPr>
          <p:cNvPr id="48" name="Shape 51">
            <a:extLst>
              <a:ext uri="{FF2B5EF4-FFF2-40B4-BE49-F238E27FC236}">
                <a16:creationId xmlns:a16="http://schemas.microsoft.com/office/drawing/2014/main" id="{68001465-37E6-8CBD-F936-1D014C3CE034}"/>
              </a:ext>
            </a:extLst>
          </p:cNvPr>
          <p:cNvSpPr/>
          <p:nvPr/>
        </p:nvSpPr>
        <p:spPr>
          <a:xfrm>
            <a:off x="6223960" y="5896737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Text 52">
            <a:extLst>
              <a:ext uri="{FF2B5EF4-FFF2-40B4-BE49-F238E27FC236}">
                <a16:creationId xmlns:a16="http://schemas.microsoft.com/office/drawing/2014/main" id="{4DBA5C39-51EA-9440-01FD-1BCE25CBC61E}"/>
              </a:ext>
            </a:extLst>
          </p:cNvPr>
          <p:cNvSpPr/>
          <p:nvPr/>
        </p:nvSpPr>
        <p:spPr>
          <a:xfrm>
            <a:off x="6315400" y="5933314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Volatilità dei costi delle materie prime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13896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424358-3C64-DAFA-DD9B-C6547E743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4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6568C7-F1F8-E4A3-58C4-247830B4D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29 Aprile 2026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2F56322-8FE4-AD90-9F71-E58904A19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SALES DEEP DIVE</a:t>
            </a: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759DD6FF-05BC-7188-37FB-A0E86F92CFBD}"/>
              </a:ext>
            </a:extLst>
          </p:cNvPr>
          <p:cNvSpPr/>
          <p:nvPr/>
        </p:nvSpPr>
        <p:spPr>
          <a:xfrm>
            <a:off x="419100" y="1376362"/>
            <a:ext cx="5349240" cy="4763497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FD956110-8251-B09B-477B-8A1252D11A72}"/>
              </a:ext>
            </a:extLst>
          </p:cNvPr>
          <p:cNvSpPr/>
          <p:nvPr/>
        </p:nvSpPr>
        <p:spPr>
          <a:xfrm>
            <a:off x="419100" y="1376363"/>
            <a:ext cx="54864" cy="4763496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4F957DA3-2848-6D2A-395B-3E7BC709E3BA}"/>
              </a:ext>
            </a:extLst>
          </p:cNvPr>
          <p:cNvSpPr/>
          <p:nvPr/>
        </p:nvSpPr>
        <p:spPr>
          <a:xfrm>
            <a:off x="5836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05CDD123-B8A9-B1B3-2193-500BE1908245}"/>
              </a:ext>
            </a:extLst>
          </p:cNvPr>
          <p:cNvSpPr/>
          <p:nvPr/>
        </p:nvSpPr>
        <p:spPr>
          <a:xfrm>
            <a:off x="6096000" y="1376363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AD22B148-8F38-C7C6-B352-E558679D3037}"/>
              </a:ext>
            </a:extLst>
          </p:cNvPr>
          <p:cNvSpPr/>
          <p:nvPr/>
        </p:nvSpPr>
        <p:spPr>
          <a:xfrm>
            <a:off x="6096000" y="1376364"/>
            <a:ext cx="54864" cy="229311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E3A97F51-DFFC-1BDA-6D4C-32FFDDFDED8D}"/>
              </a:ext>
            </a:extLst>
          </p:cNvPr>
          <p:cNvSpPr/>
          <p:nvPr/>
        </p:nvSpPr>
        <p:spPr>
          <a:xfrm>
            <a:off x="62605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STRENGHTS &amp; OPPORTUNITIES</a:t>
            </a:r>
            <a:endParaRPr lang="en-US" sz="1000" dirty="0"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6EE74B58-C02A-AB31-97C6-3BF7FC376E78}"/>
              </a:ext>
            </a:extLst>
          </p:cNvPr>
          <p:cNvSpPr/>
          <p:nvPr/>
        </p:nvSpPr>
        <p:spPr>
          <a:xfrm>
            <a:off x="6260592" y="185185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9A68B15A-7749-013E-BA29-70C9F26CE2BF}"/>
              </a:ext>
            </a:extLst>
          </p:cNvPr>
          <p:cNvSpPr/>
          <p:nvPr/>
        </p:nvSpPr>
        <p:spPr>
          <a:xfrm>
            <a:off x="6260592" y="185185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3E3AA50D-954C-3319-5E47-E069CB35B563}"/>
              </a:ext>
            </a:extLst>
          </p:cNvPr>
          <p:cNvSpPr/>
          <p:nvPr/>
        </p:nvSpPr>
        <p:spPr>
          <a:xfrm>
            <a:off x="6370320" y="192500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forza vendita è strutturata con ruoli hunter e farmer distinti.</a:t>
            </a:r>
            <a:endParaRPr lang="en-US" sz="850" dirty="0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36F31B2B-A495-4CC5-DC03-EC2AEE8394F5}"/>
              </a:ext>
            </a:extLst>
          </p:cNvPr>
          <p:cNvSpPr/>
          <p:nvPr/>
        </p:nvSpPr>
        <p:spPr>
          <a:xfrm>
            <a:off x="583692" y="1925003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0402D77B-B8F9-D56A-0B66-9824BFEF14AD}"/>
              </a:ext>
            </a:extLst>
          </p:cNvPr>
          <p:cNvSpPr/>
          <p:nvPr/>
        </p:nvSpPr>
        <p:spPr>
          <a:xfrm>
            <a:off x="583692" y="1925003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617FA6FA-55E1-0D40-109F-02D58D9E48AC}"/>
              </a:ext>
            </a:extLst>
          </p:cNvPr>
          <p:cNvSpPr/>
          <p:nvPr/>
        </p:nvSpPr>
        <p:spPr>
          <a:xfrm>
            <a:off x="693420" y="1998155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processo di vendita è documentato e seguito con costanza.</a:t>
            </a:r>
            <a:endParaRPr lang="en-US" sz="850" dirty="0"/>
          </a:p>
        </p:txBody>
      </p:sp>
      <p:sp>
        <p:nvSpPr>
          <p:cNvPr id="47" name="Shape 12">
            <a:extLst>
              <a:ext uri="{FF2B5EF4-FFF2-40B4-BE49-F238E27FC236}">
                <a16:creationId xmlns:a16="http://schemas.microsoft.com/office/drawing/2014/main" id="{7559B1A3-C8A7-A797-5D61-82F650A2FBD6}"/>
              </a:ext>
            </a:extLst>
          </p:cNvPr>
          <p:cNvSpPr/>
          <p:nvPr/>
        </p:nvSpPr>
        <p:spPr>
          <a:xfrm>
            <a:off x="583692" y="2551045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C5454379-B915-1DFD-31BB-54E3AE5B8B02}"/>
              </a:ext>
            </a:extLst>
          </p:cNvPr>
          <p:cNvSpPr/>
          <p:nvPr/>
        </p:nvSpPr>
        <p:spPr>
          <a:xfrm>
            <a:off x="583692" y="2551045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A3DBFAB9-C647-C80E-B553-CCC494416D7C}"/>
              </a:ext>
            </a:extLst>
          </p:cNvPr>
          <p:cNvSpPr/>
          <p:nvPr/>
        </p:nvSpPr>
        <p:spPr>
          <a:xfrm>
            <a:off x="693420" y="2624197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tasso di rinnovo contratti è superiore al 90%.</a:t>
            </a:r>
            <a:endParaRPr lang="en-US" sz="850" dirty="0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01321208-AA3C-096C-E5BC-CBC272395EE7}"/>
              </a:ext>
            </a:extLst>
          </p:cNvPr>
          <p:cNvSpPr/>
          <p:nvPr/>
        </p:nvSpPr>
        <p:spPr>
          <a:xfrm>
            <a:off x="583692" y="325306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1" name="Shape 13">
            <a:extLst>
              <a:ext uri="{FF2B5EF4-FFF2-40B4-BE49-F238E27FC236}">
                <a16:creationId xmlns:a16="http://schemas.microsoft.com/office/drawing/2014/main" id="{26061F65-DB6C-4E34-27E6-C7307F10F14B}"/>
              </a:ext>
            </a:extLst>
          </p:cNvPr>
          <p:cNvSpPr/>
          <p:nvPr/>
        </p:nvSpPr>
        <p:spPr>
          <a:xfrm>
            <a:off x="583692" y="325306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4C2359F7-A7C8-DBEA-22C5-686A4DC3A807}"/>
              </a:ext>
            </a:extLst>
          </p:cNvPr>
          <p:cNvSpPr/>
          <p:nvPr/>
        </p:nvSpPr>
        <p:spPr>
          <a:xfrm>
            <a:off x="693420" y="332621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Esiste un programma di incentivazione efficace per il team sales.</a:t>
            </a:r>
            <a:endParaRPr lang="en-US" sz="850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191AD725-886F-3B28-3137-C11B6A9CA5C7}"/>
              </a:ext>
            </a:extLst>
          </p:cNvPr>
          <p:cNvSpPr/>
          <p:nvPr/>
        </p:nvSpPr>
        <p:spPr>
          <a:xfrm>
            <a:off x="583692" y="3902290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14333B2F-DCA4-D800-3CBE-ED3E151C99F4}"/>
              </a:ext>
            </a:extLst>
          </p:cNvPr>
          <p:cNvSpPr/>
          <p:nvPr/>
        </p:nvSpPr>
        <p:spPr>
          <a:xfrm>
            <a:off x="583692" y="3902290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CAA4B0B1-179F-3446-97BE-9091ED9E0E9E}"/>
              </a:ext>
            </a:extLst>
          </p:cNvPr>
          <p:cNvSpPr/>
          <p:nvPr/>
        </p:nvSpPr>
        <p:spPr>
          <a:xfrm>
            <a:off x="693420" y="3975442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CRM è adottato da tutto il team con dati aggiornati.</a:t>
            </a:r>
            <a:endParaRPr lang="en-US" sz="850" dirty="0"/>
          </a:p>
        </p:txBody>
      </p:sp>
      <p:sp>
        <p:nvSpPr>
          <p:cNvPr id="56" name="Shape 12">
            <a:extLst>
              <a:ext uri="{FF2B5EF4-FFF2-40B4-BE49-F238E27FC236}">
                <a16:creationId xmlns:a16="http://schemas.microsoft.com/office/drawing/2014/main" id="{77A27E50-4932-D581-5BED-76DE36DC8283}"/>
              </a:ext>
            </a:extLst>
          </p:cNvPr>
          <p:cNvSpPr/>
          <p:nvPr/>
        </p:nvSpPr>
        <p:spPr>
          <a:xfrm>
            <a:off x="583692" y="455151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8297BBF8-28A0-6E35-57C9-9C7C0D572F42}"/>
              </a:ext>
            </a:extLst>
          </p:cNvPr>
          <p:cNvSpPr/>
          <p:nvPr/>
        </p:nvSpPr>
        <p:spPr>
          <a:xfrm>
            <a:off x="583692" y="455151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8" name="Text 14">
            <a:extLst>
              <a:ext uri="{FF2B5EF4-FFF2-40B4-BE49-F238E27FC236}">
                <a16:creationId xmlns:a16="http://schemas.microsoft.com/office/drawing/2014/main" id="{3062698B-D44E-06D3-5F8A-139C61AB086C}"/>
              </a:ext>
            </a:extLst>
          </p:cNvPr>
          <p:cNvSpPr/>
          <p:nvPr/>
        </p:nvSpPr>
        <p:spPr>
          <a:xfrm>
            <a:off x="693420" y="462466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previsioni di vendita hanno un'accuratezza superiore all'80%.</a:t>
            </a:r>
            <a:endParaRPr lang="en-US" sz="850" dirty="0"/>
          </a:p>
        </p:txBody>
      </p:sp>
      <p:sp>
        <p:nvSpPr>
          <p:cNvPr id="59" name="Shape 12">
            <a:extLst>
              <a:ext uri="{FF2B5EF4-FFF2-40B4-BE49-F238E27FC236}">
                <a16:creationId xmlns:a16="http://schemas.microsoft.com/office/drawing/2014/main" id="{A9EDE5F9-76E3-B8FA-4FFB-A9DA052071AE}"/>
              </a:ext>
            </a:extLst>
          </p:cNvPr>
          <p:cNvSpPr/>
          <p:nvPr/>
        </p:nvSpPr>
        <p:spPr>
          <a:xfrm>
            <a:off x="583692" y="520147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0" name="Shape 13">
            <a:extLst>
              <a:ext uri="{FF2B5EF4-FFF2-40B4-BE49-F238E27FC236}">
                <a16:creationId xmlns:a16="http://schemas.microsoft.com/office/drawing/2014/main" id="{5DBA2C82-7E25-61B4-9D3F-5AD94B4818D4}"/>
              </a:ext>
            </a:extLst>
          </p:cNvPr>
          <p:cNvSpPr/>
          <p:nvPr/>
        </p:nvSpPr>
        <p:spPr>
          <a:xfrm>
            <a:off x="583692" y="520147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7C63FAF6-E57C-1D94-20F3-2F888C3789E5}"/>
              </a:ext>
            </a:extLst>
          </p:cNvPr>
          <p:cNvSpPr/>
          <p:nvPr/>
        </p:nvSpPr>
        <p:spPr>
          <a:xfrm>
            <a:off x="693420" y="527462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processo di onboarding nuovi clienti è strutturato.</a:t>
            </a:r>
            <a:endParaRPr lang="en-US" sz="850" dirty="0"/>
          </a:p>
        </p:txBody>
      </p:sp>
      <p:sp>
        <p:nvSpPr>
          <p:cNvPr id="62" name="Shape 12">
            <a:extLst>
              <a:ext uri="{FF2B5EF4-FFF2-40B4-BE49-F238E27FC236}">
                <a16:creationId xmlns:a16="http://schemas.microsoft.com/office/drawing/2014/main" id="{A5510A39-3A61-B0F9-5E2E-CA3C690F9E68}"/>
              </a:ext>
            </a:extLst>
          </p:cNvPr>
          <p:cNvSpPr/>
          <p:nvPr/>
        </p:nvSpPr>
        <p:spPr>
          <a:xfrm>
            <a:off x="6260592" y="245142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3" name="Shape 13">
            <a:extLst>
              <a:ext uri="{FF2B5EF4-FFF2-40B4-BE49-F238E27FC236}">
                <a16:creationId xmlns:a16="http://schemas.microsoft.com/office/drawing/2014/main" id="{4817470F-B8CD-6C0E-CC15-8CB400967764}"/>
              </a:ext>
            </a:extLst>
          </p:cNvPr>
          <p:cNvSpPr/>
          <p:nvPr/>
        </p:nvSpPr>
        <p:spPr>
          <a:xfrm>
            <a:off x="6260592" y="245142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4" name="Text 14">
            <a:extLst>
              <a:ext uri="{FF2B5EF4-FFF2-40B4-BE49-F238E27FC236}">
                <a16:creationId xmlns:a16="http://schemas.microsoft.com/office/drawing/2014/main" id="{E7E2B9EB-7C4B-83B9-CEB3-E0E576F6E335}"/>
              </a:ext>
            </a:extLst>
          </p:cNvPr>
          <p:cNvSpPr/>
          <p:nvPr/>
        </p:nvSpPr>
        <p:spPr>
          <a:xfrm>
            <a:off x="6370320" y="252457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Esistono partnership di canale attive con rivenditori qualificati.</a:t>
            </a:r>
            <a:endParaRPr lang="en-US" sz="850" dirty="0"/>
          </a:p>
        </p:txBody>
      </p:sp>
      <p:sp>
        <p:nvSpPr>
          <p:cNvPr id="65" name="Shape 12">
            <a:extLst>
              <a:ext uri="{FF2B5EF4-FFF2-40B4-BE49-F238E27FC236}">
                <a16:creationId xmlns:a16="http://schemas.microsoft.com/office/drawing/2014/main" id="{9B7C67EF-29EF-6A21-F2F6-844A21E8EB9C}"/>
              </a:ext>
            </a:extLst>
          </p:cNvPr>
          <p:cNvSpPr/>
          <p:nvPr/>
        </p:nvSpPr>
        <p:spPr>
          <a:xfrm>
            <a:off x="6260592" y="3050547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6" name="Shape 13">
            <a:extLst>
              <a:ext uri="{FF2B5EF4-FFF2-40B4-BE49-F238E27FC236}">
                <a16:creationId xmlns:a16="http://schemas.microsoft.com/office/drawing/2014/main" id="{DCCA04B7-8014-9DB0-C3D4-EA9B7F33C126}"/>
              </a:ext>
            </a:extLst>
          </p:cNvPr>
          <p:cNvSpPr/>
          <p:nvPr/>
        </p:nvSpPr>
        <p:spPr>
          <a:xfrm>
            <a:off x="6260592" y="3050547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7" name="Text 14">
            <a:extLst>
              <a:ext uri="{FF2B5EF4-FFF2-40B4-BE49-F238E27FC236}">
                <a16:creationId xmlns:a16="http://schemas.microsoft.com/office/drawing/2014/main" id="{3BF65133-DA20-7294-BB32-B87A03CABAE4}"/>
              </a:ext>
            </a:extLst>
          </p:cNvPr>
          <p:cNvSpPr/>
          <p:nvPr/>
        </p:nvSpPr>
        <p:spPr>
          <a:xfrm>
            <a:off x="6370320" y="3123699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ciclo medio di vendita si è ridotto del 20% nell'ultimo anno.</a:t>
            </a:r>
            <a:endParaRPr lang="en-US" sz="850" dirty="0"/>
          </a:p>
        </p:txBody>
      </p:sp>
      <p:sp>
        <p:nvSpPr>
          <p:cNvPr id="68" name="Shape 8">
            <a:extLst>
              <a:ext uri="{FF2B5EF4-FFF2-40B4-BE49-F238E27FC236}">
                <a16:creationId xmlns:a16="http://schemas.microsoft.com/office/drawing/2014/main" id="{DE1A36AA-2D69-899C-BB7A-6916CBE576F9}"/>
              </a:ext>
            </a:extLst>
          </p:cNvPr>
          <p:cNvSpPr/>
          <p:nvPr/>
        </p:nvSpPr>
        <p:spPr>
          <a:xfrm>
            <a:off x="6096000" y="3846748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9" name="Shape 9">
            <a:extLst>
              <a:ext uri="{FF2B5EF4-FFF2-40B4-BE49-F238E27FC236}">
                <a16:creationId xmlns:a16="http://schemas.microsoft.com/office/drawing/2014/main" id="{DC65F65C-4FBC-D763-DDC7-6820B73E654B}"/>
              </a:ext>
            </a:extLst>
          </p:cNvPr>
          <p:cNvSpPr/>
          <p:nvPr/>
        </p:nvSpPr>
        <p:spPr>
          <a:xfrm>
            <a:off x="6096000" y="3846749"/>
            <a:ext cx="54864" cy="2293110"/>
          </a:xfrm>
          <a:prstGeom prst="rect">
            <a:avLst/>
          </a:prstGeom>
          <a:solidFill>
            <a:srgbClr val="FF000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0" name="Text 10">
            <a:extLst>
              <a:ext uri="{FF2B5EF4-FFF2-40B4-BE49-F238E27FC236}">
                <a16:creationId xmlns:a16="http://schemas.microsoft.com/office/drawing/2014/main" id="{00B27FA9-6D89-D7F2-2D64-72B3054FE367}"/>
              </a:ext>
            </a:extLst>
          </p:cNvPr>
          <p:cNvSpPr/>
          <p:nvPr/>
        </p:nvSpPr>
        <p:spPr>
          <a:xfrm>
            <a:off x="6260592" y="39564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 &amp; BARRIERS</a:t>
            </a:r>
            <a:endParaRPr lang="en-US" sz="1000" dirty="0"/>
          </a:p>
        </p:txBody>
      </p:sp>
      <p:sp>
        <p:nvSpPr>
          <p:cNvPr id="71" name="Shape 12">
            <a:extLst>
              <a:ext uri="{FF2B5EF4-FFF2-40B4-BE49-F238E27FC236}">
                <a16:creationId xmlns:a16="http://schemas.microsoft.com/office/drawing/2014/main" id="{D80DA6AF-9642-88E9-E6D2-2CE67ABC5317}"/>
              </a:ext>
            </a:extLst>
          </p:cNvPr>
          <p:cNvSpPr/>
          <p:nvPr/>
        </p:nvSpPr>
        <p:spPr>
          <a:xfrm>
            <a:off x="6260592" y="432223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2" name="Shape 13">
            <a:extLst>
              <a:ext uri="{FF2B5EF4-FFF2-40B4-BE49-F238E27FC236}">
                <a16:creationId xmlns:a16="http://schemas.microsoft.com/office/drawing/2014/main" id="{C06FBB27-DC95-8D4E-2C88-3BB92DA67818}"/>
              </a:ext>
            </a:extLst>
          </p:cNvPr>
          <p:cNvSpPr/>
          <p:nvPr/>
        </p:nvSpPr>
        <p:spPr>
          <a:xfrm>
            <a:off x="6260592" y="432223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3" name="Text 14">
            <a:extLst>
              <a:ext uri="{FF2B5EF4-FFF2-40B4-BE49-F238E27FC236}">
                <a16:creationId xmlns:a16="http://schemas.microsoft.com/office/drawing/2014/main" id="{CE749E88-112B-B622-E682-F21C0996CF11}"/>
              </a:ext>
            </a:extLst>
          </p:cNvPr>
          <p:cNvSpPr/>
          <p:nvPr/>
        </p:nvSpPr>
        <p:spPr>
          <a:xfrm>
            <a:off x="6370320" y="439538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pipeline non è sufficientemente diversificata per settore verticale.</a:t>
            </a:r>
            <a:endParaRPr lang="en-US" sz="850" dirty="0"/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F72157E0-629A-34DD-2B6B-FF6976673E4E}"/>
              </a:ext>
            </a:extLst>
          </p:cNvPr>
          <p:cNvSpPr/>
          <p:nvPr/>
        </p:nvSpPr>
        <p:spPr>
          <a:xfrm>
            <a:off x="6260592" y="4921809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5" name="Shape 13">
            <a:extLst>
              <a:ext uri="{FF2B5EF4-FFF2-40B4-BE49-F238E27FC236}">
                <a16:creationId xmlns:a16="http://schemas.microsoft.com/office/drawing/2014/main" id="{2D323A99-4575-434F-12B1-EF0F291475DF}"/>
              </a:ext>
            </a:extLst>
          </p:cNvPr>
          <p:cNvSpPr/>
          <p:nvPr/>
        </p:nvSpPr>
        <p:spPr>
          <a:xfrm>
            <a:off x="6260592" y="4921809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6" name="Text 14">
            <a:extLst>
              <a:ext uri="{FF2B5EF4-FFF2-40B4-BE49-F238E27FC236}">
                <a16:creationId xmlns:a16="http://schemas.microsoft.com/office/drawing/2014/main" id="{8BADF71A-D23B-28E1-0710-4B03AD2D26F1}"/>
              </a:ext>
            </a:extLst>
          </p:cNvPr>
          <p:cNvSpPr/>
          <p:nvPr/>
        </p:nvSpPr>
        <p:spPr>
          <a:xfrm>
            <a:off x="6370320" y="4994961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Manca un processo formalizzato di win/loss analysis.</a:t>
            </a:r>
            <a:endParaRPr lang="en-US" sz="850" dirty="0"/>
          </a:p>
        </p:txBody>
      </p:sp>
      <p:sp>
        <p:nvSpPr>
          <p:cNvPr id="77" name="Shape 12">
            <a:extLst>
              <a:ext uri="{FF2B5EF4-FFF2-40B4-BE49-F238E27FC236}">
                <a16:creationId xmlns:a16="http://schemas.microsoft.com/office/drawing/2014/main" id="{BFFA26FB-B954-BA2E-C1A7-7B452F128EB6}"/>
              </a:ext>
            </a:extLst>
          </p:cNvPr>
          <p:cNvSpPr/>
          <p:nvPr/>
        </p:nvSpPr>
        <p:spPr>
          <a:xfrm>
            <a:off x="6260592" y="5520932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8" name="Shape 13">
            <a:extLst>
              <a:ext uri="{FF2B5EF4-FFF2-40B4-BE49-F238E27FC236}">
                <a16:creationId xmlns:a16="http://schemas.microsoft.com/office/drawing/2014/main" id="{9B8A42F5-E8C2-CD8E-6515-D57A157DAE45}"/>
              </a:ext>
            </a:extLst>
          </p:cNvPr>
          <p:cNvSpPr/>
          <p:nvPr/>
        </p:nvSpPr>
        <p:spPr>
          <a:xfrm>
            <a:off x="6260592" y="5520932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9" name="Text 14">
            <a:extLst>
              <a:ext uri="{FF2B5EF4-FFF2-40B4-BE49-F238E27FC236}">
                <a16:creationId xmlns:a16="http://schemas.microsoft.com/office/drawing/2014/main" id="{1E460500-4536-9BD8-C61A-41C57EBD204F}"/>
              </a:ext>
            </a:extLst>
          </p:cNvPr>
          <p:cNvSpPr/>
          <p:nvPr/>
        </p:nvSpPr>
        <p:spPr>
          <a:xfrm>
            <a:off x="6370320" y="5594084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time-to-quote è ancora troppo elevato per offerte complesse.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99292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5F8A2-D220-2BA8-4C73-E12905439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F770FA-41CF-61A9-EAE1-D0443A58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5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2BCA4E-7E88-7812-80DA-C83EC563D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29 Aprile 2026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2A5AB-6015-C552-2BC9-1C4D7FA94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MARKETING DEEP DIVE</a:t>
            </a: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A7245296-BE7C-42D4-2086-A751C56C030B}"/>
              </a:ext>
            </a:extLst>
          </p:cNvPr>
          <p:cNvSpPr/>
          <p:nvPr/>
        </p:nvSpPr>
        <p:spPr>
          <a:xfrm>
            <a:off x="419100" y="1376362"/>
            <a:ext cx="5349240" cy="4763497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0DEBB9B2-CB01-40F9-A306-76DE4947DB56}"/>
              </a:ext>
            </a:extLst>
          </p:cNvPr>
          <p:cNvSpPr/>
          <p:nvPr/>
        </p:nvSpPr>
        <p:spPr>
          <a:xfrm>
            <a:off x="419100" y="1376363"/>
            <a:ext cx="54864" cy="4763496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3A92ECEE-A683-71CF-49F5-839EB0A41E00}"/>
              </a:ext>
            </a:extLst>
          </p:cNvPr>
          <p:cNvSpPr/>
          <p:nvPr/>
        </p:nvSpPr>
        <p:spPr>
          <a:xfrm>
            <a:off x="5836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B1972EDC-F00A-AAF4-D049-4DAE5E90F71D}"/>
              </a:ext>
            </a:extLst>
          </p:cNvPr>
          <p:cNvSpPr/>
          <p:nvPr/>
        </p:nvSpPr>
        <p:spPr>
          <a:xfrm>
            <a:off x="6096000" y="1376363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2B9A7437-7960-B230-85C7-C304B510C450}"/>
              </a:ext>
            </a:extLst>
          </p:cNvPr>
          <p:cNvSpPr/>
          <p:nvPr/>
        </p:nvSpPr>
        <p:spPr>
          <a:xfrm>
            <a:off x="6096000" y="1376364"/>
            <a:ext cx="54864" cy="229311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04CB13FA-521B-3718-A252-F47D8BB1FA79}"/>
              </a:ext>
            </a:extLst>
          </p:cNvPr>
          <p:cNvSpPr/>
          <p:nvPr/>
        </p:nvSpPr>
        <p:spPr>
          <a:xfrm>
            <a:off x="62605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STRENGHTS &amp; OPPORTUNITIES</a:t>
            </a:r>
            <a:endParaRPr lang="en-US" sz="1000" dirty="0"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9EC64321-7DCC-42D4-1645-6E5CE9EBA063}"/>
              </a:ext>
            </a:extLst>
          </p:cNvPr>
          <p:cNvSpPr/>
          <p:nvPr/>
        </p:nvSpPr>
        <p:spPr>
          <a:xfrm>
            <a:off x="6260592" y="185185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734D62A3-87C7-E3DD-586F-5CA6174ADFEB}"/>
              </a:ext>
            </a:extLst>
          </p:cNvPr>
          <p:cNvSpPr/>
          <p:nvPr/>
        </p:nvSpPr>
        <p:spPr>
          <a:xfrm>
            <a:off x="6260592" y="185185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1951E87F-A69B-E3BC-99C4-0010552BBEB5}"/>
              </a:ext>
            </a:extLst>
          </p:cNvPr>
          <p:cNvSpPr/>
          <p:nvPr/>
        </p:nvSpPr>
        <p:spPr>
          <a:xfrm>
            <a:off x="6370320" y="192500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brand è ben posizionato nel segmento enterprise.</a:t>
            </a:r>
            <a:endParaRPr lang="en-US" sz="850" dirty="0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977689D8-54B2-4DCE-500F-E95036F805C9}"/>
              </a:ext>
            </a:extLst>
          </p:cNvPr>
          <p:cNvSpPr/>
          <p:nvPr/>
        </p:nvSpPr>
        <p:spPr>
          <a:xfrm>
            <a:off x="583692" y="1925003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D94D8EA7-3A00-D841-CD5B-0167C7784716}"/>
              </a:ext>
            </a:extLst>
          </p:cNvPr>
          <p:cNvSpPr/>
          <p:nvPr/>
        </p:nvSpPr>
        <p:spPr>
          <a:xfrm>
            <a:off x="583692" y="1925003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6AB91D0F-80A9-4903-B893-581D7A2A017C}"/>
              </a:ext>
            </a:extLst>
          </p:cNvPr>
          <p:cNvSpPr/>
          <p:nvPr/>
        </p:nvSpPr>
        <p:spPr>
          <a:xfrm>
            <a:off x="693420" y="1998155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content strategy produce lead qualificati in modo costante.</a:t>
            </a:r>
            <a:endParaRPr lang="en-US" sz="850" dirty="0"/>
          </a:p>
        </p:txBody>
      </p:sp>
      <p:sp>
        <p:nvSpPr>
          <p:cNvPr id="47" name="Shape 12">
            <a:extLst>
              <a:ext uri="{FF2B5EF4-FFF2-40B4-BE49-F238E27FC236}">
                <a16:creationId xmlns:a16="http://schemas.microsoft.com/office/drawing/2014/main" id="{485A9E10-EDEF-9625-B45E-F9E74B799006}"/>
              </a:ext>
            </a:extLst>
          </p:cNvPr>
          <p:cNvSpPr/>
          <p:nvPr/>
        </p:nvSpPr>
        <p:spPr>
          <a:xfrm>
            <a:off x="583692" y="2551045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0CED49EE-918C-8F0F-A050-D271AD068BCB}"/>
              </a:ext>
            </a:extLst>
          </p:cNvPr>
          <p:cNvSpPr/>
          <p:nvPr/>
        </p:nvSpPr>
        <p:spPr>
          <a:xfrm>
            <a:off x="583692" y="2551045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D46BB3F4-56BB-AFCC-1FC4-31789A11E307}"/>
              </a:ext>
            </a:extLst>
          </p:cNvPr>
          <p:cNvSpPr/>
          <p:nvPr/>
        </p:nvSpPr>
        <p:spPr>
          <a:xfrm>
            <a:off x="693420" y="2624197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sito web è stato recentemente rinnovato con focus sulla UX.</a:t>
            </a:r>
            <a:endParaRPr lang="en-US" sz="850" dirty="0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6614984C-AEF7-D6DA-F2FA-25623495EDBF}"/>
              </a:ext>
            </a:extLst>
          </p:cNvPr>
          <p:cNvSpPr/>
          <p:nvPr/>
        </p:nvSpPr>
        <p:spPr>
          <a:xfrm>
            <a:off x="583692" y="325306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1" name="Shape 13">
            <a:extLst>
              <a:ext uri="{FF2B5EF4-FFF2-40B4-BE49-F238E27FC236}">
                <a16:creationId xmlns:a16="http://schemas.microsoft.com/office/drawing/2014/main" id="{BDCC7CF7-9627-C698-7B45-D6BC4D1155D7}"/>
              </a:ext>
            </a:extLst>
          </p:cNvPr>
          <p:cNvSpPr/>
          <p:nvPr/>
        </p:nvSpPr>
        <p:spPr>
          <a:xfrm>
            <a:off x="583692" y="325306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CB2EB6B1-5776-6A1E-A64C-CEE127BE5B4B}"/>
              </a:ext>
            </a:extLst>
          </p:cNvPr>
          <p:cNvSpPr/>
          <p:nvPr/>
        </p:nvSpPr>
        <p:spPr>
          <a:xfrm>
            <a:off x="693420" y="332621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attive campagne SEO/SEM con ROI misurabile.</a:t>
            </a:r>
            <a:endParaRPr lang="en-US" sz="850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C7C8C64F-43E2-73D1-3966-890576B799D3}"/>
              </a:ext>
            </a:extLst>
          </p:cNvPr>
          <p:cNvSpPr/>
          <p:nvPr/>
        </p:nvSpPr>
        <p:spPr>
          <a:xfrm>
            <a:off x="583692" y="3902290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7D061DCB-6527-CD63-FCF8-364F440E08AE}"/>
              </a:ext>
            </a:extLst>
          </p:cNvPr>
          <p:cNvSpPr/>
          <p:nvPr/>
        </p:nvSpPr>
        <p:spPr>
          <a:xfrm>
            <a:off x="583692" y="3902290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BABFB527-D10D-6B04-5CCE-6ACBAB40D226}"/>
              </a:ext>
            </a:extLst>
          </p:cNvPr>
          <p:cNvSpPr/>
          <p:nvPr/>
        </p:nvSpPr>
        <p:spPr>
          <a:xfrm>
            <a:off x="693420" y="3975442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presenza su LinkedIn è cresciuta del 30% nell'ultimo anno.</a:t>
            </a:r>
            <a:endParaRPr lang="en-US" sz="850" dirty="0"/>
          </a:p>
        </p:txBody>
      </p:sp>
      <p:sp>
        <p:nvSpPr>
          <p:cNvPr id="56" name="Shape 12">
            <a:extLst>
              <a:ext uri="{FF2B5EF4-FFF2-40B4-BE49-F238E27FC236}">
                <a16:creationId xmlns:a16="http://schemas.microsoft.com/office/drawing/2014/main" id="{11C0D086-0CF0-9440-23AC-5323CB6A7ABD}"/>
              </a:ext>
            </a:extLst>
          </p:cNvPr>
          <p:cNvSpPr/>
          <p:nvPr/>
        </p:nvSpPr>
        <p:spPr>
          <a:xfrm>
            <a:off x="583692" y="455151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C0EBB506-437E-B83D-C6CE-131C74E12086}"/>
              </a:ext>
            </a:extLst>
          </p:cNvPr>
          <p:cNvSpPr/>
          <p:nvPr/>
        </p:nvSpPr>
        <p:spPr>
          <a:xfrm>
            <a:off x="583692" y="455151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8" name="Text 14">
            <a:extLst>
              <a:ext uri="{FF2B5EF4-FFF2-40B4-BE49-F238E27FC236}">
                <a16:creationId xmlns:a16="http://schemas.microsoft.com/office/drawing/2014/main" id="{A2F3AAB6-E5B3-080E-EE14-029D78FA9D33}"/>
              </a:ext>
            </a:extLst>
          </p:cNvPr>
          <p:cNvSpPr/>
          <p:nvPr/>
        </p:nvSpPr>
        <p:spPr>
          <a:xfrm>
            <a:off x="693420" y="462466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Esiste un programma di referral clienti attivo.</a:t>
            </a:r>
            <a:endParaRPr lang="en-US" sz="850" dirty="0"/>
          </a:p>
        </p:txBody>
      </p:sp>
      <p:sp>
        <p:nvSpPr>
          <p:cNvPr id="59" name="Shape 12">
            <a:extLst>
              <a:ext uri="{FF2B5EF4-FFF2-40B4-BE49-F238E27FC236}">
                <a16:creationId xmlns:a16="http://schemas.microsoft.com/office/drawing/2014/main" id="{ACFDCAC3-1088-7188-B478-00E86C7B09E4}"/>
              </a:ext>
            </a:extLst>
          </p:cNvPr>
          <p:cNvSpPr/>
          <p:nvPr/>
        </p:nvSpPr>
        <p:spPr>
          <a:xfrm>
            <a:off x="583692" y="520147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0" name="Shape 13">
            <a:extLst>
              <a:ext uri="{FF2B5EF4-FFF2-40B4-BE49-F238E27FC236}">
                <a16:creationId xmlns:a16="http://schemas.microsoft.com/office/drawing/2014/main" id="{46BDD727-3F28-446E-4739-46A64181D2D5}"/>
              </a:ext>
            </a:extLst>
          </p:cNvPr>
          <p:cNvSpPr/>
          <p:nvPr/>
        </p:nvSpPr>
        <p:spPr>
          <a:xfrm>
            <a:off x="583692" y="520147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46FE0C0E-DEA3-BB47-AADA-5AFE2EF5D2C6}"/>
              </a:ext>
            </a:extLst>
          </p:cNvPr>
          <p:cNvSpPr/>
          <p:nvPr/>
        </p:nvSpPr>
        <p:spPr>
          <a:xfrm>
            <a:off x="693420" y="527462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CRM è integrato con gli strumenti di marketing automation.</a:t>
            </a:r>
            <a:endParaRPr lang="en-US" sz="850" dirty="0"/>
          </a:p>
        </p:txBody>
      </p:sp>
      <p:sp>
        <p:nvSpPr>
          <p:cNvPr id="62" name="Shape 12">
            <a:extLst>
              <a:ext uri="{FF2B5EF4-FFF2-40B4-BE49-F238E27FC236}">
                <a16:creationId xmlns:a16="http://schemas.microsoft.com/office/drawing/2014/main" id="{DC0B80E0-409E-1565-CB50-9E3E97A7D8A9}"/>
              </a:ext>
            </a:extLst>
          </p:cNvPr>
          <p:cNvSpPr/>
          <p:nvPr/>
        </p:nvSpPr>
        <p:spPr>
          <a:xfrm>
            <a:off x="6260592" y="245142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3" name="Shape 13">
            <a:extLst>
              <a:ext uri="{FF2B5EF4-FFF2-40B4-BE49-F238E27FC236}">
                <a16:creationId xmlns:a16="http://schemas.microsoft.com/office/drawing/2014/main" id="{FF826193-A9CC-C359-D17A-980260E9EF77}"/>
              </a:ext>
            </a:extLst>
          </p:cNvPr>
          <p:cNvSpPr/>
          <p:nvPr/>
        </p:nvSpPr>
        <p:spPr>
          <a:xfrm>
            <a:off x="6260592" y="245142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4" name="Text 14">
            <a:extLst>
              <a:ext uri="{FF2B5EF4-FFF2-40B4-BE49-F238E27FC236}">
                <a16:creationId xmlns:a16="http://schemas.microsoft.com/office/drawing/2014/main" id="{22DC755A-7B2E-2A4B-E71E-26A013D0BCF8}"/>
              </a:ext>
            </a:extLst>
          </p:cNvPr>
          <p:cNvSpPr/>
          <p:nvPr/>
        </p:nvSpPr>
        <p:spPr>
          <a:xfrm>
            <a:off x="6370320" y="252457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eventi di settore generano pipeline qualificata.</a:t>
            </a:r>
            <a:endParaRPr lang="en-US" sz="850" dirty="0"/>
          </a:p>
        </p:txBody>
      </p:sp>
      <p:sp>
        <p:nvSpPr>
          <p:cNvPr id="65" name="Shape 12">
            <a:extLst>
              <a:ext uri="{FF2B5EF4-FFF2-40B4-BE49-F238E27FC236}">
                <a16:creationId xmlns:a16="http://schemas.microsoft.com/office/drawing/2014/main" id="{3AE241B3-6D7E-A6D6-1EB3-0236FA8F452E}"/>
              </a:ext>
            </a:extLst>
          </p:cNvPr>
          <p:cNvSpPr/>
          <p:nvPr/>
        </p:nvSpPr>
        <p:spPr>
          <a:xfrm>
            <a:off x="6260592" y="3050547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6" name="Shape 13">
            <a:extLst>
              <a:ext uri="{FF2B5EF4-FFF2-40B4-BE49-F238E27FC236}">
                <a16:creationId xmlns:a16="http://schemas.microsoft.com/office/drawing/2014/main" id="{79F12F12-B92F-CD01-5F68-E681C09F29C8}"/>
              </a:ext>
            </a:extLst>
          </p:cNvPr>
          <p:cNvSpPr/>
          <p:nvPr/>
        </p:nvSpPr>
        <p:spPr>
          <a:xfrm>
            <a:off x="6260592" y="3050547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7" name="Text 14">
            <a:extLst>
              <a:ext uri="{FF2B5EF4-FFF2-40B4-BE49-F238E27FC236}">
                <a16:creationId xmlns:a16="http://schemas.microsoft.com/office/drawing/2014/main" id="{3365BF33-9D03-4CDA-990E-B1D211F88FD8}"/>
              </a:ext>
            </a:extLst>
          </p:cNvPr>
          <p:cNvSpPr/>
          <p:nvPr/>
        </p:nvSpPr>
        <p:spPr>
          <a:xfrm>
            <a:off x="6370320" y="3123699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team marketing è strutturato per specializzazione (demand, brand, digital).</a:t>
            </a:r>
            <a:endParaRPr lang="en-US" sz="850" dirty="0"/>
          </a:p>
        </p:txBody>
      </p:sp>
      <p:sp>
        <p:nvSpPr>
          <p:cNvPr id="68" name="Shape 8">
            <a:extLst>
              <a:ext uri="{FF2B5EF4-FFF2-40B4-BE49-F238E27FC236}">
                <a16:creationId xmlns:a16="http://schemas.microsoft.com/office/drawing/2014/main" id="{7DFCF1FC-965E-23CD-76AB-13E080ED0239}"/>
              </a:ext>
            </a:extLst>
          </p:cNvPr>
          <p:cNvSpPr/>
          <p:nvPr/>
        </p:nvSpPr>
        <p:spPr>
          <a:xfrm>
            <a:off x="6096000" y="3846748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9" name="Shape 9">
            <a:extLst>
              <a:ext uri="{FF2B5EF4-FFF2-40B4-BE49-F238E27FC236}">
                <a16:creationId xmlns:a16="http://schemas.microsoft.com/office/drawing/2014/main" id="{8D446B8D-90AB-C70E-E055-E1517094EB3D}"/>
              </a:ext>
            </a:extLst>
          </p:cNvPr>
          <p:cNvSpPr/>
          <p:nvPr/>
        </p:nvSpPr>
        <p:spPr>
          <a:xfrm>
            <a:off x="6096000" y="3846749"/>
            <a:ext cx="54864" cy="2293110"/>
          </a:xfrm>
          <a:prstGeom prst="rect">
            <a:avLst/>
          </a:prstGeom>
          <a:solidFill>
            <a:srgbClr val="FF000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0" name="Text 10">
            <a:extLst>
              <a:ext uri="{FF2B5EF4-FFF2-40B4-BE49-F238E27FC236}">
                <a16:creationId xmlns:a16="http://schemas.microsoft.com/office/drawing/2014/main" id="{1A971E22-9C4C-A99A-BF22-A8D4A09601D7}"/>
              </a:ext>
            </a:extLst>
          </p:cNvPr>
          <p:cNvSpPr/>
          <p:nvPr/>
        </p:nvSpPr>
        <p:spPr>
          <a:xfrm>
            <a:off x="6260592" y="39564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 &amp; BARRIERS</a:t>
            </a:r>
            <a:endParaRPr lang="en-US" sz="1000" dirty="0"/>
          </a:p>
        </p:txBody>
      </p:sp>
      <p:sp>
        <p:nvSpPr>
          <p:cNvPr id="71" name="Shape 12">
            <a:extLst>
              <a:ext uri="{FF2B5EF4-FFF2-40B4-BE49-F238E27FC236}">
                <a16:creationId xmlns:a16="http://schemas.microsoft.com/office/drawing/2014/main" id="{BAD3D696-26EA-067C-AEF2-8AC5D791B7D4}"/>
              </a:ext>
            </a:extLst>
          </p:cNvPr>
          <p:cNvSpPr/>
          <p:nvPr/>
        </p:nvSpPr>
        <p:spPr>
          <a:xfrm>
            <a:off x="6260592" y="432223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2" name="Shape 13">
            <a:extLst>
              <a:ext uri="{FF2B5EF4-FFF2-40B4-BE49-F238E27FC236}">
                <a16:creationId xmlns:a16="http://schemas.microsoft.com/office/drawing/2014/main" id="{912ABC4A-5958-8C5F-5763-8DC49C8870B1}"/>
              </a:ext>
            </a:extLst>
          </p:cNvPr>
          <p:cNvSpPr/>
          <p:nvPr/>
        </p:nvSpPr>
        <p:spPr>
          <a:xfrm>
            <a:off x="6260592" y="432223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3" name="Text 14">
            <a:extLst>
              <a:ext uri="{FF2B5EF4-FFF2-40B4-BE49-F238E27FC236}">
                <a16:creationId xmlns:a16="http://schemas.microsoft.com/office/drawing/2014/main" id="{67167CAE-1587-7172-87C4-0395748D2459}"/>
              </a:ext>
            </a:extLst>
          </p:cNvPr>
          <p:cNvSpPr/>
          <p:nvPr/>
        </p:nvSpPr>
        <p:spPr>
          <a:xfrm>
            <a:off x="6370320" y="439538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budget marketing è inferiore alla media del settore (&lt; 5% del fatturato).</a:t>
            </a:r>
            <a:endParaRPr lang="en-US" sz="850" dirty="0"/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9C2ED5B9-D0F9-71D5-89D0-04CC543C5FFB}"/>
              </a:ext>
            </a:extLst>
          </p:cNvPr>
          <p:cNvSpPr/>
          <p:nvPr/>
        </p:nvSpPr>
        <p:spPr>
          <a:xfrm>
            <a:off x="6260592" y="4921809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5" name="Shape 13">
            <a:extLst>
              <a:ext uri="{FF2B5EF4-FFF2-40B4-BE49-F238E27FC236}">
                <a16:creationId xmlns:a16="http://schemas.microsoft.com/office/drawing/2014/main" id="{491E45E3-5C15-3B21-F4BE-A022A7FF6DE8}"/>
              </a:ext>
            </a:extLst>
          </p:cNvPr>
          <p:cNvSpPr/>
          <p:nvPr/>
        </p:nvSpPr>
        <p:spPr>
          <a:xfrm>
            <a:off x="6260592" y="4921809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6" name="Text 14">
            <a:extLst>
              <a:ext uri="{FF2B5EF4-FFF2-40B4-BE49-F238E27FC236}">
                <a16:creationId xmlns:a16="http://schemas.microsoft.com/office/drawing/2014/main" id="{697DB175-5A89-D9E2-A100-6906F2F29548}"/>
              </a:ext>
            </a:extLst>
          </p:cNvPr>
          <p:cNvSpPr/>
          <p:nvPr/>
        </p:nvSpPr>
        <p:spPr>
          <a:xfrm>
            <a:off x="6370320" y="4994961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Manca una strategia organica sui canali video e social media.</a:t>
            </a:r>
            <a:endParaRPr lang="en-US" sz="850" dirty="0"/>
          </a:p>
        </p:txBody>
      </p:sp>
      <p:sp>
        <p:nvSpPr>
          <p:cNvPr id="77" name="Shape 12">
            <a:extLst>
              <a:ext uri="{FF2B5EF4-FFF2-40B4-BE49-F238E27FC236}">
                <a16:creationId xmlns:a16="http://schemas.microsoft.com/office/drawing/2014/main" id="{DBC35A61-533E-E685-59D6-BB95C38A1969}"/>
              </a:ext>
            </a:extLst>
          </p:cNvPr>
          <p:cNvSpPr/>
          <p:nvPr/>
        </p:nvSpPr>
        <p:spPr>
          <a:xfrm>
            <a:off x="6260592" y="5520932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8" name="Shape 13">
            <a:extLst>
              <a:ext uri="{FF2B5EF4-FFF2-40B4-BE49-F238E27FC236}">
                <a16:creationId xmlns:a16="http://schemas.microsoft.com/office/drawing/2014/main" id="{B2CE2D17-A6FD-1799-A7B5-18C5E69E12C4}"/>
              </a:ext>
            </a:extLst>
          </p:cNvPr>
          <p:cNvSpPr/>
          <p:nvPr/>
        </p:nvSpPr>
        <p:spPr>
          <a:xfrm>
            <a:off x="6260592" y="5520932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9" name="Text 14">
            <a:extLst>
              <a:ext uri="{FF2B5EF4-FFF2-40B4-BE49-F238E27FC236}">
                <a16:creationId xmlns:a16="http://schemas.microsoft.com/office/drawing/2014/main" id="{90A93BFA-BF2D-820C-A115-75A981B7EB2C}"/>
              </a:ext>
            </a:extLst>
          </p:cNvPr>
          <p:cNvSpPr/>
          <p:nvPr/>
        </p:nvSpPr>
        <p:spPr>
          <a:xfrm>
            <a:off x="6370320" y="5594084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campagne outbound hanno tassi di conversione in calo.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76230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286ED-E87E-355D-263C-137C3F840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10C768-5307-8B00-8A46-4D7A300E4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6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19C229-A804-0220-5876-83DD75AA2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29 Aprile 2026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040395-1A6C-65DA-6AAC-36F72353C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PRODUCT DEEP DIVE</a:t>
            </a: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DC8A0510-9A03-A533-2FB7-6BDFFB1A55F5}"/>
              </a:ext>
            </a:extLst>
          </p:cNvPr>
          <p:cNvSpPr/>
          <p:nvPr/>
        </p:nvSpPr>
        <p:spPr>
          <a:xfrm>
            <a:off x="419100" y="1376362"/>
            <a:ext cx="5349240" cy="4763497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9F9C29FB-41ED-F172-B1B6-8DE623533AE0}"/>
              </a:ext>
            </a:extLst>
          </p:cNvPr>
          <p:cNvSpPr/>
          <p:nvPr/>
        </p:nvSpPr>
        <p:spPr>
          <a:xfrm>
            <a:off x="419100" y="1376363"/>
            <a:ext cx="54864" cy="4763496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8F5CF5A4-4AFB-A1AE-553E-AC60041FDA42}"/>
              </a:ext>
            </a:extLst>
          </p:cNvPr>
          <p:cNvSpPr/>
          <p:nvPr/>
        </p:nvSpPr>
        <p:spPr>
          <a:xfrm>
            <a:off x="5836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258C99F3-1A3E-2362-8909-D8DEB1940149}"/>
              </a:ext>
            </a:extLst>
          </p:cNvPr>
          <p:cNvSpPr/>
          <p:nvPr/>
        </p:nvSpPr>
        <p:spPr>
          <a:xfrm>
            <a:off x="6096000" y="1376363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C9F4DE8F-BFE9-8B27-6DD0-38DA8262F50D}"/>
              </a:ext>
            </a:extLst>
          </p:cNvPr>
          <p:cNvSpPr/>
          <p:nvPr/>
        </p:nvSpPr>
        <p:spPr>
          <a:xfrm>
            <a:off x="6096000" y="1376364"/>
            <a:ext cx="54864" cy="229311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B593F20B-6CBE-1DAC-5370-0861A5EDE8AE}"/>
              </a:ext>
            </a:extLst>
          </p:cNvPr>
          <p:cNvSpPr/>
          <p:nvPr/>
        </p:nvSpPr>
        <p:spPr>
          <a:xfrm>
            <a:off x="62605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STRENGHTS &amp; OPPORTUNITIES</a:t>
            </a:r>
            <a:endParaRPr lang="en-US" sz="1000" dirty="0"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478F808C-896A-C930-1A65-C94D856A92D3}"/>
              </a:ext>
            </a:extLst>
          </p:cNvPr>
          <p:cNvSpPr/>
          <p:nvPr/>
        </p:nvSpPr>
        <p:spPr>
          <a:xfrm>
            <a:off x="6260592" y="185185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C416C914-1D49-654F-3190-DB513A8E65CA}"/>
              </a:ext>
            </a:extLst>
          </p:cNvPr>
          <p:cNvSpPr/>
          <p:nvPr/>
        </p:nvSpPr>
        <p:spPr>
          <a:xfrm>
            <a:off x="6260592" y="185185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21233F16-86B1-4AAE-844C-F892C110C8BD}"/>
              </a:ext>
            </a:extLst>
          </p:cNvPr>
          <p:cNvSpPr/>
          <p:nvPr/>
        </p:nvSpPr>
        <p:spPr>
          <a:xfrm>
            <a:off x="6370320" y="192500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roadmap di prodotto è definita su 18 mesi con priorità chiare.</a:t>
            </a:r>
            <a:endParaRPr lang="en-US" sz="850" dirty="0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FCF0547C-A93B-9865-A1DB-06E1A27DECBB}"/>
              </a:ext>
            </a:extLst>
          </p:cNvPr>
          <p:cNvSpPr/>
          <p:nvPr/>
        </p:nvSpPr>
        <p:spPr>
          <a:xfrm>
            <a:off x="583692" y="1925003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CC6C1E75-8E2E-0CC0-572B-E346BBCD946F}"/>
              </a:ext>
            </a:extLst>
          </p:cNvPr>
          <p:cNvSpPr/>
          <p:nvPr/>
        </p:nvSpPr>
        <p:spPr>
          <a:xfrm>
            <a:off x="583692" y="1925003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E18D7C01-68BB-D3A2-CA54-740AB7AB2CE9}"/>
              </a:ext>
            </a:extLst>
          </p:cNvPr>
          <p:cNvSpPr/>
          <p:nvPr/>
        </p:nvSpPr>
        <p:spPr>
          <a:xfrm>
            <a:off x="693420" y="1998155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processo di sviluppo agile è maturo e ben adottato.</a:t>
            </a:r>
            <a:endParaRPr lang="en-US" sz="850" dirty="0"/>
          </a:p>
        </p:txBody>
      </p:sp>
      <p:sp>
        <p:nvSpPr>
          <p:cNvPr id="47" name="Shape 12">
            <a:extLst>
              <a:ext uri="{FF2B5EF4-FFF2-40B4-BE49-F238E27FC236}">
                <a16:creationId xmlns:a16="http://schemas.microsoft.com/office/drawing/2014/main" id="{E47A982F-882A-181A-D49A-5B734A51E5E9}"/>
              </a:ext>
            </a:extLst>
          </p:cNvPr>
          <p:cNvSpPr/>
          <p:nvPr/>
        </p:nvSpPr>
        <p:spPr>
          <a:xfrm>
            <a:off x="583692" y="2551045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BE4D6AA0-8333-9FB1-D96C-CF5646615B1F}"/>
              </a:ext>
            </a:extLst>
          </p:cNvPr>
          <p:cNvSpPr/>
          <p:nvPr/>
        </p:nvSpPr>
        <p:spPr>
          <a:xfrm>
            <a:off x="583692" y="2551045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FA7AD7D7-E53D-3350-6C83-40A198528AA9}"/>
              </a:ext>
            </a:extLst>
          </p:cNvPr>
          <p:cNvSpPr/>
          <p:nvPr/>
        </p:nvSpPr>
        <p:spPr>
          <a:xfrm>
            <a:off x="693420" y="2624197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qualità del prodotto è certificata ISO 9001.</a:t>
            </a:r>
            <a:endParaRPr lang="en-US" sz="850" dirty="0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4B11BB81-23CF-0E04-4EDD-1CAA4B406F91}"/>
              </a:ext>
            </a:extLst>
          </p:cNvPr>
          <p:cNvSpPr/>
          <p:nvPr/>
        </p:nvSpPr>
        <p:spPr>
          <a:xfrm>
            <a:off x="583692" y="325306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1" name="Shape 13">
            <a:extLst>
              <a:ext uri="{FF2B5EF4-FFF2-40B4-BE49-F238E27FC236}">
                <a16:creationId xmlns:a16="http://schemas.microsoft.com/office/drawing/2014/main" id="{22A9E086-A3F4-8908-90F8-C8E91E513591}"/>
              </a:ext>
            </a:extLst>
          </p:cNvPr>
          <p:cNvSpPr/>
          <p:nvPr/>
        </p:nvSpPr>
        <p:spPr>
          <a:xfrm>
            <a:off x="583692" y="325306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A7B4320B-E7E1-F1D9-4261-47F752A5D1F1}"/>
              </a:ext>
            </a:extLst>
          </p:cNvPr>
          <p:cNvSpPr/>
          <p:nvPr/>
        </p:nvSpPr>
        <p:spPr>
          <a:xfrm>
            <a:off x="693420" y="332621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feedback dei clienti è sistematicamente raccolto e analizzato.</a:t>
            </a:r>
            <a:endParaRPr lang="en-US" sz="850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C07A8BCB-9C9A-7E82-ECEE-CC9DC9F09C0A}"/>
              </a:ext>
            </a:extLst>
          </p:cNvPr>
          <p:cNvSpPr/>
          <p:nvPr/>
        </p:nvSpPr>
        <p:spPr>
          <a:xfrm>
            <a:off x="583692" y="3902290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EDCA83EE-D585-8569-D0E6-077196C05FC5}"/>
              </a:ext>
            </a:extLst>
          </p:cNvPr>
          <p:cNvSpPr/>
          <p:nvPr/>
        </p:nvSpPr>
        <p:spPr>
          <a:xfrm>
            <a:off x="583692" y="3902290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98CB048B-AE60-BBAC-51BC-704DE4865F06}"/>
              </a:ext>
            </a:extLst>
          </p:cNvPr>
          <p:cNvSpPr/>
          <p:nvPr/>
        </p:nvSpPr>
        <p:spPr>
          <a:xfrm>
            <a:off x="693420" y="3975442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Esiste un team dedicato alla UX/UI con competenze solide.</a:t>
            </a:r>
            <a:endParaRPr lang="en-US" sz="850" dirty="0"/>
          </a:p>
        </p:txBody>
      </p:sp>
      <p:sp>
        <p:nvSpPr>
          <p:cNvPr id="56" name="Shape 12">
            <a:extLst>
              <a:ext uri="{FF2B5EF4-FFF2-40B4-BE49-F238E27FC236}">
                <a16:creationId xmlns:a16="http://schemas.microsoft.com/office/drawing/2014/main" id="{630A0070-5420-B8B4-8EB1-CCC837336043}"/>
              </a:ext>
            </a:extLst>
          </p:cNvPr>
          <p:cNvSpPr/>
          <p:nvPr/>
        </p:nvSpPr>
        <p:spPr>
          <a:xfrm>
            <a:off x="583692" y="455151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2B8F5A2B-0FED-963D-359C-F8A40B74C53A}"/>
              </a:ext>
            </a:extLst>
          </p:cNvPr>
          <p:cNvSpPr/>
          <p:nvPr/>
        </p:nvSpPr>
        <p:spPr>
          <a:xfrm>
            <a:off x="583692" y="455151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8" name="Text 14">
            <a:extLst>
              <a:ext uri="{FF2B5EF4-FFF2-40B4-BE49-F238E27FC236}">
                <a16:creationId xmlns:a16="http://schemas.microsoft.com/office/drawing/2014/main" id="{CFD87ACA-5567-85C4-4640-E4A068116CE2}"/>
              </a:ext>
            </a:extLst>
          </p:cNvPr>
          <p:cNvSpPr/>
          <p:nvPr/>
        </p:nvSpPr>
        <p:spPr>
          <a:xfrm>
            <a:off x="693420" y="462466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L'architettura tecnologica è moderna e scalabile (cloud-native).</a:t>
            </a:r>
            <a:endParaRPr lang="en-US" sz="850" dirty="0"/>
          </a:p>
        </p:txBody>
      </p:sp>
      <p:sp>
        <p:nvSpPr>
          <p:cNvPr id="59" name="Shape 12">
            <a:extLst>
              <a:ext uri="{FF2B5EF4-FFF2-40B4-BE49-F238E27FC236}">
                <a16:creationId xmlns:a16="http://schemas.microsoft.com/office/drawing/2014/main" id="{09C095A1-47D2-1E6C-DCBD-E6300145B9D3}"/>
              </a:ext>
            </a:extLst>
          </p:cNvPr>
          <p:cNvSpPr/>
          <p:nvPr/>
        </p:nvSpPr>
        <p:spPr>
          <a:xfrm>
            <a:off x="583692" y="520147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0" name="Shape 13">
            <a:extLst>
              <a:ext uri="{FF2B5EF4-FFF2-40B4-BE49-F238E27FC236}">
                <a16:creationId xmlns:a16="http://schemas.microsoft.com/office/drawing/2014/main" id="{278B7E81-044D-9C77-7BE1-8708E43E382E}"/>
              </a:ext>
            </a:extLst>
          </p:cNvPr>
          <p:cNvSpPr/>
          <p:nvPr/>
        </p:nvSpPr>
        <p:spPr>
          <a:xfrm>
            <a:off x="583692" y="520147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45C99B7A-C9EE-9723-85E9-0DA91927633E}"/>
              </a:ext>
            </a:extLst>
          </p:cNvPr>
          <p:cNvSpPr/>
          <p:nvPr/>
        </p:nvSpPr>
        <p:spPr>
          <a:xfrm>
            <a:off x="693420" y="527462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sicurezza del prodotto è presidiata con vulnerability assessment periodici.</a:t>
            </a:r>
            <a:endParaRPr lang="en-US" sz="850" dirty="0"/>
          </a:p>
        </p:txBody>
      </p:sp>
      <p:sp>
        <p:nvSpPr>
          <p:cNvPr id="62" name="Shape 12">
            <a:extLst>
              <a:ext uri="{FF2B5EF4-FFF2-40B4-BE49-F238E27FC236}">
                <a16:creationId xmlns:a16="http://schemas.microsoft.com/office/drawing/2014/main" id="{0FA8D6EE-EC0B-696B-FEDC-DD0F8CA2BC8D}"/>
              </a:ext>
            </a:extLst>
          </p:cNvPr>
          <p:cNvSpPr/>
          <p:nvPr/>
        </p:nvSpPr>
        <p:spPr>
          <a:xfrm>
            <a:off x="6260592" y="245142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3" name="Shape 13">
            <a:extLst>
              <a:ext uri="{FF2B5EF4-FFF2-40B4-BE49-F238E27FC236}">
                <a16:creationId xmlns:a16="http://schemas.microsoft.com/office/drawing/2014/main" id="{493E3E9C-E309-2DD3-3DD9-8B4372AF33A9}"/>
              </a:ext>
            </a:extLst>
          </p:cNvPr>
          <p:cNvSpPr/>
          <p:nvPr/>
        </p:nvSpPr>
        <p:spPr>
          <a:xfrm>
            <a:off x="6260592" y="245142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4" name="Text 14">
            <a:extLst>
              <a:ext uri="{FF2B5EF4-FFF2-40B4-BE49-F238E27FC236}">
                <a16:creationId xmlns:a16="http://schemas.microsoft.com/office/drawing/2014/main" id="{993759AC-039E-3655-F110-55E5694FD2D4}"/>
              </a:ext>
            </a:extLst>
          </p:cNvPr>
          <p:cNvSpPr/>
          <p:nvPr/>
        </p:nvSpPr>
        <p:spPr>
          <a:xfrm>
            <a:off x="6370320" y="252457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integrazioni con sistemi terzi sono documentate e stabili.</a:t>
            </a:r>
            <a:endParaRPr lang="en-US" sz="850" dirty="0"/>
          </a:p>
        </p:txBody>
      </p:sp>
      <p:sp>
        <p:nvSpPr>
          <p:cNvPr id="65" name="Shape 12">
            <a:extLst>
              <a:ext uri="{FF2B5EF4-FFF2-40B4-BE49-F238E27FC236}">
                <a16:creationId xmlns:a16="http://schemas.microsoft.com/office/drawing/2014/main" id="{1CF165AF-12BE-2531-D91D-685886FF6DBC}"/>
              </a:ext>
            </a:extLst>
          </p:cNvPr>
          <p:cNvSpPr/>
          <p:nvPr/>
        </p:nvSpPr>
        <p:spPr>
          <a:xfrm>
            <a:off x="6260592" y="3050547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6" name="Shape 13">
            <a:extLst>
              <a:ext uri="{FF2B5EF4-FFF2-40B4-BE49-F238E27FC236}">
                <a16:creationId xmlns:a16="http://schemas.microsoft.com/office/drawing/2014/main" id="{66654EFD-8540-7EAA-1DDE-D95A82B33A45}"/>
              </a:ext>
            </a:extLst>
          </p:cNvPr>
          <p:cNvSpPr/>
          <p:nvPr/>
        </p:nvSpPr>
        <p:spPr>
          <a:xfrm>
            <a:off x="6260592" y="3050547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7" name="Text 14">
            <a:extLst>
              <a:ext uri="{FF2B5EF4-FFF2-40B4-BE49-F238E27FC236}">
                <a16:creationId xmlns:a16="http://schemas.microsoft.com/office/drawing/2014/main" id="{DA576AF9-21B2-CD57-FC71-FEB6F51D204A}"/>
              </a:ext>
            </a:extLst>
          </p:cNvPr>
          <p:cNvSpPr/>
          <p:nvPr/>
        </p:nvSpPr>
        <p:spPr>
          <a:xfrm>
            <a:off x="6370320" y="3123699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time-to-market per nuove feature è in miglioramento costante.</a:t>
            </a:r>
            <a:endParaRPr lang="en-US" sz="850" dirty="0"/>
          </a:p>
        </p:txBody>
      </p:sp>
      <p:sp>
        <p:nvSpPr>
          <p:cNvPr id="68" name="Shape 8">
            <a:extLst>
              <a:ext uri="{FF2B5EF4-FFF2-40B4-BE49-F238E27FC236}">
                <a16:creationId xmlns:a16="http://schemas.microsoft.com/office/drawing/2014/main" id="{FFA38BC2-DC63-35EF-3F79-B4C4327AAB56}"/>
              </a:ext>
            </a:extLst>
          </p:cNvPr>
          <p:cNvSpPr/>
          <p:nvPr/>
        </p:nvSpPr>
        <p:spPr>
          <a:xfrm>
            <a:off x="6096000" y="3846748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9" name="Shape 9">
            <a:extLst>
              <a:ext uri="{FF2B5EF4-FFF2-40B4-BE49-F238E27FC236}">
                <a16:creationId xmlns:a16="http://schemas.microsoft.com/office/drawing/2014/main" id="{0BD7E961-1FAE-801D-D5D7-34460F53CDB6}"/>
              </a:ext>
            </a:extLst>
          </p:cNvPr>
          <p:cNvSpPr/>
          <p:nvPr/>
        </p:nvSpPr>
        <p:spPr>
          <a:xfrm>
            <a:off x="6096000" y="3846749"/>
            <a:ext cx="54864" cy="2293110"/>
          </a:xfrm>
          <a:prstGeom prst="rect">
            <a:avLst/>
          </a:prstGeom>
          <a:solidFill>
            <a:srgbClr val="FF000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0" name="Text 10">
            <a:extLst>
              <a:ext uri="{FF2B5EF4-FFF2-40B4-BE49-F238E27FC236}">
                <a16:creationId xmlns:a16="http://schemas.microsoft.com/office/drawing/2014/main" id="{8EC688A1-4339-4CDE-9E9B-F7595D6C2E01}"/>
              </a:ext>
            </a:extLst>
          </p:cNvPr>
          <p:cNvSpPr/>
          <p:nvPr/>
        </p:nvSpPr>
        <p:spPr>
          <a:xfrm>
            <a:off x="6260592" y="39564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 &amp; BARRIERS</a:t>
            </a:r>
            <a:endParaRPr lang="en-US" sz="1000" dirty="0"/>
          </a:p>
        </p:txBody>
      </p:sp>
      <p:sp>
        <p:nvSpPr>
          <p:cNvPr id="71" name="Shape 12">
            <a:extLst>
              <a:ext uri="{FF2B5EF4-FFF2-40B4-BE49-F238E27FC236}">
                <a16:creationId xmlns:a16="http://schemas.microsoft.com/office/drawing/2014/main" id="{581503CF-92A0-6B50-4D4F-21CE5336C4F3}"/>
              </a:ext>
            </a:extLst>
          </p:cNvPr>
          <p:cNvSpPr/>
          <p:nvPr/>
        </p:nvSpPr>
        <p:spPr>
          <a:xfrm>
            <a:off x="6260592" y="432223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2" name="Shape 13">
            <a:extLst>
              <a:ext uri="{FF2B5EF4-FFF2-40B4-BE49-F238E27FC236}">
                <a16:creationId xmlns:a16="http://schemas.microsoft.com/office/drawing/2014/main" id="{AE18A393-B515-D20C-1DC7-B949B5D47CE5}"/>
              </a:ext>
            </a:extLst>
          </p:cNvPr>
          <p:cNvSpPr/>
          <p:nvPr/>
        </p:nvSpPr>
        <p:spPr>
          <a:xfrm>
            <a:off x="6260592" y="432223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3" name="Text 14">
            <a:extLst>
              <a:ext uri="{FF2B5EF4-FFF2-40B4-BE49-F238E27FC236}">
                <a16:creationId xmlns:a16="http://schemas.microsoft.com/office/drawing/2014/main" id="{6C4C71B5-C23A-9D3B-55F4-05179312D9C4}"/>
              </a:ext>
            </a:extLst>
          </p:cNvPr>
          <p:cNvSpPr/>
          <p:nvPr/>
        </p:nvSpPr>
        <p:spPr>
          <a:xfrm>
            <a:off x="6370320" y="439538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debito tecnico accumulato rallenta lo sviluppo di nuove funzionalità.</a:t>
            </a:r>
            <a:endParaRPr lang="en-US" sz="850" dirty="0"/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1FF4A658-12A6-B81D-AA36-62460B113328}"/>
              </a:ext>
            </a:extLst>
          </p:cNvPr>
          <p:cNvSpPr/>
          <p:nvPr/>
        </p:nvSpPr>
        <p:spPr>
          <a:xfrm>
            <a:off x="6260592" y="4921809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5" name="Shape 13">
            <a:extLst>
              <a:ext uri="{FF2B5EF4-FFF2-40B4-BE49-F238E27FC236}">
                <a16:creationId xmlns:a16="http://schemas.microsoft.com/office/drawing/2014/main" id="{660DD73C-4558-6724-083E-753773234384}"/>
              </a:ext>
            </a:extLst>
          </p:cNvPr>
          <p:cNvSpPr/>
          <p:nvPr/>
        </p:nvSpPr>
        <p:spPr>
          <a:xfrm>
            <a:off x="6260592" y="4921809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6" name="Text 14">
            <a:extLst>
              <a:ext uri="{FF2B5EF4-FFF2-40B4-BE49-F238E27FC236}">
                <a16:creationId xmlns:a16="http://schemas.microsoft.com/office/drawing/2014/main" id="{283F27B4-8222-C689-5E75-0D0CF169F8AA}"/>
              </a:ext>
            </a:extLst>
          </p:cNvPr>
          <p:cNvSpPr/>
          <p:nvPr/>
        </p:nvSpPr>
        <p:spPr>
          <a:xfrm>
            <a:off x="6370320" y="4994961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Manca una strategia chiara per l'adozione dell'AI nel prodotto.</a:t>
            </a:r>
            <a:endParaRPr lang="en-US" sz="850" dirty="0"/>
          </a:p>
        </p:txBody>
      </p:sp>
      <p:sp>
        <p:nvSpPr>
          <p:cNvPr id="77" name="Shape 12">
            <a:extLst>
              <a:ext uri="{FF2B5EF4-FFF2-40B4-BE49-F238E27FC236}">
                <a16:creationId xmlns:a16="http://schemas.microsoft.com/office/drawing/2014/main" id="{51C7F2B7-6657-4D3A-AA11-C610844FFF07}"/>
              </a:ext>
            </a:extLst>
          </p:cNvPr>
          <p:cNvSpPr/>
          <p:nvPr/>
        </p:nvSpPr>
        <p:spPr>
          <a:xfrm>
            <a:off x="6260592" y="5520932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8" name="Shape 13">
            <a:extLst>
              <a:ext uri="{FF2B5EF4-FFF2-40B4-BE49-F238E27FC236}">
                <a16:creationId xmlns:a16="http://schemas.microsoft.com/office/drawing/2014/main" id="{6D47AF94-A7C4-9B2C-4AD4-FFC8BDD7D529}"/>
              </a:ext>
            </a:extLst>
          </p:cNvPr>
          <p:cNvSpPr/>
          <p:nvPr/>
        </p:nvSpPr>
        <p:spPr>
          <a:xfrm>
            <a:off x="6260592" y="5520932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9" name="Text 14">
            <a:extLst>
              <a:ext uri="{FF2B5EF4-FFF2-40B4-BE49-F238E27FC236}">
                <a16:creationId xmlns:a16="http://schemas.microsoft.com/office/drawing/2014/main" id="{C3AA724D-8946-8775-70DE-7FDFD6C39F26}"/>
              </a:ext>
            </a:extLst>
          </p:cNvPr>
          <p:cNvSpPr/>
          <p:nvPr/>
        </p:nvSpPr>
        <p:spPr>
          <a:xfrm>
            <a:off x="6370320" y="5594084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documentazione tecnica non è sempre aggiornata.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05719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BFBED-90C6-515C-BE07-F20012F68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104979-3BDA-4FF5-9A0C-FFE843A3A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7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BC65CD-F756-CF33-88FA-353AFD065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29 Aprile 2026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5CBE5E-F0E0-0C12-EC37-5F85D2542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STRATEGY DEEP DIVE</a:t>
            </a: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F284D2C8-B6A0-DC76-3E9E-D4F91367DF45}"/>
              </a:ext>
            </a:extLst>
          </p:cNvPr>
          <p:cNvSpPr/>
          <p:nvPr/>
        </p:nvSpPr>
        <p:spPr>
          <a:xfrm>
            <a:off x="419100" y="1376362"/>
            <a:ext cx="5349240" cy="4763497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80292361-8107-EFC6-1BDB-35F46186ECB1}"/>
              </a:ext>
            </a:extLst>
          </p:cNvPr>
          <p:cNvSpPr/>
          <p:nvPr/>
        </p:nvSpPr>
        <p:spPr>
          <a:xfrm>
            <a:off x="419100" y="1376363"/>
            <a:ext cx="54864" cy="4763496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40328F10-2996-47C0-2C63-99CBEA34CD47}"/>
              </a:ext>
            </a:extLst>
          </p:cNvPr>
          <p:cNvSpPr/>
          <p:nvPr/>
        </p:nvSpPr>
        <p:spPr>
          <a:xfrm>
            <a:off x="5836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E85F6D43-1352-9514-D4E4-F43907F7D463}"/>
              </a:ext>
            </a:extLst>
          </p:cNvPr>
          <p:cNvSpPr/>
          <p:nvPr/>
        </p:nvSpPr>
        <p:spPr>
          <a:xfrm>
            <a:off x="6096000" y="1376363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D5B2BA7E-C980-3F66-893F-99FB45B40ED2}"/>
              </a:ext>
            </a:extLst>
          </p:cNvPr>
          <p:cNvSpPr/>
          <p:nvPr/>
        </p:nvSpPr>
        <p:spPr>
          <a:xfrm>
            <a:off x="6096000" y="1376364"/>
            <a:ext cx="54864" cy="229311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AC20DED4-2502-93E6-D661-7BAE3BF36C22}"/>
              </a:ext>
            </a:extLst>
          </p:cNvPr>
          <p:cNvSpPr/>
          <p:nvPr/>
        </p:nvSpPr>
        <p:spPr>
          <a:xfrm>
            <a:off x="62605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STRENGHTS &amp; OPPORTUNITIES</a:t>
            </a:r>
            <a:endParaRPr lang="en-US" sz="1000" dirty="0"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F2BE41E4-8D35-C4FD-B60B-4C2C079ABCE1}"/>
              </a:ext>
            </a:extLst>
          </p:cNvPr>
          <p:cNvSpPr/>
          <p:nvPr/>
        </p:nvSpPr>
        <p:spPr>
          <a:xfrm>
            <a:off x="6260592" y="185185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0967E0B1-EFEE-1043-A197-0E948BA2D6AB}"/>
              </a:ext>
            </a:extLst>
          </p:cNvPr>
          <p:cNvSpPr/>
          <p:nvPr/>
        </p:nvSpPr>
        <p:spPr>
          <a:xfrm>
            <a:off x="6260592" y="185185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50F8D814-2B9A-34EA-E0C3-96311A840710}"/>
              </a:ext>
            </a:extLst>
          </p:cNvPr>
          <p:cNvSpPr/>
          <p:nvPr/>
        </p:nvSpPr>
        <p:spPr>
          <a:xfrm>
            <a:off x="6370320" y="192500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visione strategica è chiaramente definita e condivisa dal top management.</a:t>
            </a:r>
            <a:endParaRPr lang="en-US" sz="850" dirty="0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4AAA8D7A-AE45-557D-97C0-BEA6C2EF4E7C}"/>
              </a:ext>
            </a:extLst>
          </p:cNvPr>
          <p:cNvSpPr/>
          <p:nvPr/>
        </p:nvSpPr>
        <p:spPr>
          <a:xfrm>
            <a:off x="583692" y="1925003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22A26E55-892B-F651-85ED-4DB0FF2E7525}"/>
              </a:ext>
            </a:extLst>
          </p:cNvPr>
          <p:cNvSpPr/>
          <p:nvPr/>
        </p:nvSpPr>
        <p:spPr>
          <a:xfrm>
            <a:off x="583692" y="1925003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599258D2-C705-67CC-C21E-89504FDF6836}"/>
              </a:ext>
            </a:extLst>
          </p:cNvPr>
          <p:cNvSpPr/>
          <p:nvPr/>
        </p:nvSpPr>
        <p:spPr>
          <a:xfrm>
            <a:off x="693420" y="1998155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Esiste un piano triennale aggiornato con obiettivi misurabili.</a:t>
            </a:r>
            <a:endParaRPr lang="en-US" sz="850" dirty="0"/>
          </a:p>
        </p:txBody>
      </p:sp>
      <p:sp>
        <p:nvSpPr>
          <p:cNvPr id="47" name="Shape 12">
            <a:extLst>
              <a:ext uri="{FF2B5EF4-FFF2-40B4-BE49-F238E27FC236}">
                <a16:creationId xmlns:a16="http://schemas.microsoft.com/office/drawing/2014/main" id="{B6FE5078-F093-DF5A-33F7-D2FBF057200D}"/>
              </a:ext>
            </a:extLst>
          </p:cNvPr>
          <p:cNvSpPr/>
          <p:nvPr/>
        </p:nvSpPr>
        <p:spPr>
          <a:xfrm>
            <a:off x="583692" y="2551045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DE9360CA-FEE0-1A09-E1D0-1E89BE23CF26}"/>
              </a:ext>
            </a:extLst>
          </p:cNvPr>
          <p:cNvSpPr/>
          <p:nvPr/>
        </p:nvSpPr>
        <p:spPr>
          <a:xfrm>
            <a:off x="583692" y="2551045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5D704599-DA20-D96A-E739-C0F3C6246301}"/>
              </a:ext>
            </a:extLst>
          </p:cNvPr>
          <p:cNvSpPr/>
          <p:nvPr/>
        </p:nvSpPr>
        <p:spPr>
          <a:xfrm>
            <a:off x="693420" y="2624197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budget R&amp;D è in crescita del 15% rispetto all'anno precedente.</a:t>
            </a:r>
            <a:endParaRPr lang="en-US" sz="850" dirty="0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22A532D8-E12E-427A-B76B-26E0EDEFB451}"/>
              </a:ext>
            </a:extLst>
          </p:cNvPr>
          <p:cNvSpPr/>
          <p:nvPr/>
        </p:nvSpPr>
        <p:spPr>
          <a:xfrm>
            <a:off x="583692" y="325306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1" name="Shape 13">
            <a:extLst>
              <a:ext uri="{FF2B5EF4-FFF2-40B4-BE49-F238E27FC236}">
                <a16:creationId xmlns:a16="http://schemas.microsoft.com/office/drawing/2014/main" id="{6D1E4DDB-22A6-7280-5B9B-C15ADEEC06B8}"/>
              </a:ext>
            </a:extLst>
          </p:cNvPr>
          <p:cNvSpPr/>
          <p:nvPr/>
        </p:nvSpPr>
        <p:spPr>
          <a:xfrm>
            <a:off x="583692" y="325306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8264857D-9200-EB12-55CC-EA5C7D32A0B8}"/>
              </a:ext>
            </a:extLst>
          </p:cNvPr>
          <p:cNvSpPr/>
          <p:nvPr/>
        </p:nvSpPr>
        <p:spPr>
          <a:xfrm>
            <a:off x="693420" y="332621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governance è strutturata con board attivo e comitati funzionanti.</a:t>
            </a:r>
            <a:endParaRPr lang="en-US" sz="850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4AA5AE84-A237-AA5E-C12B-B089FDE7B59F}"/>
              </a:ext>
            </a:extLst>
          </p:cNvPr>
          <p:cNvSpPr/>
          <p:nvPr/>
        </p:nvSpPr>
        <p:spPr>
          <a:xfrm>
            <a:off x="583692" y="3902290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5E5E6D1C-FEC2-92DE-364D-759C1F4B3BA1}"/>
              </a:ext>
            </a:extLst>
          </p:cNvPr>
          <p:cNvSpPr/>
          <p:nvPr/>
        </p:nvSpPr>
        <p:spPr>
          <a:xfrm>
            <a:off x="583692" y="3902290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9D547084-57C8-ABB0-E248-4C3D0CFFCD8E}"/>
              </a:ext>
            </a:extLst>
          </p:cNvPr>
          <p:cNvSpPr/>
          <p:nvPr/>
        </p:nvSpPr>
        <p:spPr>
          <a:xfrm>
            <a:off x="693420" y="3975442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iniziative di trasformazione digitale sono presidiate da un CDO dedicato.</a:t>
            </a:r>
            <a:endParaRPr lang="en-US" sz="850" dirty="0"/>
          </a:p>
        </p:txBody>
      </p:sp>
      <p:sp>
        <p:nvSpPr>
          <p:cNvPr id="56" name="Shape 12">
            <a:extLst>
              <a:ext uri="{FF2B5EF4-FFF2-40B4-BE49-F238E27FC236}">
                <a16:creationId xmlns:a16="http://schemas.microsoft.com/office/drawing/2014/main" id="{BFF68676-7153-8B7A-914B-80B9CC87090C}"/>
              </a:ext>
            </a:extLst>
          </p:cNvPr>
          <p:cNvSpPr/>
          <p:nvPr/>
        </p:nvSpPr>
        <p:spPr>
          <a:xfrm>
            <a:off x="583692" y="455151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3CD6B694-A1EF-4AA1-080F-F768ACF329DC}"/>
              </a:ext>
            </a:extLst>
          </p:cNvPr>
          <p:cNvSpPr/>
          <p:nvPr/>
        </p:nvSpPr>
        <p:spPr>
          <a:xfrm>
            <a:off x="583692" y="455151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8" name="Text 14">
            <a:extLst>
              <a:ext uri="{FF2B5EF4-FFF2-40B4-BE49-F238E27FC236}">
                <a16:creationId xmlns:a16="http://schemas.microsoft.com/office/drawing/2014/main" id="{3D7D4735-DA43-8EC8-6645-680EDAD5DD2F}"/>
              </a:ext>
            </a:extLst>
          </p:cNvPr>
          <p:cNvSpPr/>
          <p:nvPr/>
        </p:nvSpPr>
        <p:spPr>
          <a:xfrm>
            <a:off x="693420" y="462466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processo di pianificazione coinvolge tutte le business unit.</a:t>
            </a:r>
            <a:endParaRPr lang="en-US" sz="850" dirty="0"/>
          </a:p>
        </p:txBody>
      </p:sp>
      <p:sp>
        <p:nvSpPr>
          <p:cNvPr id="59" name="Shape 12">
            <a:extLst>
              <a:ext uri="{FF2B5EF4-FFF2-40B4-BE49-F238E27FC236}">
                <a16:creationId xmlns:a16="http://schemas.microsoft.com/office/drawing/2014/main" id="{16FB4468-0439-C6DD-E4C6-0E62A52406AE}"/>
              </a:ext>
            </a:extLst>
          </p:cNvPr>
          <p:cNvSpPr/>
          <p:nvPr/>
        </p:nvSpPr>
        <p:spPr>
          <a:xfrm>
            <a:off x="583692" y="520147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0" name="Shape 13">
            <a:extLst>
              <a:ext uri="{FF2B5EF4-FFF2-40B4-BE49-F238E27FC236}">
                <a16:creationId xmlns:a16="http://schemas.microsoft.com/office/drawing/2014/main" id="{D1C4AC84-4330-2FCF-9CED-7D045C76AC13}"/>
              </a:ext>
            </a:extLst>
          </p:cNvPr>
          <p:cNvSpPr/>
          <p:nvPr/>
        </p:nvSpPr>
        <p:spPr>
          <a:xfrm>
            <a:off x="583692" y="520147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EEFF830E-491E-42DC-7203-B507752F7680}"/>
              </a:ext>
            </a:extLst>
          </p:cNvPr>
          <p:cNvSpPr/>
          <p:nvPr/>
        </p:nvSpPr>
        <p:spPr>
          <a:xfrm>
            <a:off x="693420" y="527462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presenti KPI strategici monitorati trimestralmente.</a:t>
            </a:r>
            <a:endParaRPr lang="en-US" sz="850" dirty="0"/>
          </a:p>
        </p:txBody>
      </p:sp>
      <p:sp>
        <p:nvSpPr>
          <p:cNvPr id="62" name="Shape 12">
            <a:extLst>
              <a:ext uri="{FF2B5EF4-FFF2-40B4-BE49-F238E27FC236}">
                <a16:creationId xmlns:a16="http://schemas.microsoft.com/office/drawing/2014/main" id="{FDF71A35-7EEC-D056-5C75-E0EB2BBDB309}"/>
              </a:ext>
            </a:extLst>
          </p:cNvPr>
          <p:cNvSpPr/>
          <p:nvPr/>
        </p:nvSpPr>
        <p:spPr>
          <a:xfrm>
            <a:off x="6260592" y="245142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3" name="Shape 13">
            <a:extLst>
              <a:ext uri="{FF2B5EF4-FFF2-40B4-BE49-F238E27FC236}">
                <a16:creationId xmlns:a16="http://schemas.microsoft.com/office/drawing/2014/main" id="{7A3B1CDB-C193-4498-7A0E-4945FDC80AB4}"/>
              </a:ext>
            </a:extLst>
          </p:cNvPr>
          <p:cNvSpPr/>
          <p:nvPr/>
        </p:nvSpPr>
        <p:spPr>
          <a:xfrm>
            <a:off x="6260592" y="245142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4" name="Text 14">
            <a:extLst>
              <a:ext uri="{FF2B5EF4-FFF2-40B4-BE49-F238E27FC236}">
                <a16:creationId xmlns:a16="http://schemas.microsoft.com/office/drawing/2014/main" id="{34BC4673-1F2A-7805-35FA-1316A542F0B9}"/>
              </a:ext>
            </a:extLst>
          </p:cNvPr>
          <p:cNvSpPr/>
          <p:nvPr/>
        </p:nvSpPr>
        <p:spPr>
          <a:xfrm>
            <a:off x="6370320" y="252457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cultura aziendale supporta l'innovazione e il cambiamento.</a:t>
            </a:r>
            <a:endParaRPr lang="en-US" sz="850" dirty="0"/>
          </a:p>
        </p:txBody>
      </p:sp>
      <p:sp>
        <p:nvSpPr>
          <p:cNvPr id="65" name="Shape 12">
            <a:extLst>
              <a:ext uri="{FF2B5EF4-FFF2-40B4-BE49-F238E27FC236}">
                <a16:creationId xmlns:a16="http://schemas.microsoft.com/office/drawing/2014/main" id="{578B13E0-C5B6-8214-2EC5-FB18AAE980A9}"/>
              </a:ext>
            </a:extLst>
          </p:cNvPr>
          <p:cNvSpPr/>
          <p:nvPr/>
        </p:nvSpPr>
        <p:spPr>
          <a:xfrm>
            <a:off x="6260592" y="3050547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6" name="Shape 13">
            <a:extLst>
              <a:ext uri="{FF2B5EF4-FFF2-40B4-BE49-F238E27FC236}">
                <a16:creationId xmlns:a16="http://schemas.microsoft.com/office/drawing/2014/main" id="{62557465-D906-B865-254D-06652B08E87E}"/>
              </a:ext>
            </a:extLst>
          </p:cNvPr>
          <p:cNvSpPr/>
          <p:nvPr/>
        </p:nvSpPr>
        <p:spPr>
          <a:xfrm>
            <a:off x="6260592" y="3050547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7" name="Text 14">
            <a:extLst>
              <a:ext uri="{FF2B5EF4-FFF2-40B4-BE49-F238E27FC236}">
                <a16:creationId xmlns:a16="http://schemas.microsoft.com/office/drawing/2014/main" id="{AFFFC7E2-E224-BA54-A488-DBEE3F0BEF83}"/>
              </a:ext>
            </a:extLst>
          </p:cNvPr>
          <p:cNvSpPr/>
          <p:nvPr/>
        </p:nvSpPr>
        <p:spPr>
          <a:xfrm>
            <a:off x="6370320" y="3123699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Esistono programmi strutturati di sviluppo del talento interno.</a:t>
            </a:r>
            <a:endParaRPr lang="en-US" sz="850" dirty="0"/>
          </a:p>
        </p:txBody>
      </p:sp>
      <p:sp>
        <p:nvSpPr>
          <p:cNvPr id="68" name="Shape 8">
            <a:extLst>
              <a:ext uri="{FF2B5EF4-FFF2-40B4-BE49-F238E27FC236}">
                <a16:creationId xmlns:a16="http://schemas.microsoft.com/office/drawing/2014/main" id="{E1748FCC-69FA-4325-38D4-134557B71DC7}"/>
              </a:ext>
            </a:extLst>
          </p:cNvPr>
          <p:cNvSpPr/>
          <p:nvPr/>
        </p:nvSpPr>
        <p:spPr>
          <a:xfrm>
            <a:off x="6096000" y="3846748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9" name="Shape 9">
            <a:extLst>
              <a:ext uri="{FF2B5EF4-FFF2-40B4-BE49-F238E27FC236}">
                <a16:creationId xmlns:a16="http://schemas.microsoft.com/office/drawing/2014/main" id="{C8FD4D22-A091-85E7-A243-1DF83A93F7AB}"/>
              </a:ext>
            </a:extLst>
          </p:cNvPr>
          <p:cNvSpPr/>
          <p:nvPr/>
        </p:nvSpPr>
        <p:spPr>
          <a:xfrm>
            <a:off x="6096000" y="3846749"/>
            <a:ext cx="54864" cy="2293110"/>
          </a:xfrm>
          <a:prstGeom prst="rect">
            <a:avLst/>
          </a:prstGeom>
          <a:solidFill>
            <a:srgbClr val="FF000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0" name="Text 10">
            <a:extLst>
              <a:ext uri="{FF2B5EF4-FFF2-40B4-BE49-F238E27FC236}">
                <a16:creationId xmlns:a16="http://schemas.microsoft.com/office/drawing/2014/main" id="{509E70F8-DE92-E79E-DD68-3BDB6F1864D9}"/>
              </a:ext>
            </a:extLst>
          </p:cNvPr>
          <p:cNvSpPr/>
          <p:nvPr/>
        </p:nvSpPr>
        <p:spPr>
          <a:xfrm>
            <a:off x="6260592" y="39564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 &amp; BARRIERS</a:t>
            </a:r>
            <a:endParaRPr lang="en-US" sz="1000" dirty="0"/>
          </a:p>
        </p:txBody>
      </p:sp>
      <p:sp>
        <p:nvSpPr>
          <p:cNvPr id="71" name="Shape 12">
            <a:extLst>
              <a:ext uri="{FF2B5EF4-FFF2-40B4-BE49-F238E27FC236}">
                <a16:creationId xmlns:a16="http://schemas.microsoft.com/office/drawing/2014/main" id="{223BA93C-5A8A-D1B5-6207-57E3B782525A}"/>
              </a:ext>
            </a:extLst>
          </p:cNvPr>
          <p:cNvSpPr/>
          <p:nvPr/>
        </p:nvSpPr>
        <p:spPr>
          <a:xfrm>
            <a:off x="6260592" y="432223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2" name="Shape 13">
            <a:extLst>
              <a:ext uri="{FF2B5EF4-FFF2-40B4-BE49-F238E27FC236}">
                <a16:creationId xmlns:a16="http://schemas.microsoft.com/office/drawing/2014/main" id="{32A4C89B-B44C-6893-2970-BC4AB121CA6F}"/>
              </a:ext>
            </a:extLst>
          </p:cNvPr>
          <p:cNvSpPr/>
          <p:nvPr/>
        </p:nvSpPr>
        <p:spPr>
          <a:xfrm>
            <a:off x="6260592" y="432223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3" name="Text 14">
            <a:extLst>
              <a:ext uri="{FF2B5EF4-FFF2-40B4-BE49-F238E27FC236}">
                <a16:creationId xmlns:a16="http://schemas.microsoft.com/office/drawing/2014/main" id="{698C32C8-4E7A-6ADF-9549-90AE8BE86301}"/>
              </a:ext>
            </a:extLst>
          </p:cNvPr>
          <p:cNvSpPr/>
          <p:nvPr/>
        </p:nvSpPr>
        <p:spPr>
          <a:xfrm>
            <a:off x="6370320" y="439538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strategia di internazionalizzazione non è ancora operativa.</a:t>
            </a:r>
            <a:endParaRPr lang="en-US" sz="850" dirty="0"/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72034730-7C8B-0AA5-9A48-79B9243B7E5B}"/>
              </a:ext>
            </a:extLst>
          </p:cNvPr>
          <p:cNvSpPr/>
          <p:nvPr/>
        </p:nvSpPr>
        <p:spPr>
          <a:xfrm>
            <a:off x="6260592" y="4921809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5" name="Shape 13">
            <a:extLst>
              <a:ext uri="{FF2B5EF4-FFF2-40B4-BE49-F238E27FC236}">
                <a16:creationId xmlns:a16="http://schemas.microsoft.com/office/drawing/2014/main" id="{65517985-2B19-AE56-DE72-AB209DD176EA}"/>
              </a:ext>
            </a:extLst>
          </p:cNvPr>
          <p:cNvSpPr/>
          <p:nvPr/>
        </p:nvSpPr>
        <p:spPr>
          <a:xfrm>
            <a:off x="6260592" y="4921809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6" name="Text 14">
            <a:extLst>
              <a:ext uri="{FF2B5EF4-FFF2-40B4-BE49-F238E27FC236}">
                <a16:creationId xmlns:a16="http://schemas.microsoft.com/office/drawing/2014/main" id="{D78DBCC3-FA1A-2E1C-7F4C-CFA31F126623}"/>
              </a:ext>
            </a:extLst>
          </p:cNvPr>
          <p:cNvSpPr/>
          <p:nvPr/>
        </p:nvSpPr>
        <p:spPr>
          <a:xfrm>
            <a:off x="6370320" y="4994961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Mancano strumenti di scenario planning a medio-lungo termine.</a:t>
            </a:r>
            <a:endParaRPr lang="en-US" sz="850" dirty="0"/>
          </a:p>
        </p:txBody>
      </p:sp>
      <p:sp>
        <p:nvSpPr>
          <p:cNvPr id="77" name="Shape 12">
            <a:extLst>
              <a:ext uri="{FF2B5EF4-FFF2-40B4-BE49-F238E27FC236}">
                <a16:creationId xmlns:a16="http://schemas.microsoft.com/office/drawing/2014/main" id="{7F8F3682-D6D4-491C-CC75-5613D9818422}"/>
              </a:ext>
            </a:extLst>
          </p:cNvPr>
          <p:cNvSpPr/>
          <p:nvPr/>
        </p:nvSpPr>
        <p:spPr>
          <a:xfrm>
            <a:off x="6260592" y="5520932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8" name="Shape 13">
            <a:extLst>
              <a:ext uri="{FF2B5EF4-FFF2-40B4-BE49-F238E27FC236}">
                <a16:creationId xmlns:a16="http://schemas.microsoft.com/office/drawing/2014/main" id="{923B80D1-AC62-9CAB-F158-4945A90AC69A}"/>
              </a:ext>
            </a:extLst>
          </p:cNvPr>
          <p:cNvSpPr/>
          <p:nvPr/>
        </p:nvSpPr>
        <p:spPr>
          <a:xfrm>
            <a:off x="6260592" y="5520932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9" name="Text 14">
            <a:extLst>
              <a:ext uri="{FF2B5EF4-FFF2-40B4-BE49-F238E27FC236}">
                <a16:creationId xmlns:a16="http://schemas.microsoft.com/office/drawing/2014/main" id="{EE398D43-96EA-EE0B-3079-5283B5EA8A5A}"/>
              </a:ext>
            </a:extLst>
          </p:cNvPr>
          <p:cNvSpPr/>
          <p:nvPr/>
        </p:nvSpPr>
        <p:spPr>
          <a:xfrm>
            <a:off x="6370320" y="5594084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processo di M&amp;A non è presidiato da competenze dedicate.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29089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777B9-DB77-B17F-1932-79E1897F8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BF1102-8433-7AA9-0859-4958B84C7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8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1396FF-6DC0-66DA-8746-06A24AD10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29 Aprile 2026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3E134FD-1D1E-A56B-71CE-E8A7AEB48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RECOMMENDED PATH FORWARD</a:t>
            </a:r>
            <a:endParaRPr lang="en-IT" b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88C3B9BA-8811-8FD0-9A89-E6A4FD9D5BE3}"/>
              </a:ext>
            </a:extLst>
          </p:cNvPr>
          <p:cNvSpPr/>
          <p:nvPr/>
        </p:nvSpPr>
        <p:spPr>
          <a:xfrm>
            <a:off x="419100" y="1376363"/>
            <a:ext cx="2547133" cy="475488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958F96A3-932A-2DC4-4DAC-D8634AD68F13}"/>
              </a:ext>
            </a:extLst>
          </p:cNvPr>
          <p:cNvSpPr/>
          <p:nvPr/>
        </p:nvSpPr>
        <p:spPr>
          <a:xfrm>
            <a:off x="510540" y="1376363"/>
            <a:ext cx="23306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10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063EFD67-3AD6-F70B-8A40-8D6537532ED7}"/>
              </a:ext>
            </a:extLst>
          </p:cNvPr>
          <p:cNvSpPr/>
          <p:nvPr/>
        </p:nvSpPr>
        <p:spPr>
          <a:xfrm>
            <a:off x="419100" y="1851851"/>
            <a:ext cx="2547133" cy="3419856"/>
          </a:xfrm>
          <a:prstGeom prst="rect">
            <a:avLst/>
          </a:prstGeom>
          <a:solidFill>
            <a:schemeClr val="bg1"/>
          </a:solidFill>
          <a:ln w="9525">
            <a:solidFill>
              <a:srgbClr val="D0D8F0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4132D836-471F-547A-B2F5-EE708F40CDFC}"/>
              </a:ext>
            </a:extLst>
          </p:cNvPr>
          <p:cNvSpPr/>
          <p:nvPr/>
        </p:nvSpPr>
        <p:spPr>
          <a:xfrm>
            <a:off x="3091295" y="1376363"/>
            <a:ext cx="2547133" cy="475488"/>
          </a:xfrm>
          <a:prstGeom prst="rect">
            <a:avLst/>
          </a:prstGeom>
          <a:solidFill>
            <a:schemeClr val="accent1"/>
          </a:solidFill>
          <a:ln w="12700">
            <a:noFill/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237300B1-1CD9-AECD-629D-9E15B1C8505D}"/>
              </a:ext>
            </a:extLst>
          </p:cNvPr>
          <p:cNvSpPr/>
          <p:nvPr/>
        </p:nvSpPr>
        <p:spPr>
          <a:xfrm>
            <a:off x="3182735" y="1376363"/>
            <a:ext cx="23306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</a:t>
            </a:r>
            <a:endParaRPr lang="en-US" sz="1100" dirty="0"/>
          </a:p>
        </p:txBody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2EA84D5D-7DAF-1654-C894-1F3AB1356C76}"/>
              </a:ext>
            </a:extLst>
          </p:cNvPr>
          <p:cNvSpPr/>
          <p:nvPr/>
        </p:nvSpPr>
        <p:spPr>
          <a:xfrm>
            <a:off x="3091295" y="1851851"/>
            <a:ext cx="2547133" cy="3419856"/>
          </a:xfrm>
          <a:prstGeom prst="rect">
            <a:avLst/>
          </a:prstGeom>
          <a:solidFill>
            <a:schemeClr val="bg1"/>
          </a:solidFill>
          <a:ln w="9525">
            <a:solidFill>
              <a:srgbClr val="D0D8F0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 dirty="0"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113E403D-C779-3A65-F10F-459792FEEE43}"/>
              </a:ext>
            </a:extLst>
          </p:cNvPr>
          <p:cNvSpPr/>
          <p:nvPr/>
        </p:nvSpPr>
        <p:spPr>
          <a:xfrm>
            <a:off x="5763490" y="1376363"/>
            <a:ext cx="2547133" cy="475488"/>
          </a:xfrm>
          <a:prstGeom prst="rect">
            <a:avLst/>
          </a:prstGeom>
          <a:solidFill>
            <a:schemeClr val="accent5"/>
          </a:solidFill>
          <a:ln w="12700">
            <a:noFill/>
            <a:prstDash val="solid"/>
          </a:ln>
        </p:spPr>
        <p:txBody>
          <a:bodyPr/>
          <a:lstStyle/>
          <a:p>
            <a:endParaRPr lang="en-IT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0BC0B6CA-D8FD-28B6-028E-6157AE36050A}"/>
              </a:ext>
            </a:extLst>
          </p:cNvPr>
          <p:cNvSpPr/>
          <p:nvPr/>
        </p:nvSpPr>
        <p:spPr>
          <a:xfrm>
            <a:off x="5854930" y="1376363"/>
            <a:ext cx="23306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100" dirty="0"/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0B56D8FD-DF9A-FD42-51AD-9D2652D16FF4}"/>
              </a:ext>
            </a:extLst>
          </p:cNvPr>
          <p:cNvSpPr/>
          <p:nvPr/>
        </p:nvSpPr>
        <p:spPr>
          <a:xfrm>
            <a:off x="5763490" y="1851851"/>
            <a:ext cx="2547133" cy="3419856"/>
          </a:xfrm>
          <a:prstGeom prst="rect">
            <a:avLst/>
          </a:prstGeom>
          <a:solidFill>
            <a:schemeClr val="bg1"/>
          </a:solidFill>
          <a:ln w="9525">
            <a:solidFill>
              <a:srgbClr val="D0D8F0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09D6870A-C141-C89D-AD9B-1028252CE56A}"/>
              </a:ext>
            </a:extLst>
          </p:cNvPr>
          <p:cNvSpPr/>
          <p:nvPr/>
        </p:nvSpPr>
        <p:spPr>
          <a:xfrm>
            <a:off x="8435685" y="1376363"/>
            <a:ext cx="2547133" cy="475488"/>
          </a:xfrm>
          <a:prstGeom prst="rect">
            <a:avLst/>
          </a:prstGeom>
          <a:solidFill>
            <a:schemeClr val="accent6"/>
          </a:solidFill>
          <a:ln w="12700">
            <a:noFill/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3CF81F07-2D3A-1CD6-09C8-5DAF1AA6EB9D}"/>
              </a:ext>
            </a:extLst>
          </p:cNvPr>
          <p:cNvSpPr/>
          <p:nvPr/>
        </p:nvSpPr>
        <p:spPr>
          <a:xfrm>
            <a:off x="8527125" y="1376363"/>
            <a:ext cx="23306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</a:t>
            </a:r>
            <a:endParaRPr lang="en-US" sz="1100" dirty="0"/>
          </a:p>
        </p:txBody>
      </p:sp>
      <p:sp>
        <p:nvSpPr>
          <p:cNvPr id="28" name="Shape 8">
            <a:extLst>
              <a:ext uri="{FF2B5EF4-FFF2-40B4-BE49-F238E27FC236}">
                <a16:creationId xmlns:a16="http://schemas.microsoft.com/office/drawing/2014/main" id="{9E778C15-3B5F-52C8-673E-47C9AEEE6CD4}"/>
              </a:ext>
            </a:extLst>
          </p:cNvPr>
          <p:cNvSpPr/>
          <p:nvPr/>
        </p:nvSpPr>
        <p:spPr>
          <a:xfrm>
            <a:off x="8435685" y="1851851"/>
            <a:ext cx="2547133" cy="3419856"/>
          </a:xfrm>
          <a:prstGeom prst="rect">
            <a:avLst/>
          </a:prstGeom>
          <a:solidFill>
            <a:schemeClr val="bg1"/>
          </a:solidFill>
          <a:ln w="9525">
            <a:solidFill>
              <a:srgbClr val="D0D8F0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62799015-93BD-B336-DA08-ED757A485D3C}"/>
              </a:ext>
            </a:extLst>
          </p:cNvPr>
          <p:cNvSpPr/>
          <p:nvPr/>
        </p:nvSpPr>
        <p:spPr>
          <a:xfrm>
            <a:off x="471539" y="1932137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1" name="Shape 13">
            <a:extLst>
              <a:ext uri="{FF2B5EF4-FFF2-40B4-BE49-F238E27FC236}">
                <a16:creationId xmlns:a16="http://schemas.microsoft.com/office/drawing/2014/main" id="{259A6CCA-897D-F9C6-FBF8-25C78E551428}"/>
              </a:ext>
            </a:extLst>
          </p:cNvPr>
          <p:cNvSpPr/>
          <p:nvPr/>
        </p:nvSpPr>
        <p:spPr>
          <a:xfrm>
            <a:off x="471539" y="1932137"/>
            <a:ext cx="36576" cy="614172"/>
          </a:xfrm>
          <a:prstGeom prst="rect">
            <a:avLst/>
          </a:prstGeom>
          <a:solidFill>
            <a:srgbClr val="00206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B970B54F-EE23-1420-33D5-1F376DA0FB32}"/>
              </a:ext>
            </a:extLst>
          </p:cNvPr>
          <p:cNvSpPr/>
          <p:nvPr/>
        </p:nvSpPr>
        <p:spPr>
          <a:xfrm>
            <a:off x="562979" y="1987001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1: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33" name="Shape 15">
            <a:extLst>
              <a:ext uri="{FF2B5EF4-FFF2-40B4-BE49-F238E27FC236}">
                <a16:creationId xmlns:a16="http://schemas.microsoft.com/office/drawing/2014/main" id="{00046037-AF10-0442-8810-A6EAFD38F367}"/>
              </a:ext>
            </a:extLst>
          </p:cNvPr>
          <p:cNvSpPr/>
          <p:nvPr/>
        </p:nvSpPr>
        <p:spPr>
          <a:xfrm>
            <a:off x="477183" y="2640682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4" name="Shape 16">
            <a:extLst>
              <a:ext uri="{FF2B5EF4-FFF2-40B4-BE49-F238E27FC236}">
                <a16:creationId xmlns:a16="http://schemas.microsoft.com/office/drawing/2014/main" id="{C78A4DFB-D29D-A2FB-9206-431BB78E2B12}"/>
              </a:ext>
            </a:extLst>
          </p:cNvPr>
          <p:cNvSpPr/>
          <p:nvPr/>
        </p:nvSpPr>
        <p:spPr>
          <a:xfrm>
            <a:off x="477183" y="2640682"/>
            <a:ext cx="36576" cy="614172"/>
          </a:xfrm>
          <a:prstGeom prst="rect">
            <a:avLst/>
          </a:prstGeom>
          <a:solidFill>
            <a:srgbClr val="00206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5" name="Text 17">
            <a:extLst>
              <a:ext uri="{FF2B5EF4-FFF2-40B4-BE49-F238E27FC236}">
                <a16:creationId xmlns:a16="http://schemas.microsoft.com/office/drawing/2014/main" id="{23358A11-CEDD-91E9-55BE-4077F0D908EC}"/>
              </a:ext>
            </a:extLst>
          </p:cNvPr>
          <p:cNvSpPr/>
          <p:nvPr/>
        </p:nvSpPr>
        <p:spPr>
          <a:xfrm>
            <a:off x="568623" y="2695546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2: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36" name="Shape 18">
            <a:extLst>
              <a:ext uri="{FF2B5EF4-FFF2-40B4-BE49-F238E27FC236}">
                <a16:creationId xmlns:a16="http://schemas.microsoft.com/office/drawing/2014/main" id="{87AA32F6-B02D-BA84-FBFA-09B102068691}"/>
              </a:ext>
            </a:extLst>
          </p:cNvPr>
          <p:cNvSpPr/>
          <p:nvPr/>
        </p:nvSpPr>
        <p:spPr>
          <a:xfrm>
            <a:off x="477183" y="3355899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7" name="Shape 19">
            <a:extLst>
              <a:ext uri="{FF2B5EF4-FFF2-40B4-BE49-F238E27FC236}">
                <a16:creationId xmlns:a16="http://schemas.microsoft.com/office/drawing/2014/main" id="{EB426B8E-5231-006F-9EC3-B6AD3C3BDDCF}"/>
              </a:ext>
            </a:extLst>
          </p:cNvPr>
          <p:cNvSpPr/>
          <p:nvPr/>
        </p:nvSpPr>
        <p:spPr>
          <a:xfrm>
            <a:off x="477183" y="3355899"/>
            <a:ext cx="36576" cy="614172"/>
          </a:xfrm>
          <a:prstGeom prst="rect">
            <a:avLst/>
          </a:prstGeom>
          <a:solidFill>
            <a:srgbClr val="00206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8" name="Text 20">
            <a:extLst>
              <a:ext uri="{FF2B5EF4-FFF2-40B4-BE49-F238E27FC236}">
                <a16:creationId xmlns:a16="http://schemas.microsoft.com/office/drawing/2014/main" id="{19234CC7-8A2F-64F8-C9A6-236844EA253A}"/>
              </a:ext>
            </a:extLst>
          </p:cNvPr>
          <p:cNvSpPr/>
          <p:nvPr/>
        </p:nvSpPr>
        <p:spPr>
          <a:xfrm>
            <a:off x="568623" y="3410763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3: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39" name="Shape 24">
            <a:extLst>
              <a:ext uri="{FF2B5EF4-FFF2-40B4-BE49-F238E27FC236}">
                <a16:creationId xmlns:a16="http://schemas.microsoft.com/office/drawing/2014/main" id="{00CA63A0-B07F-FE45-796F-2E5831D63BE9}"/>
              </a:ext>
            </a:extLst>
          </p:cNvPr>
          <p:cNvSpPr/>
          <p:nvPr/>
        </p:nvSpPr>
        <p:spPr>
          <a:xfrm>
            <a:off x="3143734" y="1927073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Shape 25">
            <a:extLst>
              <a:ext uri="{FF2B5EF4-FFF2-40B4-BE49-F238E27FC236}">
                <a16:creationId xmlns:a16="http://schemas.microsoft.com/office/drawing/2014/main" id="{02858266-73AD-E3AE-3DDE-F2AAEEE59EAA}"/>
              </a:ext>
            </a:extLst>
          </p:cNvPr>
          <p:cNvSpPr/>
          <p:nvPr/>
        </p:nvSpPr>
        <p:spPr>
          <a:xfrm>
            <a:off x="3143734" y="1927073"/>
            <a:ext cx="36576" cy="614172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1" name="Text 26">
            <a:extLst>
              <a:ext uri="{FF2B5EF4-FFF2-40B4-BE49-F238E27FC236}">
                <a16:creationId xmlns:a16="http://schemas.microsoft.com/office/drawing/2014/main" id="{623808CE-E84C-F041-1B22-6355B9ED2AB6}"/>
              </a:ext>
            </a:extLst>
          </p:cNvPr>
          <p:cNvSpPr/>
          <p:nvPr/>
        </p:nvSpPr>
        <p:spPr>
          <a:xfrm>
            <a:off x="3235174" y="1981937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1: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42" name="Shape 27">
            <a:extLst>
              <a:ext uri="{FF2B5EF4-FFF2-40B4-BE49-F238E27FC236}">
                <a16:creationId xmlns:a16="http://schemas.microsoft.com/office/drawing/2014/main" id="{3C0FDF6E-D9C9-51AA-0D04-79F5CD8B5DBD}"/>
              </a:ext>
            </a:extLst>
          </p:cNvPr>
          <p:cNvSpPr/>
          <p:nvPr/>
        </p:nvSpPr>
        <p:spPr>
          <a:xfrm>
            <a:off x="3149378" y="2635618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Shape 28">
            <a:extLst>
              <a:ext uri="{FF2B5EF4-FFF2-40B4-BE49-F238E27FC236}">
                <a16:creationId xmlns:a16="http://schemas.microsoft.com/office/drawing/2014/main" id="{AA56B1F0-4225-DBFC-332C-CD819D9FC93A}"/>
              </a:ext>
            </a:extLst>
          </p:cNvPr>
          <p:cNvSpPr/>
          <p:nvPr/>
        </p:nvSpPr>
        <p:spPr>
          <a:xfrm>
            <a:off x="3149378" y="2635618"/>
            <a:ext cx="36576" cy="614172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4" name="Text 29">
            <a:extLst>
              <a:ext uri="{FF2B5EF4-FFF2-40B4-BE49-F238E27FC236}">
                <a16:creationId xmlns:a16="http://schemas.microsoft.com/office/drawing/2014/main" id="{68A074CE-4E8E-35FA-C55E-CBC90259ED47}"/>
              </a:ext>
            </a:extLst>
          </p:cNvPr>
          <p:cNvSpPr/>
          <p:nvPr/>
        </p:nvSpPr>
        <p:spPr>
          <a:xfrm>
            <a:off x="3240818" y="2690482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2: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45" name="Shape 30">
            <a:extLst>
              <a:ext uri="{FF2B5EF4-FFF2-40B4-BE49-F238E27FC236}">
                <a16:creationId xmlns:a16="http://schemas.microsoft.com/office/drawing/2014/main" id="{5173902A-CC49-71C6-0632-D589CB9F9952}"/>
              </a:ext>
            </a:extLst>
          </p:cNvPr>
          <p:cNvSpPr/>
          <p:nvPr/>
        </p:nvSpPr>
        <p:spPr>
          <a:xfrm>
            <a:off x="3149378" y="3350835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6" name="Shape 31">
            <a:extLst>
              <a:ext uri="{FF2B5EF4-FFF2-40B4-BE49-F238E27FC236}">
                <a16:creationId xmlns:a16="http://schemas.microsoft.com/office/drawing/2014/main" id="{DAA25FCE-5B69-643E-FF71-213BC0B22595}"/>
              </a:ext>
            </a:extLst>
          </p:cNvPr>
          <p:cNvSpPr/>
          <p:nvPr/>
        </p:nvSpPr>
        <p:spPr>
          <a:xfrm>
            <a:off x="3149378" y="3350835"/>
            <a:ext cx="36576" cy="614172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7" name="Text 32">
            <a:extLst>
              <a:ext uri="{FF2B5EF4-FFF2-40B4-BE49-F238E27FC236}">
                <a16:creationId xmlns:a16="http://schemas.microsoft.com/office/drawing/2014/main" id="{EA8DF05F-1314-1BD6-A55F-067A0999A3DD}"/>
              </a:ext>
            </a:extLst>
          </p:cNvPr>
          <p:cNvSpPr/>
          <p:nvPr/>
        </p:nvSpPr>
        <p:spPr>
          <a:xfrm>
            <a:off x="3240818" y="3405699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3: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48" name="Shape 36">
            <a:extLst>
              <a:ext uri="{FF2B5EF4-FFF2-40B4-BE49-F238E27FC236}">
                <a16:creationId xmlns:a16="http://schemas.microsoft.com/office/drawing/2014/main" id="{99503CA1-E935-F623-4388-F95B506F1FCF}"/>
              </a:ext>
            </a:extLst>
          </p:cNvPr>
          <p:cNvSpPr/>
          <p:nvPr/>
        </p:nvSpPr>
        <p:spPr>
          <a:xfrm>
            <a:off x="5815929" y="1927073"/>
            <a:ext cx="2385096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Shape 37">
            <a:extLst>
              <a:ext uri="{FF2B5EF4-FFF2-40B4-BE49-F238E27FC236}">
                <a16:creationId xmlns:a16="http://schemas.microsoft.com/office/drawing/2014/main" id="{48C167A5-C6C9-CCAD-1F55-113C67CEB00B}"/>
              </a:ext>
            </a:extLst>
          </p:cNvPr>
          <p:cNvSpPr/>
          <p:nvPr/>
        </p:nvSpPr>
        <p:spPr>
          <a:xfrm>
            <a:off x="5815929" y="1927073"/>
            <a:ext cx="36576" cy="61417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0" name="Text 38">
            <a:extLst>
              <a:ext uri="{FF2B5EF4-FFF2-40B4-BE49-F238E27FC236}">
                <a16:creationId xmlns:a16="http://schemas.microsoft.com/office/drawing/2014/main" id="{228BF06C-7329-4F16-D68D-86AF6A88EA27}"/>
              </a:ext>
            </a:extLst>
          </p:cNvPr>
          <p:cNvSpPr/>
          <p:nvPr/>
        </p:nvSpPr>
        <p:spPr>
          <a:xfrm>
            <a:off x="5907369" y="1981937"/>
            <a:ext cx="2310172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1: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51" name="Shape 39">
            <a:extLst>
              <a:ext uri="{FF2B5EF4-FFF2-40B4-BE49-F238E27FC236}">
                <a16:creationId xmlns:a16="http://schemas.microsoft.com/office/drawing/2014/main" id="{022646B4-E78E-B528-9A56-35EA1202C9D9}"/>
              </a:ext>
            </a:extLst>
          </p:cNvPr>
          <p:cNvSpPr/>
          <p:nvPr/>
        </p:nvSpPr>
        <p:spPr>
          <a:xfrm>
            <a:off x="5821573" y="2635618"/>
            <a:ext cx="2385096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2" name="Shape 40">
            <a:extLst>
              <a:ext uri="{FF2B5EF4-FFF2-40B4-BE49-F238E27FC236}">
                <a16:creationId xmlns:a16="http://schemas.microsoft.com/office/drawing/2014/main" id="{4D521478-976B-42F4-4ED6-FD5F783FB407}"/>
              </a:ext>
            </a:extLst>
          </p:cNvPr>
          <p:cNvSpPr/>
          <p:nvPr/>
        </p:nvSpPr>
        <p:spPr>
          <a:xfrm>
            <a:off x="5821573" y="2635618"/>
            <a:ext cx="36576" cy="61417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3" name="Text 41">
            <a:extLst>
              <a:ext uri="{FF2B5EF4-FFF2-40B4-BE49-F238E27FC236}">
                <a16:creationId xmlns:a16="http://schemas.microsoft.com/office/drawing/2014/main" id="{EBC977C0-2D30-2D89-C5A3-1E22DB8CB7BD}"/>
              </a:ext>
            </a:extLst>
          </p:cNvPr>
          <p:cNvSpPr/>
          <p:nvPr/>
        </p:nvSpPr>
        <p:spPr>
          <a:xfrm>
            <a:off x="5913013" y="2690482"/>
            <a:ext cx="2310172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2: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54" name="Shape 42">
            <a:extLst>
              <a:ext uri="{FF2B5EF4-FFF2-40B4-BE49-F238E27FC236}">
                <a16:creationId xmlns:a16="http://schemas.microsoft.com/office/drawing/2014/main" id="{216F3F6A-CECC-3B0A-67A5-111119A8D8A1}"/>
              </a:ext>
            </a:extLst>
          </p:cNvPr>
          <p:cNvSpPr/>
          <p:nvPr/>
        </p:nvSpPr>
        <p:spPr>
          <a:xfrm>
            <a:off x="5821573" y="3350835"/>
            <a:ext cx="2385096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5" name="Shape 43">
            <a:extLst>
              <a:ext uri="{FF2B5EF4-FFF2-40B4-BE49-F238E27FC236}">
                <a16:creationId xmlns:a16="http://schemas.microsoft.com/office/drawing/2014/main" id="{ABE73F2D-F678-CB3C-3061-2E6AD9616C96}"/>
              </a:ext>
            </a:extLst>
          </p:cNvPr>
          <p:cNvSpPr/>
          <p:nvPr/>
        </p:nvSpPr>
        <p:spPr>
          <a:xfrm>
            <a:off x="5821573" y="3350835"/>
            <a:ext cx="36576" cy="61417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6" name="Text 44">
            <a:extLst>
              <a:ext uri="{FF2B5EF4-FFF2-40B4-BE49-F238E27FC236}">
                <a16:creationId xmlns:a16="http://schemas.microsoft.com/office/drawing/2014/main" id="{3D5BAE7A-E559-4F37-DBB8-607F6846C78B}"/>
              </a:ext>
            </a:extLst>
          </p:cNvPr>
          <p:cNvSpPr/>
          <p:nvPr/>
        </p:nvSpPr>
        <p:spPr>
          <a:xfrm>
            <a:off x="5913013" y="3405699"/>
            <a:ext cx="2310172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3: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57" name="Shape 48">
            <a:extLst>
              <a:ext uri="{FF2B5EF4-FFF2-40B4-BE49-F238E27FC236}">
                <a16:creationId xmlns:a16="http://schemas.microsoft.com/office/drawing/2014/main" id="{87E8A523-83EF-9D7F-4F12-DCC049589AB2}"/>
              </a:ext>
            </a:extLst>
          </p:cNvPr>
          <p:cNvSpPr/>
          <p:nvPr/>
        </p:nvSpPr>
        <p:spPr>
          <a:xfrm>
            <a:off x="8527125" y="1927073"/>
            <a:ext cx="2330631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8" name="Shape 49">
            <a:extLst>
              <a:ext uri="{FF2B5EF4-FFF2-40B4-BE49-F238E27FC236}">
                <a16:creationId xmlns:a16="http://schemas.microsoft.com/office/drawing/2014/main" id="{D3BE91F8-463B-7291-8C02-057418F22B19}"/>
              </a:ext>
            </a:extLst>
          </p:cNvPr>
          <p:cNvSpPr/>
          <p:nvPr/>
        </p:nvSpPr>
        <p:spPr>
          <a:xfrm>
            <a:off x="8527125" y="1927073"/>
            <a:ext cx="36576" cy="614172"/>
          </a:xfrm>
          <a:prstGeom prst="rect">
            <a:avLst/>
          </a:prstGeom>
          <a:solidFill>
            <a:schemeClr val="accent6"/>
          </a:solidFill>
          <a:ln w="12700">
            <a:solidFill>
              <a:srgbClr val="7B5EA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9" name="Text 50">
            <a:extLst>
              <a:ext uri="{FF2B5EF4-FFF2-40B4-BE49-F238E27FC236}">
                <a16:creationId xmlns:a16="http://schemas.microsoft.com/office/drawing/2014/main" id="{5A9F5677-9EB2-1BB1-1E43-1ABAE044B87E}"/>
              </a:ext>
            </a:extLst>
          </p:cNvPr>
          <p:cNvSpPr/>
          <p:nvPr/>
        </p:nvSpPr>
        <p:spPr>
          <a:xfrm>
            <a:off x="8618565" y="1981937"/>
            <a:ext cx="2257417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1: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60" name="Shape 51">
            <a:extLst>
              <a:ext uri="{FF2B5EF4-FFF2-40B4-BE49-F238E27FC236}">
                <a16:creationId xmlns:a16="http://schemas.microsoft.com/office/drawing/2014/main" id="{96BA45BB-38D6-68A8-ABA5-4CBE201503A9}"/>
              </a:ext>
            </a:extLst>
          </p:cNvPr>
          <p:cNvSpPr/>
          <p:nvPr/>
        </p:nvSpPr>
        <p:spPr>
          <a:xfrm>
            <a:off x="8532769" y="2635618"/>
            <a:ext cx="2330631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1" name="Shape 52">
            <a:extLst>
              <a:ext uri="{FF2B5EF4-FFF2-40B4-BE49-F238E27FC236}">
                <a16:creationId xmlns:a16="http://schemas.microsoft.com/office/drawing/2014/main" id="{81743CBA-5591-21B3-A84F-85DA2C7480EB}"/>
              </a:ext>
            </a:extLst>
          </p:cNvPr>
          <p:cNvSpPr/>
          <p:nvPr/>
        </p:nvSpPr>
        <p:spPr>
          <a:xfrm>
            <a:off x="8532768" y="2635618"/>
            <a:ext cx="45719" cy="614172"/>
          </a:xfrm>
          <a:prstGeom prst="rect">
            <a:avLst/>
          </a:prstGeom>
          <a:solidFill>
            <a:schemeClr val="accent6"/>
          </a:solidFill>
          <a:ln w="12700">
            <a:solidFill>
              <a:srgbClr val="7B5EA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2" name="Text 53">
            <a:extLst>
              <a:ext uri="{FF2B5EF4-FFF2-40B4-BE49-F238E27FC236}">
                <a16:creationId xmlns:a16="http://schemas.microsoft.com/office/drawing/2014/main" id="{920C2497-34E9-C235-C07D-E649D80DB100}"/>
              </a:ext>
            </a:extLst>
          </p:cNvPr>
          <p:cNvSpPr/>
          <p:nvPr/>
        </p:nvSpPr>
        <p:spPr>
          <a:xfrm>
            <a:off x="8624209" y="2690482"/>
            <a:ext cx="2187609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2: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63" name="Shape 54">
            <a:extLst>
              <a:ext uri="{FF2B5EF4-FFF2-40B4-BE49-F238E27FC236}">
                <a16:creationId xmlns:a16="http://schemas.microsoft.com/office/drawing/2014/main" id="{36ED1EAE-D778-4501-0293-90CDE84677C5}"/>
              </a:ext>
            </a:extLst>
          </p:cNvPr>
          <p:cNvSpPr/>
          <p:nvPr/>
        </p:nvSpPr>
        <p:spPr>
          <a:xfrm>
            <a:off x="8532769" y="3350835"/>
            <a:ext cx="2330631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4" name="Shape 55">
            <a:extLst>
              <a:ext uri="{FF2B5EF4-FFF2-40B4-BE49-F238E27FC236}">
                <a16:creationId xmlns:a16="http://schemas.microsoft.com/office/drawing/2014/main" id="{4778836C-F2C2-2C4B-568E-AED5AE70900E}"/>
              </a:ext>
            </a:extLst>
          </p:cNvPr>
          <p:cNvSpPr/>
          <p:nvPr/>
        </p:nvSpPr>
        <p:spPr>
          <a:xfrm>
            <a:off x="8532769" y="3350835"/>
            <a:ext cx="36576" cy="614172"/>
          </a:xfrm>
          <a:prstGeom prst="rect">
            <a:avLst/>
          </a:prstGeom>
          <a:solidFill>
            <a:schemeClr val="accent6"/>
          </a:solidFill>
          <a:ln w="12700">
            <a:solidFill>
              <a:srgbClr val="7B5EA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5" name="Text 56">
            <a:extLst>
              <a:ext uri="{FF2B5EF4-FFF2-40B4-BE49-F238E27FC236}">
                <a16:creationId xmlns:a16="http://schemas.microsoft.com/office/drawing/2014/main" id="{DD51559C-67A9-3B0C-80B2-6F2169259881}"/>
              </a:ext>
            </a:extLst>
          </p:cNvPr>
          <p:cNvSpPr/>
          <p:nvPr/>
        </p:nvSpPr>
        <p:spPr>
          <a:xfrm>
            <a:off x="8624209" y="3405699"/>
            <a:ext cx="2257417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3: [Specific, actionable priority grounded in findings. Reference the gap or opportunity it addresses.]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6928381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D75A02-F949-0DB9-8C3F-6F6C0C515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9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91D99C-85DF-76E7-FE13-5020003C0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29 Aprile 2026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84895E-A494-9308-4886-29C432383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GO / NO-GO RECOMMENDATION</a:t>
            </a:r>
            <a:endParaRPr lang="en-IT" b="0" dirty="0"/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F6C00047-BEB9-8689-AB45-D73E299EE400}"/>
              </a:ext>
            </a:extLst>
          </p:cNvPr>
          <p:cNvSpPr/>
          <p:nvPr/>
        </p:nvSpPr>
        <p:spPr>
          <a:xfrm>
            <a:off x="419100" y="1376363"/>
            <a:ext cx="5440680" cy="4789487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63435041-3630-3134-5F5B-D1D0FE7EC7C9}"/>
              </a:ext>
            </a:extLst>
          </p:cNvPr>
          <p:cNvSpPr/>
          <p:nvPr/>
        </p:nvSpPr>
        <p:spPr>
          <a:xfrm>
            <a:off x="419100" y="1376363"/>
            <a:ext cx="5440680" cy="347472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585D9625-6E18-A8C3-9E5C-19B9095E2172}"/>
              </a:ext>
            </a:extLst>
          </p:cNvPr>
          <p:cNvSpPr/>
          <p:nvPr/>
        </p:nvSpPr>
        <p:spPr>
          <a:xfrm>
            <a:off x="528828" y="1376363"/>
            <a:ext cx="5239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DECISION</a:t>
            </a:r>
            <a:endParaRPr lang="en-US" sz="1000" dirty="0"/>
          </a:p>
        </p:txBody>
      </p:sp>
      <p:sp>
        <p:nvSpPr>
          <p:cNvPr id="8" name="Shape 11">
            <a:extLst>
              <a:ext uri="{FF2B5EF4-FFF2-40B4-BE49-F238E27FC236}">
                <a16:creationId xmlns:a16="http://schemas.microsoft.com/office/drawing/2014/main" id="{80BF7A2C-BE11-E6F8-A6DD-2ED359F9B92B}"/>
              </a:ext>
            </a:extLst>
          </p:cNvPr>
          <p:cNvSpPr/>
          <p:nvPr/>
        </p:nvSpPr>
        <p:spPr>
          <a:xfrm>
            <a:off x="547116" y="1815275"/>
            <a:ext cx="5202936" cy="1243584"/>
          </a:xfrm>
          <a:prstGeom prst="rect">
            <a:avLst/>
          </a:prstGeom>
          <a:solidFill>
            <a:srgbClr val="F4F7FF"/>
          </a:solidFill>
          <a:ln w="9525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12">
            <a:extLst>
              <a:ext uri="{FF2B5EF4-FFF2-40B4-BE49-F238E27FC236}">
                <a16:creationId xmlns:a16="http://schemas.microsoft.com/office/drawing/2014/main" id="{622D2E33-C5BB-5A48-31CB-A088E3326BDC}"/>
              </a:ext>
            </a:extLst>
          </p:cNvPr>
          <p:cNvSpPr/>
          <p:nvPr/>
        </p:nvSpPr>
        <p:spPr>
          <a:xfrm>
            <a:off x="547116" y="1815275"/>
            <a:ext cx="5202936" cy="329184"/>
          </a:xfrm>
          <a:prstGeom prst="rect">
            <a:avLst/>
          </a:prstGeom>
          <a:solidFill>
            <a:srgbClr val="2CB786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4D49F7BC-2C66-766B-4B0A-28A9497648FB}"/>
              </a:ext>
            </a:extLst>
          </p:cNvPr>
          <p:cNvSpPr/>
          <p:nvPr/>
        </p:nvSpPr>
        <p:spPr>
          <a:xfrm>
            <a:off x="638556" y="1815275"/>
            <a:ext cx="5020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PROCEED</a:t>
            </a:r>
            <a:endParaRPr lang="en-US" sz="950" dirty="0"/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D75F1E9A-C691-0C1B-12D8-B064C27F9AA0}"/>
              </a:ext>
            </a:extLst>
          </p:cNvPr>
          <p:cNvSpPr/>
          <p:nvPr/>
        </p:nvSpPr>
        <p:spPr>
          <a:xfrm>
            <a:off x="638556" y="2199323"/>
            <a:ext cx="50200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organization has sufficient alignment, readiness, and commitment to begin GTM Foundation work immediately. The Value Accelerator team recommends proceeding to Step 1 on the agreed timeline.</a:t>
            </a:r>
            <a:endParaRPr lang="en-US" sz="850" dirty="0"/>
          </a:p>
        </p:txBody>
      </p:sp>
      <p:sp>
        <p:nvSpPr>
          <p:cNvPr id="12" name="Shape 15">
            <a:extLst>
              <a:ext uri="{FF2B5EF4-FFF2-40B4-BE49-F238E27FC236}">
                <a16:creationId xmlns:a16="http://schemas.microsoft.com/office/drawing/2014/main" id="{87747BAF-A94C-42E9-3991-BDA6F071A6D3}"/>
              </a:ext>
            </a:extLst>
          </p:cNvPr>
          <p:cNvSpPr/>
          <p:nvPr/>
        </p:nvSpPr>
        <p:spPr>
          <a:xfrm>
            <a:off x="547116" y="3141155"/>
            <a:ext cx="5202936" cy="1243584"/>
          </a:xfrm>
          <a:prstGeom prst="rect">
            <a:avLst/>
          </a:prstGeom>
          <a:solidFill>
            <a:srgbClr val="F4F7FF"/>
          </a:solidFill>
          <a:ln w="9525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6">
            <a:extLst>
              <a:ext uri="{FF2B5EF4-FFF2-40B4-BE49-F238E27FC236}">
                <a16:creationId xmlns:a16="http://schemas.microsoft.com/office/drawing/2014/main" id="{9D9CAAAA-EA42-E728-AD79-C43DB18D5F1A}"/>
              </a:ext>
            </a:extLst>
          </p:cNvPr>
          <p:cNvSpPr/>
          <p:nvPr/>
        </p:nvSpPr>
        <p:spPr>
          <a:xfrm>
            <a:off x="547116" y="3141155"/>
            <a:ext cx="5202936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02E59566-D07E-B279-852A-3DDCC29F253A}"/>
              </a:ext>
            </a:extLst>
          </p:cNvPr>
          <p:cNvSpPr/>
          <p:nvPr/>
        </p:nvSpPr>
        <p:spPr>
          <a:xfrm>
            <a:off x="638556" y="3141155"/>
            <a:ext cx="5020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PROCEED WITH CONDITIONS</a:t>
            </a:r>
            <a:endParaRPr lang="en-US" sz="950" dirty="0"/>
          </a:p>
        </p:txBody>
      </p:sp>
      <p:sp>
        <p:nvSpPr>
          <p:cNvPr id="15" name="Text 18">
            <a:extLst>
              <a:ext uri="{FF2B5EF4-FFF2-40B4-BE49-F238E27FC236}">
                <a16:creationId xmlns:a16="http://schemas.microsoft.com/office/drawing/2014/main" id="{A83B5839-A782-F83B-97A0-90695FC521DA}"/>
              </a:ext>
            </a:extLst>
          </p:cNvPr>
          <p:cNvSpPr/>
          <p:nvPr/>
        </p:nvSpPr>
        <p:spPr>
          <a:xfrm>
            <a:off x="638556" y="3525203"/>
            <a:ext cx="50200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organization can proceed but specific conditions must be met before or alongside Step 1. Conditions are documented in the box below — they must be confirmed before work begins.</a:t>
            </a:r>
            <a:endParaRPr lang="en-US" sz="850" dirty="0"/>
          </a:p>
        </p:txBody>
      </p:sp>
      <p:sp>
        <p:nvSpPr>
          <p:cNvPr id="16" name="Shape 19">
            <a:extLst>
              <a:ext uri="{FF2B5EF4-FFF2-40B4-BE49-F238E27FC236}">
                <a16:creationId xmlns:a16="http://schemas.microsoft.com/office/drawing/2014/main" id="{EDF3D691-E13C-BD2C-DA73-96D089150C5C}"/>
              </a:ext>
            </a:extLst>
          </p:cNvPr>
          <p:cNvSpPr/>
          <p:nvPr/>
        </p:nvSpPr>
        <p:spPr>
          <a:xfrm>
            <a:off x="547116" y="4467035"/>
            <a:ext cx="5202936" cy="1243584"/>
          </a:xfrm>
          <a:prstGeom prst="rect">
            <a:avLst/>
          </a:prstGeom>
          <a:solidFill>
            <a:srgbClr val="F4F7FF"/>
          </a:solidFill>
          <a:ln w="9525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20">
            <a:extLst>
              <a:ext uri="{FF2B5EF4-FFF2-40B4-BE49-F238E27FC236}">
                <a16:creationId xmlns:a16="http://schemas.microsoft.com/office/drawing/2014/main" id="{41789F99-2844-87EA-6E3E-44AD5832740D}"/>
              </a:ext>
            </a:extLst>
          </p:cNvPr>
          <p:cNvSpPr/>
          <p:nvPr/>
        </p:nvSpPr>
        <p:spPr>
          <a:xfrm>
            <a:off x="547116" y="4467035"/>
            <a:ext cx="5202936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21">
            <a:extLst>
              <a:ext uri="{FF2B5EF4-FFF2-40B4-BE49-F238E27FC236}">
                <a16:creationId xmlns:a16="http://schemas.microsoft.com/office/drawing/2014/main" id="{A5DD2CF4-ED76-08EA-6785-8EBF4FB3CEDA}"/>
              </a:ext>
            </a:extLst>
          </p:cNvPr>
          <p:cNvSpPr/>
          <p:nvPr/>
        </p:nvSpPr>
        <p:spPr>
          <a:xfrm>
            <a:off x="638556" y="4467035"/>
            <a:ext cx="5020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 NOT PROCEED</a:t>
            </a:r>
            <a:endParaRPr lang="en-US" sz="950" dirty="0"/>
          </a:p>
        </p:txBody>
      </p:sp>
      <p:sp>
        <p:nvSpPr>
          <p:cNvPr id="19" name="Text 22">
            <a:extLst>
              <a:ext uri="{FF2B5EF4-FFF2-40B4-BE49-F238E27FC236}">
                <a16:creationId xmlns:a16="http://schemas.microsoft.com/office/drawing/2014/main" id="{2A65966A-8AE5-B3A8-6F0E-16BC6D5EBA4B}"/>
              </a:ext>
            </a:extLst>
          </p:cNvPr>
          <p:cNvSpPr/>
          <p:nvPr/>
        </p:nvSpPr>
        <p:spPr>
          <a:xfrm>
            <a:off x="638556" y="4851083"/>
            <a:ext cx="50200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assessment has identified blockers significant enough to make starting GTM work premature. The blockers and the path to resolving them are documented in this report.</a:t>
            </a:r>
            <a:endParaRPr lang="en-US" sz="850" dirty="0"/>
          </a:p>
        </p:txBody>
      </p:sp>
      <p:sp>
        <p:nvSpPr>
          <p:cNvPr id="21" name="Shape 24">
            <a:extLst>
              <a:ext uri="{FF2B5EF4-FFF2-40B4-BE49-F238E27FC236}">
                <a16:creationId xmlns:a16="http://schemas.microsoft.com/office/drawing/2014/main" id="{B37DA6C8-F7C2-AFB7-1C3A-B285B204F644}"/>
              </a:ext>
            </a:extLst>
          </p:cNvPr>
          <p:cNvSpPr/>
          <p:nvPr/>
        </p:nvSpPr>
        <p:spPr>
          <a:xfrm>
            <a:off x="6134100" y="1376363"/>
            <a:ext cx="5440680" cy="1463040"/>
          </a:xfrm>
          <a:prstGeom prst="rect">
            <a:avLst/>
          </a:prstGeom>
          <a:solidFill>
            <a:srgbClr val="FFFBF0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64C35266-A38B-B797-0A8D-DC00FA2A0038}"/>
              </a:ext>
            </a:extLst>
          </p:cNvPr>
          <p:cNvSpPr/>
          <p:nvPr/>
        </p:nvSpPr>
        <p:spPr>
          <a:xfrm>
            <a:off x="6134100" y="1376363"/>
            <a:ext cx="54864" cy="1463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Text 26">
            <a:extLst>
              <a:ext uri="{FF2B5EF4-FFF2-40B4-BE49-F238E27FC236}">
                <a16:creationId xmlns:a16="http://schemas.microsoft.com/office/drawing/2014/main" id="{59738DB0-B59D-645D-69C0-9CFC0FD725C4}"/>
              </a:ext>
            </a:extLst>
          </p:cNvPr>
          <p:cNvSpPr/>
          <p:nvPr/>
        </p:nvSpPr>
        <p:spPr>
          <a:xfrm>
            <a:off x="6298692" y="1486091"/>
            <a:ext cx="5184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 (if applicable)</a:t>
            </a:r>
            <a:endParaRPr lang="en-US" sz="950" dirty="0"/>
          </a:p>
        </p:txBody>
      </p:sp>
      <p:sp>
        <p:nvSpPr>
          <p:cNvPr id="24" name="Shape 27">
            <a:extLst>
              <a:ext uri="{FF2B5EF4-FFF2-40B4-BE49-F238E27FC236}">
                <a16:creationId xmlns:a16="http://schemas.microsoft.com/office/drawing/2014/main" id="{0C2565A9-608E-713C-DDA2-FDDC5F0BA18F}"/>
              </a:ext>
            </a:extLst>
          </p:cNvPr>
          <p:cNvSpPr/>
          <p:nvPr/>
        </p:nvSpPr>
        <p:spPr>
          <a:xfrm>
            <a:off x="6298692" y="1856231"/>
            <a:ext cx="5184648" cy="891732"/>
          </a:xfrm>
          <a:prstGeom prst="rect">
            <a:avLst/>
          </a:prstGeom>
          <a:solidFill>
            <a:srgbClr val="F8F9FF"/>
          </a:solidFill>
          <a:ln w="9525">
            <a:solidFill>
              <a:srgbClr val="B0BCD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Text 28">
            <a:extLst>
              <a:ext uri="{FF2B5EF4-FFF2-40B4-BE49-F238E27FC236}">
                <a16:creationId xmlns:a16="http://schemas.microsoft.com/office/drawing/2014/main" id="{D06B8815-9729-1614-F15C-DA855996A0AF}"/>
              </a:ext>
            </a:extLst>
          </p:cNvPr>
          <p:cNvSpPr/>
          <p:nvPr/>
        </p:nvSpPr>
        <p:spPr>
          <a:xfrm>
            <a:off x="6408420" y="1906715"/>
            <a:ext cx="4965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Proceed with conditions: list each condition explicitly. For each — what must happen, who is responsible, and by when. Delete this box if not applicable.</a:t>
            </a:r>
            <a:endParaRPr lang="en-US" sz="900" dirty="0"/>
          </a:p>
        </p:txBody>
      </p:sp>
      <p:sp>
        <p:nvSpPr>
          <p:cNvPr id="26" name="Shape 29">
            <a:extLst>
              <a:ext uri="{FF2B5EF4-FFF2-40B4-BE49-F238E27FC236}">
                <a16:creationId xmlns:a16="http://schemas.microsoft.com/office/drawing/2014/main" id="{15EE865C-2CAB-86BC-353B-12C334B84A44}"/>
              </a:ext>
            </a:extLst>
          </p:cNvPr>
          <p:cNvSpPr/>
          <p:nvPr/>
        </p:nvSpPr>
        <p:spPr>
          <a:xfrm>
            <a:off x="6134100" y="2949131"/>
            <a:ext cx="544068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7" name="Shape 30">
            <a:extLst>
              <a:ext uri="{FF2B5EF4-FFF2-40B4-BE49-F238E27FC236}">
                <a16:creationId xmlns:a16="http://schemas.microsoft.com/office/drawing/2014/main" id="{8409AF93-7332-16E0-C5D2-719818A3A1F7}"/>
              </a:ext>
            </a:extLst>
          </p:cNvPr>
          <p:cNvSpPr/>
          <p:nvPr/>
        </p:nvSpPr>
        <p:spPr>
          <a:xfrm>
            <a:off x="6134100" y="2949131"/>
            <a:ext cx="54864" cy="1645920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31">
            <a:extLst>
              <a:ext uri="{FF2B5EF4-FFF2-40B4-BE49-F238E27FC236}">
                <a16:creationId xmlns:a16="http://schemas.microsoft.com/office/drawing/2014/main" id="{BE49C7A1-977E-FFDB-6052-DE992E2FBDA0}"/>
              </a:ext>
            </a:extLst>
          </p:cNvPr>
          <p:cNvSpPr/>
          <p:nvPr/>
        </p:nvSpPr>
        <p:spPr>
          <a:xfrm>
            <a:off x="6298692" y="3058859"/>
            <a:ext cx="5184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RATIONALE FOR THE RECOMMENDATION</a:t>
            </a:r>
            <a:endParaRPr lang="en-US" sz="950" dirty="0"/>
          </a:p>
        </p:txBody>
      </p:sp>
      <p:sp>
        <p:nvSpPr>
          <p:cNvPr id="29" name="Shape 32">
            <a:extLst>
              <a:ext uri="{FF2B5EF4-FFF2-40B4-BE49-F238E27FC236}">
                <a16:creationId xmlns:a16="http://schemas.microsoft.com/office/drawing/2014/main" id="{51FB302F-582B-4F50-367D-DF6F5D533DA5}"/>
              </a:ext>
            </a:extLst>
          </p:cNvPr>
          <p:cNvSpPr/>
          <p:nvPr/>
        </p:nvSpPr>
        <p:spPr>
          <a:xfrm>
            <a:off x="6298692" y="3428999"/>
            <a:ext cx="5184648" cy="1074611"/>
          </a:xfrm>
          <a:prstGeom prst="rect">
            <a:avLst/>
          </a:prstGeom>
          <a:solidFill>
            <a:srgbClr val="F8F9FF"/>
          </a:solidFill>
          <a:ln w="9525">
            <a:solidFill>
              <a:srgbClr val="B0BCD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Text 33">
            <a:extLst>
              <a:ext uri="{FF2B5EF4-FFF2-40B4-BE49-F238E27FC236}">
                <a16:creationId xmlns:a16="http://schemas.microsoft.com/office/drawing/2014/main" id="{FB517AD1-45D5-3B04-D639-432A6B77C579}"/>
              </a:ext>
            </a:extLst>
          </p:cNvPr>
          <p:cNvSpPr/>
          <p:nvPr/>
        </p:nvSpPr>
        <p:spPr>
          <a:xfrm>
            <a:off x="6408420" y="3428999"/>
            <a:ext cx="4965192" cy="1074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 in 3–5 sentences why this recommendation was reached. Reference the readiness ratings, key blockers or strengths, and the degree of executive sponsorship observed.</a:t>
            </a:r>
            <a:endParaRPr lang="en-US" sz="900" dirty="0"/>
          </a:p>
        </p:txBody>
      </p:sp>
      <p:sp>
        <p:nvSpPr>
          <p:cNvPr id="31" name="Shape 34">
            <a:extLst>
              <a:ext uri="{FF2B5EF4-FFF2-40B4-BE49-F238E27FC236}">
                <a16:creationId xmlns:a16="http://schemas.microsoft.com/office/drawing/2014/main" id="{DD79A26C-2EB0-C46C-C374-11369D40E310}"/>
              </a:ext>
            </a:extLst>
          </p:cNvPr>
          <p:cNvSpPr/>
          <p:nvPr/>
        </p:nvSpPr>
        <p:spPr>
          <a:xfrm>
            <a:off x="6134100" y="4704779"/>
            <a:ext cx="5440680" cy="14487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32" name="Shape 35">
            <a:extLst>
              <a:ext uri="{FF2B5EF4-FFF2-40B4-BE49-F238E27FC236}">
                <a16:creationId xmlns:a16="http://schemas.microsoft.com/office/drawing/2014/main" id="{B2923648-1B29-9A36-5581-93953A6355BC}"/>
              </a:ext>
            </a:extLst>
          </p:cNvPr>
          <p:cNvSpPr/>
          <p:nvPr/>
        </p:nvSpPr>
        <p:spPr>
          <a:xfrm>
            <a:off x="6134100" y="4704779"/>
            <a:ext cx="45719" cy="1461071"/>
          </a:xfrm>
          <a:prstGeom prst="rect">
            <a:avLst/>
          </a:prstGeom>
          <a:solidFill>
            <a:srgbClr val="2CB786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3" name="Text 36">
            <a:extLst>
              <a:ext uri="{FF2B5EF4-FFF2-40B4-BE49-F238E27FC236}">
                <a16:creationId xmlns:a16="http://schemas.microsoft.com/office/drawing/2014/main" id="{8130BFAE-65F1-B014-8547-2934CA4FB0E7}"/>
              </a:ext>
            </a:extLst>
          </p:cNvPr>
          <p:cNvSpPr/>
          <p:nvPr/>
        </p:nvSpPr>
        <p:spPr>
          <a:xfrm>
            <a:off x="6298692" y="4814507"/>
            <a:ext cx="5184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GOING FORWARD</a:t>
            </a:r>
            <a:endParaRPr lang="en-US" sz="950" dirty="0"/>
          </a:p>
        </p:txBody>
      </p:sp>
      <p:sp>
        <p:nvSpPr>
          <p:cNvPr id="34" name="Shape 37">
            <a:extLst>
              <a:ext uri="{FF2B5EF4-FFF2-40B4-BE49-F238E27FC236}">
                <a16:creationId xmlns:a16="http://schemas.microsoft.com/office/drawing/2014/main" id="{F20B5F85-1823-05A9-3AC5-3317AD68B5A6}"/>
              </a:ext>
            </a:extLst>
          </p:cNvPr>
          <p:cNvSpPr/>
          <p:nvPr/>
        </p:nvSpPr>
        <p:spPr>
          <a:xfrm>
            <a:off x="6298692" y="4997387"/>
            <a:ext cx="5184648" cy="941595"/>
          </a:xfrm>
          <a:prstGeom prst="rect">
            <a:avLst/>
          </a:prstGeom>
          <a:solidFill>
            <a:srgbClr val="F8F9FF"/>
          </a:solidFill>
          <a:ln w="9525">
            <a:solidFill>
              <a:srgbClr val="B0BCD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5" name="Text 38">
            <a:extLst>
              <a:ext uri="{FF2B5EF4-FFF2-40B4-BE49-F238E27FC236}">
                <a16:creationId xmlns:a16="http://schemas.microsoft.com/office/drawing/2014/main" id="{88AAFB4A-2E1E-B77B-62CF-B7F73CA0CF86}"/>
              </a:ext>
            </a:extLst>
          </p:cNvPr>
          <p:cNvSpPr/>
          <p:nvPr/>
        </p:nvSpPr>
        <p:spPr>
          <a:xfrm>
            <a:off x="6408420" y="4997387"/>
            <a:ext cx="4965192" cy="813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the concrete next steps: what happens in the first 2 weeks after this report is accepted. Who does what. What the Value Accelerator team will deliver and when.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2946785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5B669C-DF5E-D5D3-A04D-6BB5F2614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10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2E7FEE-88FF-B41F-30EC-6BE2D1D53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29 Aprile 2026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318397B-62B6-45C7-4346-7EFBA1F36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APPENDIX A</a:t>
            </a:r>
            <a:b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</a:br>
            <a:r>
              <a:rPr lang="en-US" sz="1600" b="0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Interviewee List </a:t>
            </a:r>
            <a:endParaRPr lang="en-IT" sz="1600" b="0"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9E41A031-DE37-00DA-09BF-1A50E1987C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2635656"/>
              </p:ext>
            </p:extLst>
          </p:nvPr>
        </p:nvGraphicFramePr>
        <p:xfrm>
          <a:off x="407987" y="1376363"/>
          <a:ext cx="11521440" cy="478948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 (optional)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/ Title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 Date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{{appendix_a_row_2_name}}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{{appendix_a_row_2_role}}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{{appendix_a_row_2_function}}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{{appendix_a_row_2_date}}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{{appendix_a_row_3_name}}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{{appendix_a_row_3_role}}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{{appendix_a_row_3_function}}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{{appendix_a_row_3_date}}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{{appendix_a_row_4_name}}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{{appendix_a_row_4_role}}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{{appendix_a_row_4_function}}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{{appendix_a_row_4_date}}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{{appendix_a_row_5_name}}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{{appendix_a_row_5_role}}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{{appendix_a_row_5_function}}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{{appendix_a_row_5_date}}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{{appendix_a_row_6_name}}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{{appendix_a_row_6_role}}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{{appendix_a_row_6_function}}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{{appendix_a_row_6_date}}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{{appendix_a_row_7_name}}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{{appendix_a_row_7_role}}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{{appendix_a_row_7_function}}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{{appendix_a_row_7_date}}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{{appendix_a_row_8_name}}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{{appendix_a_row_8_role}}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{{appendix_a_row_8_function}}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{{appendix_a_row_8_date}}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{{appendix_a_row_9_name}}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{{appendix_a_row_9_role}}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{{appendix_a_row_9_function}}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{{appendix_a_row_9_date}}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{{appendix_a_row_10_name}}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{{appendix_a_row_10_role}}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{{appendix_a_row_10_function}}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{{appendix_a_row_10_date}}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{{appendix_a_row_11_name}}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{{appendix_a_row_11_role}}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{{appendix_a_row_11_function}}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{{appendix_a_row_11_date}}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{{appendix_a_row_12_name}}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{{appendix_a_row_12_role}}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{{appendix_a_row_12_function}}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{{appendix_a_row_12_date}}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8691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6B4DAB-78A0-F2E4-D3AC-3306729BD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11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D7CDD3-FF19-DEF5-9958-3BAE634F0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29 Aprile 2026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78A83A-0A73-46C5-3AEB-4B3052502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APPENDIX B</a:t>
            </a:r>
            <a:b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</a:br>
            <a:r>
              <a:rPr lang="en-US" sz="1600" b="0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Suggested Workshop Participants For Phase 2</a:t>
            </a:r>
            <a:endParaRPr lang="en-IT" b="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67A4D768-3AB6-4CD3-0034-CFF8556CCE48}"/>
              </a:ext>
            </a:extLst>
          </p:cNvPr>
          <p:cNvSpPr/>
          <p:nvPr/>
        </p:nvSpPr>
        <p:spPr>
          <a:xfrm>
            <a:off x="407987" y="1102043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participants below are recommended based on the assessment findings. Final list to be confirmed with the customer sponsor before the workshop.</a:t>
            </a:r>
            <a:endParaRPr lang="en-US" sz="900" dirty="0"/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DBCAF6CD-A2F1-4767-7328-D3F1C7A91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500401"/>
              </p:ext>
            </p:extLst>
          </p:nvPr>
        </p:nvGraphicFramePr>
        <p:xfrm>
          <a:off x="407987" y="1522266"/>
          <a:ext cx="11356848" cy="459943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81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/ Title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Rationale for inclusion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064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0F424F-A30D-85B2-0E0A-D79D41998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12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9798DD-CD69-4641-FDF0-51C26C094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29 Aprile 2026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5FD8EC-33FC-AF87-0CFD-51082FE18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APPENDIX C</a:t>
            </a:r>
            <a:b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</a:br>
            <a:r>
              <a:rPr lang="en-US" sz="1600" b="0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Documents Reviewed</a:t>
            </a:r>
            <a:endParaRPr lang="en-IT" sz="1600" b="0"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993D83D5-21B2-6FB9-94D0-C2017C0586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507530"/>
              </p:ext>
            </p:extLst>
          </p:nvPr>
        </p:nvGraphicFramePr>
        <p:xfrm>
          <a:off x="419100" y="1376363"/>
          <a:ext cx="11356848" cy="4789486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/ Function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Relevance to Assessment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{{appendix_c_row_2_name}}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{{appendix_c_row_2_type}}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{{appendix_c_row_2_function}}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{{appendix_c_row_2_relevance}}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{{appendix_c_row_3_name}}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{{appendix_c_row_3_type}}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{{appendix_c_row_3_function}}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{{appendix_c_row_3_relevance}}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{{appendix_c_row_4_name}}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{{appendix_c_row_4_type}}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{{appendix_c_row_4_function}}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{{appendix_c_row_4_relevance}}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{{appendix_c_row_5_name}}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{{appendix_c_row_5_type}}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{{appendix_c_row_5_function}}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{{appendix_c_row_5_relevance}}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{{appendix_c_row_6_name}}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{{appendix_c_row_6_type}}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{{appendix_c_row_6_function}}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{{appendix_c_row_6_relevance}}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{{appendix_c_row_7_name}}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{{appendix_c_row_7_type}}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{{appendix_c_row_7_function}}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{{appendix_c_row_7_relevance}}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{{appendix_c_row_8_name}}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{{appendix_c_row_8_type}}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{{appendix_c_row_8_function}}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{{appendix_c_row_8_relevance}}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{{appendix_c_row_9_name}}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{{appendix_c_row_9_type}}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{{appendix_c_row_9_function}}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{{appendix_c_row_9_relevance}}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{{appendix_c_row_10_name}}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{{appendix_c_row_10_type}}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{{appendix_c_row_10_function}}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{{appendix_c_row_10_relevance}}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{{appendix_c_row_11_name}}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{{appendix_c_row_11_type}}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{{appendix_c_row_11_function}}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{{appendix_c_row_11_relevance}}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{{appendix_c_row_12_name}}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{{appendix_c_row_12_type}}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{{appendix_c_row_12_function}}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{{appendix_c_row_12_relevance}}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7589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879BE-2AD5-052F-C7F4-2DA1FD5F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6715400-C45B-14A1-F2DE-4299A6734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Page </a:t>
            </a:r>
            <a:fld id="{9F87C01F-1C7D-412C-ABA2-21273AD5B01E}" type="slidenum">
              <a:rPr kumimoji="0" lang="de-DE" sz="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de-AT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AD81F43-D9F8-31CB-A57A-6723453B3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© Value Accelerator GmbH | 29 Aprile 2026 | 1.0</a:t>
            </a:r>
            <a:r>
              <a:rPr kumimoji="0" lang="en-US" sz="8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/>
            </a:r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5" name="Picture Placeholder 40" descr="A person in a blue suit&#10;&#10;AI-generated content may be incorrect.">
            <a:extLst>
              <a:ext uri="{FF2B5EF4-FFF2-40B4-BE49-F238E27FC236}">
                <a16:creationId xmlns:a16="http://schemas.microsoft.com/office/drawing/2014/main" id="{0C241A6A-91B5-484E-DEE5-C27E8E68AD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578891" y="1509970"/>
            <a:ext cx="1260000" cy="1260000"/>
          </a:xfrm>
          <a:prstGeom prst="ellipse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D5D931D5-ACCC-5680-B862-8E5C81E21E2C}"/>
              </a:ext>
            </a:extLst>
          </p:cNvPr>
          <p:cNvSpPr txBox="1">
            <a:spLocks/>
          </p:cNvSpPr>
          <p:nvPr/>
        </p:nvSpPr>
        <p:spPr>
          <a:xfrm>
            <a:off x="4086438" y="2926268"/>
            <a:ext cx="2350682" cy="26000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STEFANO SILVANI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134B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BC7A8230-1797-1C45-D2F0-8C4886786897}"/>
              </a:ext>
            </a:extLst>
          </p:cNvPr>
          <p:cNvSpPr txBox="1">
            <a:spLocks/>
          </p:cNvSpPr>
          <p:nvPr/>
        </p:nvSpPr>
        <p:spPr>
          <a:xfrm>
            <a:off x="6785233" y="2926268"/>
            <a:ext cx="2186745" cy="26000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MICHAEL OKOLI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134B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A457071-03D2-D426-F924-58142B2948A1}"/>
              </a:ext>
            </a:extLst>
          </p:cNvPr>
          <p:cNvSpPr txBox="1">
            <a:spLocks/>
          </p:cNvSpPr>
          <p:nvPr/>
        </p:nvSpPr>
        <p:spPr>
          <a:xfrm>
            <a:off x="9047197" y="2926268"/>
            <a:ext cx="2690671" cy="26000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CHRISTOPH CONRAD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134B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15081336-B912-90E3-FF18-99F205AAE372}"/>
              </a:ext>
            </a:extLst>
          </p:cNvPr>
          <p:cNvSpPr txBox="1">
            <a:spLocks/>
          </p:cNvSpPr>
          <p:nvPr/>
        </p:nvSpPr>
        <p:spPr>
          <a:xfrm>
            <a:off x="4242519" y="5311573"/>
            <a:ext cx="2186745" cy="26000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GABRIELE PERRONE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134B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BE60D55-0240-6252-83FE-7C37F69953F7}"/>
              </a:ext>
            </a:extLst>
          </p:cNvPr>
          <p:cNvSpPr txBox="1">
            <a:spLocks/>
          </p:cNvSpPr>
          <p:nvPr/>
        </p:nvSpPr>
        <p:spPr>
          <a:xfrm>
            <a:off x="6785233" y="5311279"/>
            <a:ext cx="2186745" cy="26000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ROSARIO LAFACE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134B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11" name="Picture Placeholder 42" descr="A person in a suit smiling&#10;&#10;AI-generated content may be incorrect.">
            <a:extLst>
              <a:ext uri="{FF2B5EF4-FFF2-40B4-BE49-F238E27FC236}">
                <a16:creationId xmlns:a16="http://schemas.microsoft.com/office/drawing/2014/main" id="{B77221D9-CF96-D681-B067-A4353B2782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059910" y="1509970"/>
            <a:ext cx="1260000" cy="1260000"/>
          </a:xfrm>
          <a:prstGeom prst="ellipse">
            <a:avLst/>
          </a:prstGeom>
        </p:spPr>
      </p:pic>
      <p:pic>
        <p:nvPicPr>
          <p:cNvPr id="12" name="Picture Placeholder 58">
            <a:extLst>
              <a:ext uri="{FF2B5EF4-FFF2-40B4-BE49-F238E27FC236}">
                <a16:creationId xmlns:a16="http://schemas.microsoft.com/office/drawing/2014/main" id="{10F68E81-0836-067D-8A71-EF011994C00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059910" y="3893922"/>
            <a:ext cx="1260000" cy="1260000"/>
          </a:xfrm>
          <a:prstGeom prst="ellipse">
            <a:avLst/>
          </a:prstGeom>
        </p:spPr>
      </p:pic>
      <p:pic>
        <p:nvPicPr>
          <p:cNvPr id="13" name="Picture Placeholder 62">
            <a:extLst>
              <a:ext uri="{FF2B5EF4-FFF2-40B4-BE49-F238E27FC236}">
                <a16:creationId xmlns:a16="http://schemas.microsoft.com/office/drawing/2014/main" id="{408F55A1-EBC5-478E-3C06-069CB4E257E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578891" y="3893922"/>
            <a:ext cx="1260000" cy="1260000"/>
          </a:xfrm>
          <a:prstGeom prst="ellipse">
            <a:avLst/>
          </a:prstGeom>
        </p:spPr>
      </p:pic>
      <p:pic>
        <p:nvPicPr>
          <p:cNvPr id="14" name="Picture 14" descr="A blue square with black letters&#10;&#10;AI-generated content may be incorrect.">
            <a:hlinkClick r:id="rId6"/>
            <a:extLst>
              <a:ext uri="{FF2B5EF4-FFF2-40B4-BE49-F238E27FC236}">
                <a16:creationId xmlns:a16="http://schemas.microsoft.com/office/drawing/2014/main" id="{C21B0E02-0C4D-DFAD-4AA6-49FE0791296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379" r="21037"/>
          <a:stretch>
            <a:fillRect/>
          </a:stretch>
        </p:blipFill>
        <p:spPr>
          <a:xfrm>
            <a:off x="7133176" y="2951780"/>
            <a:ext cx="174856" cy="167889"/>
          </a:xfrm>
          <a:prstGeom prst="rect">
            <a:avLst/>
          </a:prstGeom>
        </p:spPr>
      </p:pic>
      <p:pic>
        <p:nvPicPr>
          <p:cNvPr id="15" name="Picture 15" descr="A blue square with black letters&#10;&#10;AI-generated content may be incorrect.">
            <a:hlinkClick r:id="rId8"/>
            <a:extLst>
              <a:ext uri="{FF2B5EF4-FFF2-40B4-BE49-F238E27FC236}">
                <a16:creationId xmlns:a16="http://schemas.microsoft.com/office/drawing/2014/main" id="{E7F3A4FC-06CB-160F-350E-C0836D585D9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379" r="21037"/>
          <a:stretch>
            <a:fillRect/>
          </a:stretch>
        </p:blipFill>
        <p:spPr>
          <a:xfrm>
            <a:off x="4424210" y="5332694"/>
            <a:ext cx="174856" cy="167889"/>
          </a:xfrm>
          <a:prstGeom prst="rect">
            <a:avLst/>
          </a:prstGeom>
        </p:spPr>
      </p:pic>
      <p:pic>
        <p:nvPicPr>
          <p:cNvPr id="16" name="Picture 16" descr="A blue square with black letters&#10;&#10;AI-generated content may be incorrect.">
            <a:hlinkClick r:id="rId9"/>
            <a:extLst>
              <a:ext uri="{FF2B5EF4-FFF2-40B4-BE49-F238E27FC236}">
                <a16:creationId xmlns:a16="http://schemas.microsoft.com/office/drawing/2014/main" id="{23E229C5-B4AC-DCD1-6FBB-980FA471C2E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379" r="21037"/>
          <a:stretch>
            <a:fillRect/>
          </a:stretch>
        </p:blipFill>
        <p:spPr>
          <a:xfrm>
            <a:off x="7059910" y="5332400"/>
            <a:ext cx="174856" cy="167889"/>
          </a:xfrm>
          <a:prstGeom prst="rect">
            <a:avLst/>
          </a:prstGeom>
        </p:spPr>
      </p:pic>
      <p:pic>
        <p:nvPicPr>
          <p:cNvPr id="17" name="Picture 17" descr="A blue square with black letters&#10;&#10;AI-generated content may be incorrect.">
            <a:hlinkClick r:id="rId10"/>
            <a:extLst>
              <a:ext uri="{FF2B5EF4-FFF2-40B4-BE49-F238E27FC236}">
                <a16:creationId xmlns:a16="http://schemas.microsoft.com/office/drawing/2014/main" id="{D36C68A5-EA43-95BD-66CA-3672A10A131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379" r="21037"/>
          <a:stretch>
            <a:fillRect/>
          </a:stretch>
        </p:blipFill>
        <p:spPr>
          <a:xfrm>
            <a:off x="9475976" y="2951780"/>
            <a:ext cx="174856" cy="167889"/>
          </a:xfrm>
          <a:prstGeom prst="rect">
            <a:avLst/>
          </a:prstGeom>
        </p:spPr>
      </p:pic>
      <p:pic>
        <p:nvPicPr>
          <p:cNvPr id="18" name="Picture Placeholder 5" descr="A person in a suit&#10;&#10;AI-generated content may be incorrect.">
            <a:extLst>
              <a:ext uri="{FF2B5EF4-FFF2-40B4-BE49-F238E27FC236}">
                <a16:creationId xmlns:a16="http://schemas.microsoft.com/office/drawing/2014/main" id="{CA27CE4E-5D0B-0E38-9D1D-DFDD318C29B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44" r="44"/>
          <a:stretch>
            <a:fillRect/>
          </a:stretch>
        </p:blipFill>
        <p:spPr>
          <a:xfrm>
            <a:off x="9540929" y="1509970"/>
            <a:ext cx="1260000" cy="1260000"/>
          </a:xfrm>
          <a:prstGeom prst="ellipse">
            <a:avLst/>
          </a:prstGeom>
        </p:spPr>
      </p:pic>
      <p:pic>
        <p:nvPicPr>
          <p:cNvPr id="19" name="Picture 21" descr="A blue square with black letters&#10;&#10;AI-generated content may be incorrect.">
            <a:hlinkClick r:id="rId12"/>
            <a:extLst>
              <a:ext uri="{FF2B5EF4-FFF2-40B4-BE49-F238E27FC236}">
                <a16:creationId xmlns:a16="http://schemas.microsoft.com/office/drawing/2014/main" id="{77E2F4C7-738C-2B5E-ED00-7237A419EDC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379" r="21037"/>
          <a:stretch>
            <a:fillRect/>
          </a:stretch>
        </p:blipFill>
        <p:spPr>
          <a:xfrm>
            <a:off x="4434531" y="2946928"/>
            <a:ext cx="174856" cy="167889"/>
          </a:xfrm>
          <a:prstGeom prst="rect">
            <a:avLst/>
          </a:prstGeom>
        </p:spPr>
      </p:pic>
      <p:sp>
        <p:nvSpPr>
          <p:cNvPr id="20" name="TextBox 22">
            <a:extLst>
              <a:ext uri="{FF2B5EF4-FFF2-40B4-BE49-F238E27FC236}">
                <a16:creationId xmlns:a16="http://schemas.microsoft.com/office/drawing/2014/main" id="{C12A213D-8FD4-58C3-5BA7-9FA360DEBC52}"/>
              </a:ext>
            </a:extLst>
          </p:cNvPr>
          <p:cNvSpPr txBox="1"/>
          <p:nvPr/>
        </p:nvSpPr>
        <p:spPr>
          <a:xfrm>
            <a:off x="4086438" y="3141784"/>
            <a:ext cx="234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10+ years sales experience </a:t>
            </a:r>
            <a:b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 B2B IoT platforms.</a:t>
            </a:r>
          </a:p>
        </p:txBody>
      </p:sp>
      <p:sp>
        <p:nvSpPr>
          <p:cNvPr id="21" name="TextBox 23">
            <a:extLst>
              <a:ext uri="{FF2B5EF4-FFF2-40B4-BE49-F238E27FC236}">
                <a16:creationId xmlns:a16="http://schemas.microsoft.com/office/drawing/2014/main" id="{1BBDA2EA-344F-847B-46CA-54D29737C997}"/>
              </a:ext>
            </a:extLst>
          </p:cNvPr>
          <p:cNvSpPr txBox="1"/>
          <p:nvPr/>
        </p:nvSpPr>
        <p:spPr>
          <a:xfrm>
            <a:off x="6631978" y="3141784"/>
            <a:ext cx="234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50+ reps coached in value-selling</a:t>
            </a:r>
            <a:b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for B2B tech.</a:t>
            </a:r>
          </a:p>
        </p:txBody>
      </p:sp>
      <p:sp>
        <p:nvSpPr>
          <p:cNvPr id="22" name="TextBox 24">
            <a:extLst>
              <a:ext uri="{FF2B5EF4-FFF2-40B4-BE49-F238E27FC236}">
                <a16:creationId xmlns:a16="http://schemas.microsoft.com/office/drawing/2014/main" id="{8824A74E-1174-F98F-7095-7963169F97C8}"/>
              </a:ext>
            </a:extLst>
          </p:cNvPr>
          <p:cNvSpPr txBox="1"/>
          <p:nvPr/>
        </p:nvSpPr>
        <p:spPr>
          <a:xfrm>
            <a:off x="9128147" y="3141784"/>
            <a:ext cx="234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40+ years in B2B sales </a:t>
            </a:r>
            <a:b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and marketing leadership.</a:t>
            </a:r>
          </a:p>
        </p:txBody>
      </p:sp>
      <p:sp>
        <p:nvSpPr>
          <p:cNvPr id="23" name="TextBox 25">
            <a:extLst>
              <a:ext uri="{FF2B5EF4-FFF2-40B4-BE49-F238E27FC236}">
                <a16:creationId xmlns:a16="http://schemas.microsoft.com/office/drawing/2014/main" id="{DE37A8AC-B24A-73CF-2D6D-667DAEF38223}"/>
              </a:ext>
            </a:extLst>
          </p:cNvPr>
          <p:cNvSpPr txBox="1"/>
          <p:nvPr/>
        </p:nvSpPr>
        <p:spPr>
          <a:xfrm>
            <a:off x="4086438" y="5537927"/>
            <a:ext cx="234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10+ years experience in</a:t>
            </a:r>
            <a:b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building B2B software.</a:t>
            </a:r>
          </a:p>
        </p:txBody>
      </p:sp>
      <p:sp>
        <p:nvSpPr>
          <p:cNvPr id="24" name="TextBox 26">
            <a:extLst>
              <a:ext uri="{FF2B5EF4-FFF2-40B4-BE49-F238E27FC236}">
                <a16:creationId xmlns:a16="http://schemas.microsoft.com/office/drawing/2014/main" id="{E34E111C-792A-971A-7799-982753074F6A}"/>
              </a:ext>
            </a:extLst>
          </p:cNvPr>
          <p:cNvSpPr txBox="1"/>
          <p:nvPr/>
        </p:nvSpPr>
        <p:spPr>
          <a:xfrm>
            <a:off x="6631978" y="5537633"/>
            <a:ext cx="234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Scaled three tech startups </a:t>
            </a:r>
            <a:b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based on AI agents.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5130CF8-3356-C936-2AC7-D437762B4385}"/>
              </a:ext>
            </a:extLst>
          </p:cNvPr>
          <p:cNvSpPr txBox="1">
            <a:spLocks/>
          </p:cNvSpPr>
          <p:nvPr/>
        </p:nvSpPr>
        <p:spPr>
          <a:xfrm>
            <a:off x="419100" y="1781978"/>
            <a:ext cx="3329264" cy="128983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70+ years of B2B tech sales and marketing experience in SMB and Enterprise.</a:t>
            </a:r>
          </a:p>
        </p:txBody>
      </p:sp>
      <p:sp>
        <p:nvSpPr>
          <p:cNvPr id="36" name="Title 18">
            <a:extLst>
              <a:ext uri="{FF2B5EF4-FFF2-40B4-BE49-F238E27FC236}">
                <a16:creationId xmlns:a16="http://schemas.microsoft.com/office/drawing/2014/main" id="{B42494BB-E59E-F2C8-00DE-0305F9D7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171" y="483267"/>
            <a:ext cx="5193203" cy="569246"/>
          </a:xfrm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n-US" sz="4397" b="0" dirty="0">
                <a:solidFill>
                  <a:srgbClr val="01134A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Value Accelerator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A3A7E8EF-7B2A-45D8-7591-A07DAF225D83}"/>
              </a:ext>
            </a:extLst>
          </p:cNvPr>
          <p:cNvSpPr txBox="1">
            <a:spLocks/>
          </p:cNvSpPr>
          <p:nvPr/>
        </p:nvSpPr>
        <p:spPr>
          <a:xfrm>
            <a:off x="407988" y="1078052"/>
            <a:ext cx="3430732" cy="6463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399" b="0" i="0" kern="120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Built by People 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Who've Done the Job.</a:t>
            </a:r>
          </a:p>
        </p:txBody>
      </p:sp>
      <p:sp>
        <p:nvSpPr>
          <p:cNvPr id="31" name="Rechteck 6">
            <a:extLst>
              <a:ext uri="{FF2B5EF4-FFF2-40B4-BE49-F238E27FC236}">
                <a16:creationId xmlns:a16="http://schemas.microsoft.com/office/drawing/2014/main" id="{24279BCA-74CB-D394-1C8C-E33AEED15343}"/>
              </a:ext>
            </a:extLst>
          </p:cNvPr>
          <p:cNvSpPr/>
          <p:nvPr/>
        </p:nvSpPr>
        <p:spPr>
          <a:xfrm>
            <a:off x="407989" y="4120609"/>
            <a:ext cx="3091350" cy="17432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Value Accelerator GmbH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Grabenstrasse 11b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6340 Baar, Switzerland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E-Mail: info@value-accelerator.io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Website: </a:t>
            </a:r>
            <a:r>
              <a:rPr kumimoji="0" 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www.value-accelerator.io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1334323"/>
      </p:ext>
    </p:extLst>
  </p:cSld>
  <p:clrMapOvr>
    <a:masterClrMapping/>
  </p:clrMapOvr>
</p:sld>
</file>

<file path=ppt/theme/theme1.xml><?xml version="1.0" encoding="utf-8"?>
<a:theme xmlns:a="http://schemas.openxmlformats.org/drawingml/2006/main" name="VA_Corporate ID_V1">
  <a:themeElements>
    <a:clrScheme name="Custom 4">
      <a:dk1>
        <a:srgbClr val="000000"/>
      </a:dk1>
      <a:lt1>
        <a:srgbClr val="FFFFFF"/>
      </a:lt1>
      <a:dk2>
        <a:srgbClr val="5A5A5A"/>
      </a:dk2>
      <a:lt2>
        <a:srgbClr val="E5EAF8"/>
      </a:lt2>
      <a:accent1>
        <a:srgbClr val="0030BC"/>
      </a:accent1>
      <a:accent2>
        <a:srgbClr val="CE3644"/>
      </a:accent2>
      <a:accent3>
        <a:srgbClr val="DB6100"/>
      </a:accent3>
      <a:accent4>
        <a:srgbClr val="E1CC09"/>
      </a:accent4>
      <a:accent5>
        <a:srgbClr val="319970"/>
      </a:accent5>
      <a:accent6>
        <a:srgbClr val="AA00FF"/>
      </a:accent6>
      <a:hlink>
        <a:srgbClr val="2CB786"/>
      </a:hlink>
      <a:folHlink>
        <a:srgbClr val="39393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</TotalTime>
  <Words>3051</Words>
  <Application>Microsoft Office PowerPoint</Application>
  <PresentationFormat>Widescreen</PresentationFormat>
  <Paragraphs>371</Paragraphs>
  <Slides>13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14" baseType="lpstr">
      <vt:lpstr>VA_Corporate ID_V1</vt:lpstr>
      <vt:lpstr>{{customer_name}} Sales Assessment Report</vt:lpstr>
      <vt:lpstr>ASSESSMENT SCOPE SUMMARY</vt:lpstr>
      <vt:lpstr>SWOT ANALYSIS</vt:lpstr>
      <vt:lpstr>SALES DEEP DIVE</vt:lpstr>
      <vt:lpstr>MARKETING DEEP DIVE</vt:lpstr>
      <vt:lpstr>PRODUCT DEEP DIVE</vt:lpstr>
      <vt:lpstr>STRATEGY DEEP DIVE</vt:lpstr>
      <vt:lpstr>RECOMMENDED PATH FORWARD</vt:lpstr>
      <vt:lpstr>GO / NO-GO RECOMMENDATION</vt:lpstr>
      <vt:lpstr>APPENDIX A Interviewee List </vt:lpstr>
      <vt:lpstr>APPENDIX B Suggested Workshop Participants For Phase 2</vt:lpstr>
      <vt:lpstr>APPENDIX C Documents Reviewed</vt:lpstr>
      <vt:lpstr>Value Accelerator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Okoli</dc:creator>
  <cp:lastModifiedBy>Stefano Silvani</cp:lastModifiedBy>
  <cp:revision>11</cp:revision>
  <dcterms:created xsi:type="dcterms:W3CDTF">2024-12-31T12:47:57Z</dcterms:created>
  <dcterms:modified xsi:type="dcterms:W3CDTF">2026-04-29T09:58:12Z</dcterms:modified>
</cp:coreProperties>
</file>