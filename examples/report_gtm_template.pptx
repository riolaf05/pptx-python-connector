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1" r:id="rId2"/>
  </p:sldMasterIdLst>
  <p:sldIdLst>
    <p:sldId id="1324" r:id="rId3"/>
    <p:sldId id="1805" r:id="rId4"/>
    <p:sldId id="1806" r:id="rId5"/>
    <p:sldId id="1807" r:id="rId6"/>
    <p:sldId id="1808" r:id="rId7"/>
    <p:sldId id="1810" r:id="rId8"/>
    <p:sldId id="1811" r:id="rId9"/>
    <p:sldId id="1815" r:id="rId10"/>
    <p:sldId id="1816" r:id="rId11"/>
    <p:sldId id="1817" r:id="rId12"/>
    <p:sldId id="1818" r:id="rId13"/>
    <p:sldId id="1819" r:id="rId14"/>
    <p:sldId id="1820" r:id="rId15"/>
    <p:sldId id="1821" r:id="rId16"/>
    <p:sldId id="1822" r:id="rId17"/>
    <p:sldId id="1823" r:id="rId18"/>
    <p:sldId id="1824" r:id="rId19"/>
    <p:sldId id="1804" r:id="rId20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DD24ED-4B33-B149-A835-7253A2CC990E}" v="73" dt="2026-03-29T12:16:51.7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86"/>
    <p:restoredTop sz="96949"/>
  </p:normalViewPr>
  <p:slideViewPr>
    <p:cSldViewPr snapToGrid="0">
      <p:cViewPr varScale="1">
        <p:scale>
          <a:sx n="115" d="100"/>
          <a:sy n="115" d="100"/>
        </p:scale>
        <p:origin x="216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Page_with pic_blue">
    <p:bg>
      <p:bgPr>
        <a:solidFill>
          <a:srgbClr val="0030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5026E-4392-D81E-8EC8-EED37CF0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268915"/>
            <a:ext cx="5724525" cy="589086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© Value </a:t>
            </a:r>
            <a:r>
              <a:rPr lang="de-DE" err="1"/>
              <a:t>Accelerator</a:t>
            </a:r>
            <a:r>
              <a:rPr lang="de-DE"/>
              <a:t> GmbH | </a:t>
            </a:r>
            <a:r>
              <a:rPr lang="de-DE" err="1"/>
              <a:t>Address</a:t>
            </a:r>
            <a:r>
              <a:rPr lang="de-DE"/>
              <a:t> | YYYY-MM-DD</a:t>
            </a:r>
            <a:endParaRPr lang="de-AT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37A7429D-B533-6FEF-0A67-E7E33DD50B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36950"/>
          </a:xfrm>
          <a:solidFill>
            <a:schemeClr val="bg2"/>
          </a:solidFill>
        </p:spPr>
        <p:txBody>
          <a:bodyPr/>
          <a:lstStyle/>
          <a:p>
            <a:endParaRPr lang="de-AT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725130"/>
            <a:ext cx="11412538" cy="14760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Header Page with </a:t>
            </a:r>
            <a:r>
              <a:rPr lang="de-DE" err="1"/>
              <a:t>picture</a:t>
            </a:r>
            <a:br>
              <a:rPr lang="de-DE"/>
            </a:br>
            <a:r>
              <a:rPr lang="de-DE"/>
              <a:t>48pt</a:t>
            </a:r>
            <a:endParaRPr lang="de-AT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8629" y="6030058"/>
            <a:ext cx="2649602" cy="720000"/>
          </a:xfrm>
          <a:prstGeom prst="rect">
            <a:avLst/>
          </a:prstGeom>
        </p:spPr>
      </p:pic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EE5363F0-145A-E4D6-4469-AA2F913129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5201129"/>
            <a:ext cx="11412538" cy="964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Subheader </a:t>
            </a:r>
            <a:r>
              <a:rPr lang="de-DE" err="1"/>
              <a:t>line</a:t>
            </a:r>
            <a:r>
              <a:rPr lang="de-DE"/>
              <a:t> 18pt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5882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Page_with pic_blue">
    <p:bg>
      <p:bgPr>
        <a:solidFill>
          <a:srgbClr val="001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5026E-4392-D81E-8EC8-EED37CF0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268915"/>
            <a:ext cx="5724525" cy="589086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© Value </a:t>
            </a:r>
            <a:r>
              <a:rPr lang="de-DE" err="1"/>
              <a:t>Accelerator</a:t>
            </a:r>
            <a:r>
              <a:rPr lang="de-DE"/>
              <a:t> GmbH | </a:t>
            </a:r>
            <a:r>
              <a:rPr lang="de-DE" err="1"/>
              <a:t>Address</a:t>
            </a:r>
            <a:r>
              <a:rPr lang="de-DE"/>
              <a:t> | YYYY-MM-DD</a:t>
            </a:r>
            <a:endParaRPr lang="de-AT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37A7429D-B533-6FEF-0A67-E7E33DD50B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36950"/>
          </a:xfrm>
          <a:solidFill>
            <a:schemeClr val="bg2"/>
          </a:solidFill>
        </p:spPr>
        <p:txBody>
          <a:bodyPr/>
          <a:lstStyle/>
          <a:p>
            <a:endParaRPr lang="de-AT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725130"/>
            <a:ext cx="11412538" cy="14760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Header Page with </a:t>
            </a:r>
            <a:r>
              <a:rPr lang="de-DE" err="1"/>
              <a:t>picture</a:t>
            </a:r>
            <a:br>
              <a:rPr lang="de-DE"/>
            </a:br>
            <a:r>
              <a:rPr lang="de-DE"/>
              <a:t>48pt</a:t>
            </a:r>
            <a:endParaRPr lang="de-AT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8629" y="6030058"/>
            <a:ext cx="2649602" cy="720000"/>
          </a:xfrm>
          <a:prstGeom prst="rect">
            <a:avLst/>
          </a:prstGeom>
        </p:spPr>
      </p:pic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EE5363F0-145A-E4D6-4469-AA2F913129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5201129"/>
            <a:ext cx="11412538" cy="964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Subheader </a:t>
            </a:r>
            <a:r>
              <a:rPr lang="de-DE" err="1"/>
              <a:t>line</a:t>
            </a:r>
            <a:r>
              <a:rPr lang="de-DE"/>
              <a:t> 18pt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45409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Page_with pic_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5026E-4392-D81E-8EC8-EED37CF0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268915"/>
            <a:ext cx="5724525" cy="589086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37A7429D-B533-6FEF-0A67-E7E33DD50B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36950"/>
          </a:xfrm>
          <a:solidFill>
            <a:schemeClr val="bg2"/>
          </a:solidFill>
        </p:spPr>
        <p:txBody>
          <a:bodyPr/>
          <a:lstStyle/>
          <a:p>
            <a:endParaRPr lang="de-AT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725130"/>
            <a:ext cx="11412538" cy="14760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de-DE"/>
              <a:t>Header Page with </a:t>
            </a:r>
            <a:r>
              <a:rPr lang="de-DE" err="1"/>
              <a:t>picture</a:t>
            </a:r>
            <a:br>
              <a:rPr lang="de-DE"/>
            </a:br>
            <a:r>
              <a:rPr lang="de-DE"/>
              <a:t>48pt</a:t>
            </a:r>
            <a:endParaRPr lang="de-AT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8629" y="6030058"/>
            <a:ext cx="2649602" cy="720000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AFAE5A-6176-E11F-2285-A16D838FB60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5201129"/>
            <a:ext cx="11412538" cy="964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Subheader </a:t>
            </a:r>
            <a:r>
              <a:rPr lang="de-DE" err="1"/>
              <a:t>line</a:t>
            </a:r>
            <a:r>
              <a:rPr lang="de-DE"/>
              <a:t> 18pt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09827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Page_with logo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5026E-4392-D81E-8EC8-EED37CF0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268915"/>
            <a:ext cx="5724525" cy="589086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© Value </a:t>
            </a:r>
            <a:r>
              <a:rPr lang="de-DE" err="1"/>
              <a:t>Accelerator</a:t>
            </a:r>
            <a:r>
              <a:rPr lang="de-DE"/>
              <a:t> GmbH | </a:t>
            </a:r>
            <a:r>
              <a:rPr lang="de-DE" err="1"/>
              <a:t>Address</a:t>
            </a:r>
            <a:r>
              <a:rPr lang="de-DE"/>
              <a:t> | YYYY-MM-DD</a:t>
            </a:r>
            <a:endParaRPr lang="de-AT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725130"/>
            <a:ext cx="11412538" cy="14760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Header Page with logo </a:t>
            </a:r>
            <a:br>
              <a:rPr lang="de-DE"/>
            </a:br>
            <a:r>
              <a:rPr lang="de-DE"/>
              <a:t>48pt</a:t>
            </a:r>
            <a:endParaRPr lang="de-AT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208" y="430823"/>
            <a:ext cx="11412000" cy="3101085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CF1AA37-C943-F3F6-BA00-FA2E273748E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5201130"/>
            <a:ext cx="11412538" cy="964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Subheader </a:t>
            </a:r>
            <a:r>
              <a:rPr lang="de-DE" err="1"/>
              <a:t>line</a:t>
            </a:r>
            <a:r>
              <a:rPr lang="de-DE"/>
              <a:t> 18pt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32790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Page_with logo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5026E-4392-D81E-8EC8-EED37CF0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268915"/>
            <a:ext cx="5724525" cy="589086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© Value </a:t>
            </a:r>
            <a:r>
              <a:rPr lang="de-DE" err="1"/>
              <a:t>Accelerator</a:t>
            </a:r>
            <a:r>
              <a:rPr lang="de-DE"/>
              <a:t> GmbH | </a:t>
            </a:r>
            <a:r>
              <a:rPr lang="de-DE" err="1"/>
              <a:t>Address</a:t>
            </a:r>
            <a:r>
              <a:rPr lang="de-DE"/>
              <a:t> | YYYY-MM-DD</a:t>
            </a:r>
            <a:endParaRPr lang="de-AT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725130"/>
            <a:ext cx="11412538" cy="14760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de-DE"/>
              <a:t>Header Page with logo </a:t>
            </a:r>
            <a:br>
              <a:rPr lang="de-DE"/>
            </a:br>
            <a:r>
              <a:rPr lang="de-DE"/>
              <a:t>48pt</a:t>
            </a:r>
            <a:endParaRPr lang="de-AT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208" y="430823"/>
            <a:ext cx="11412000" cy="3101085"/>
          </a:xfrm>
          <a:prstGeom prst="rect">
            <a:avLst/>
          </a:prstGeom>
        </p:spPr>
      </p:pic>
      <p:sp>
        <p:nvSpPr>
          <p:cNvPr id="2" name="Textplatzhalter 2">
            <a:extLst>
              <a:ext uri="{FF2B5EF4-FFF2-40B4-BE49-F238E27FC236}">
                <a16:creationId xmlns:a16="http://schemas.microsoft.com/office/drawing/2014/main" id="{13EEFDE1-6E9E-1D71-521E-7107B5137CC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5201130"/>
            <a:ext cx="11412538" cy="964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Subheader </a:t>
            </a:r>
            <a:r>
              <a:rPr lang="de-DE" err="1"/>
              <a:t>line</a:t>
            </a:r>
            <a:r>
              <a:rPr lang="de-DE"/>
              <a:t> 18pt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31374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Page_with logo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5026E-4392-D81E-8EC8-EED37CF0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268915"/>
            <a:ext cx="5724525" cy="589086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725130"/>
            <a:ext cx="11412538" cy="14760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de-DE"/>
              <a:t>Header Page with logo </a:t>
            </a:r>
            <a:br>
              <a:rPr lang="de-DE"/>
            </a:br>
            <a:r>
              <a:rPr lang="de-DE"/>
              <a:t>48pt</a:t>
            </a:r>
            <a:endParaRPr lang="de-AT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208" y="430823"/>
            <a:ext cx="11412000" cy="3101085"/>
          </a:xfrm>
          <a:prstGeom prst="rect">
            <a:avLst/>
          </a:prstGeom>
        </p:spPr>
      </p:pic>
      <p:sp>
        <p:nvSpPr>
          <p:cNvPr id="2" name="Textplatzhalter 2">
            <a:extLst>
              <a:ext uri="{FF2B5EF4-FFF2-40B4-BE49-F238E27FC236}">
                <a16:creationId xmlns:a16="http://schemas.microsoft.com/office/drawing/2014/main" id="{9822EDF2-8A09-71EA-D20C-D37CF23863F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5201130"/>
            <a:ext cx="11412538" cy="964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Subheader </a:t>
            </a:r>
            <a:r>
              <a:rPr lang="de-DE" err="1"/>
              <a:t>line</a:t>
            </a:r>
            <a:r>
              <a:rPr lang="de-DE"/>
              <a:t> 18pt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07008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Page_with logo_blue">
    <p:bg>
      <p:bgPr>
        <a:solidFill>
          <a:srgbClr val="001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5026E-4392-D81E-8EC8-EED37CF0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268915"/>
            <a:ext cx="5724525" cy="589086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© Value </a:t>
            </a:r>
            <a:r>
              <a:rPr lang="de-DE" err="1"/>
              <a:t>Accelerator</a:t>
            </a:r>
            <a:r>
              <a:rPr lang="de-DE"/>
              <a:t> GmbH | </a:t>
            </a:r>
            <a:r>
              <a:rPr lang="de-DE" err="1"/>
              <a:t>Address</a:t>
            </a:r>
            <a:r>
              <a:rPr lang="de-DE"/>
              <a:t> | YYYY-MM-DD</a:t>
            </a:r>
            <a:endParaRPr lang="de-AT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725130"/>
            <a:ext cx="11412538" cy="14760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Header Page with logo </a:t>
            </a:r>
            <a:br>
              <a:rPr lang="de-DE"/>
            </a:br>
            <a:r>
              <a:rPr lang="de-DE"/>
              <a:t>48pt</a:t>
            </a:r>
            <a:endParaRPr lang="de-AT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208" y="430823"/>
            <a:ext cx="11412000" cy="3101085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CF1AA37-C943-F3F6-BA00-FA2E273748E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5201130"/>
            <a:ext cx="11412538" cy="964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Subheader </a:t>
            </a:r>
            <a:r>
              <a:rPr lang="de-DE" err="1"/>
              <a:t>line</a:t>
            </a:r>
            <a:r>
              <a:rPr lang="de-DE"/>
              <a:t> 18pt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19923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Page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1412875"/>
            <a:ext cx="11412538" cy="2772000"/>
          </a:xfrm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Slide,</a:t>
            </a:r>
            <a:br>
              <a:rPr lang="de-DE"/>
            </a:br>
            <a:r>
              <a:rPr lang="de-DE"/>
              <a:t>Title </a:t>
            </a:r>
            <a:r>
              <a:rPr lang="de-DE" err="1"/>
              <a:t>line</a:t>
            </a:r>
            <a:r>
              <a:rPr lang="de-DE"/>
              <a:t>,</a:t>
            </a:r>
            <a:br>
              <a:rPr lang="de-DE"/>
            </a:br>
            <a:r>
              <a:rPr lang="de-DE"/>
              <a:t>60pt</a:t>
            </a:r>
            <a:endParaRPr lang="de-AT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8629" y="6030058"/>
            <a:ext cx="2649602" cy="720000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8FBBF4-1EC5-FE80-A033-2D8200896C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4184874"/>
            <a:ext cx="11412538" cy="16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Subheader </a:t>
            </a:r>
            <a:r>
              <a:rPr lang="de-DE" err="1"/>
              <a:t>line</a:t>
            </a:r>
            <a:r>
              <a:rPr lang="de-DE"/>
              <a:t> 24pt</a:t>
            </a:r>
            <a:endParaRPr lang="de-AT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251EF7EC-D561-6EBA-2D81-D85F77C5C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10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/>
          </a:p>
        </p:txBody>
      </p:sp>
      <p:sp>
        <p:nvSpPr>
          <p:cNvPr id="7" name="Datumsplatzhalter 2">
            <a:extLst>
              <a:ext uri="{FF2B5EF4-FFF2-40B4-BE49-F238E27FC236}">
                <a16:creationId xmlns:a16="http://schemas.microsoft.com/office/drawing/2014/main" id="{359BBA35-3801-36D3-8622-CCC3992F26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895871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_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E44E60E7-8B3D-D89A-614E-8F07317123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4184874"/>
            <a:ext cx="11412538" cy="16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Subheader </a:t>
            </a:r>
            <a:r>
              <a:rPr lang="de-DE" err="1"/>
              <a:t>line</a:t>
            </a:r>
            <a:r>
              <a:rPr lang="de-DE"/>
              <a:t> 24pt</a:t>
            </a:r>
            <a:endParaRPr lang="de-AT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1412875"/>
            <a:ext cx="11412538" cy="2772000"/>
          </a:xfrm>
        </p:spPr>
        <p:txBody>
          <a:bodyPr anchor="t">
            <a:normAutofit/>
          </a:bodyPr>
          <a:lstStyle>
            <a:lvl1pPr algn="l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de-DE"/>
              <a:t>Chapter Slide,</a:t>
            </a:r>
            <a:br>
              <a:rPr lang="de-DE"/>
            </a:br>
            <a:r>
              <a:rPr lang="de-DE"/>
              <a:t>Title </a:t>
            </a:r>
            <a:r>
              <a:rPr lang="de-DE" err="1"/>
              <a:t>line</a:t>
            </a:r>
            <a:r>
              <a:rPr lang="de-DE"/>
              <a:t>,</a:t>
            </a:r>
            <a:br>
              <a:rPr lang="de-DE"/>
            </a:br>
            <a:r>
              <a:rPr lang="de-DE"/>
              <a:t>60pt</a:t>
            </a:r>
            <a:endParaRPr lang="de-AT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8629" y="6030058"/>
            <a:ext cx="2649602" cy="720000"/>
          </a:xfrm>
          <a:prstGeom prst="rect">
            <a:avLst/>
          </a:prstGeom>
        </p:spPr>
      </p:pic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89AE636F-5BBF-D776-3AC7-6DD8D061F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10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/>
          </a:p>
        </p:txBody>
      </p:sp>
      <p:sp>
        <p:nvSpPr>
          <p:cNvPr id="6" name="Datumsplatzhalter 2">
            <a:extLst>
              <a:ext uri="{FF2B5EF4-FFF2-40B4-BE49-F238E27FC236}">
                <a16:creationId xmlns:a16="http://schemas.microsoft.com/office/drawing/2014/main" id="{AF23422C-540E-52A4-04D4-A3FA0EAA2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53209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1412875"/>
            <a:ext cx="11412538" cy="2772000"/>
          </a:xfrm>
        </p:spPr>
        <p:txBody>
          <a:bodyPr anchor="t">
            <a:normAutofit/>
          </a:bodyPr>
          <a:lstStyle>
            <a:lvl1pPr algn="l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de-DE"/>
              <a:t>Chapter Slide,</a:t>
            </a:r>
            <a:br>
              <a:rPr lang="de-DE"/>
            </a:br>
            <a:r>
              <a:rPr lang="de-DE"/>
              <a:t>Title </a:t>
            </a:r>
            <a:r>
              <a:rPr lang="de-DE" err="1"/>
              <a:t>line</a:t>
            </a:r>
            <a:r>
              <a:rPr lang="de-DE"/>
              <a:t>,</a:t>
            </a:r>
            <a:br>
              <a:rPr lang="de-DE"/>
            </a:br>
            <a:r>
              <a:rPr lang="de-DE"/>
              <a:t>60pt</a:t>
            </a:r>
            <a:endParaRPr lang="de-AT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8629" y="6030058"/>
            <a:ext cx="2649602" cy="720000"/>
          </a:xfrm>
          <a:prstGeom prst="rect">
            <a:avLst/>
          </a:prstGeom>
        </p:spPr>
      </p:pic>
      <p:sp>
        <p:nvSpPr>
          <p:cNvPr id="2" name="Textplatzhalter 2">
            <a:extLst>
              <a:ext uri="{FF2B5EF4-FFF2-40B4-BE49-F238E27FC236}">
                <a16:creationId xmlns:a16="http://schemas.microsoft.com/office/drawing/2014/main" id="{C6D71FA2-511E-FDAA-9B59-D9DED97960C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4184874"/>
            <a:ext cx="11412538" cy="16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Subheader </a:t>
            </a:r>
            <a:r>
              <a:rPr lang="de-DE" err="1"/>
              <a:t>line</a:t>
            </a:r>
            <a:r>
              <a:rPr lang="de-DE"/>
              <a:t> 24pt</a:t>
            </a:r>
            <a:endParaRPr lang="de-AT"/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0D14840A-FCC3-7677-58BC-6A48C3A96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10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/>
          </a:p>
        </p:txBody>
      </p:sp>
      <p:sp>
        <p:nvSpPr>
          <p:cNvPr id="6" name="Datumsplatzhalter 2">
            <a:extLst>
              <a:ext uri="{FF2B5EF4-FFF2-40B4-BE49-F238E27FC236}">
                <a16:creationId xmlns:a16="http://schemas.microsoft.com/office/drawing/2014/main" id="{371DBDAF-9C33-F92D-A591-5D0DF8A325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985838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_blue">
    <p:bg>
      <p:bgPr>
        <a:solidFill>
          <a:srgbClr val="001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1412875"/>
            <a:ext cx="11412538" cy="2772000"/>
          </a:xfrm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Slide,</a:t>
            </a:r>
            <a:br>
              <a:rPr lang="de-DE"/>
            </a:br>
            <a:r>
              <a:rPr lang="de-DE"/>
              <a:t>Title </a:t>
            </a:r>
            <a:r>
              <a:rPr lang="de-DE" err="1"/>
              <a:t>line</a:t>
            </a:r>
            <a:r>
              <a:rPr lang="de-DE"/>
              <a:t>,</a:t>
            </a:r>
            <a:br>
              <a:rPr lang="de-DE"/>
            </a:br>
            <a:r>
              <a:rPr lang="de-DE"/>
              <a:t>60pt</a:t>
            </a:r>
            <a:endParaRPr lang="de-AT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8629" y="6030058"/>
            <a:ext cx="2649602" cy="720000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8FBBF4-1EC5-FE80-A033-2D8200896C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4184874"/>
            <a:ext cx="11412538" cy="16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Subheader </a:t>
            </a:r>
            <a:r>
              <a:rPr lang="de-DE" err="1"/>
              <a:t>line</a:t>
            </a:r>
            <a:r>
              <a:rPr lang="de-DE"/>
              <a:t> 24pt</a:t>
            </a:r>
            <a:endParaRPr lang="de-AT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251EF7EC-D561-6EBA-2D81-D85F77C5C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10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/>
          </a:p>
        </p:txBody>
      </p:sp>
      <p:sp>
        <p:nvSpPr>
          <p:cNvPr id="7" name="Datumsplatzhalter 2">
            <a:extLst>
              <a:ext uri="{FF2B5EF4-FFF2-40B4-BE49-F238E27FC236}">
                <a16:creationId xmlns:a16="http://schemas.microsoft.com/office/drawing/2014/main" id="{359BBA35-3801-36D3-8622-CCC3992F26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525625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block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de-DE"/>
              <a:t>Headline 20pt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45D87-BD20-E9BA-7CD5-09336307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174" y="6175375"/>
            <a:ext cx="1036799" cy="576000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12CC48E-79C9-FED9-2A7E-E43AC11F1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12538" cy="4789487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06418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lock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accent1"/>
                </a:solidFill>
              </a:defRPr>
            </a:lvl1pPr>
          </a:lstStyle>
          <a:p>
            <a:r>
              <a:rPr lang="de-DE"/>
              <a:t>Headline 20pt</a:t>
            </a:r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© Value </a:t>
            </a:r>
            <a:r>
              <a:rPr lang="de-DE" err="1"/>
              <a:t>Accelerator</a:t>
            </a:r>
            <a:r>
              <a:rPr lang="de-DE"/>
              <a:t> GmbH | </a:t>
            </a:r>
            <a:r>
              <a:rPr lang="de-DE" err="1"/>
              <a:t>Address</a:t>
            </a:r>
            <a:r>
              <a:rPr lang="de-DE"/>
              <a:t> | YYYY-MM-DD</a:t>
            </a:r>
            <a:endParaRPr lang="de-AT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174" y="6175375"/>
            <a:ext cx="1036799" cy="576000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12CC48E-79C9-FED9-2A7E-E43AC11F1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987" y="1376363"/>
            <a:ext cx="11412538" cy="4789487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400">
                <a:solidFill>
                  <a:schemeClr val="accent1"/>
                </a:solidFill>
              </a:defRPr>
            </a:lvl3pPr>
            <a:lvl4pPr>
              <a:defRPr sz="1200">
                <a:solidFill>
                  <a:schemeClr val="accent1"/>
                </a:solidFill>
              </a:defRPr>
            </a:lvl4pPr>
            <a:lvl5pPr>
              <a:defRPr sz="1000">
                <a:solidFill>
                  <a:schemeClr val="accent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 18pt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2">
            <a:extLst>
              <a:ext uri="{FF2B5EF4-FFF2-40B4-BE49-F238E27FC236}">
                <a16:creationId xmlns:a16="http://schemas.microsoft.com/office/drawing/2014/main" id="{EA34C94E-E038-C3E5-041D-07292B1BFE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7988" y="6267600"/>
            <a:ext cx="693012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0465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lock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accent1"/>
                </a:solidFill>
              </a:defRPr>
            </a:lvl1pPr>
          </a:lstStyle>
          <a:p>
            <a:r>
              <a:rPr lang="de-DE"/>
              <a:t>Headline 20pt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45D87-BD20-E9BA-7CD5-09336307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267600"/>
            <a:ext cx="720000" cy="5904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© Value Accelerator GmbH | Address | YYYY-MM-DD</a:t>
            </a:r>
            <a:endParaRPr lang="de-AT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174" y="6175375"/>
            <a:ext cx="1036799" cy="576000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12CC48E-79C9-FED9-2A7E-E43AC11F1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12538" cy="478948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9612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lock_blue">
    <p:bg>
      <p:bgPr>
        <a:solidFill>
          <a:srgbClr val="001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de-DE"/>
              <a:t>Headline 20pt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45D87-BD20-E9BA-7CD5-09336307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174" y="6175375"/>
            <a:ext cx="1036799" cy="576000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12CC48E-79C9-FED9-2A7E-E43AC11F1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12538" cy="4789487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78892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ree content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de-DE"/>
              <a:t>Headline 20pt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45D87-BD20-E9BA-7CD5-09336307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174" y="6175375"/>
            <a:ext cx="1036799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69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accent1"/>
                </a:solidFill>
              </a:defRPr>
            </a:lvl1pPr>
          </a:lstStyle>
          <a:p>
            <a:r>
              <a:rPr lang="de-DE"/>
              <a:t>Headline 20pt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45D87-BD20-E9BA-7CD5-09336307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267600"/>
            <a:ext cx="720000" cy="5904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© Value Accelerator GmbH | Address | YYYY-MM-DD</a:t>
            </a:r>
            <a:endParaRPr lang="de-AT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174" y="6175375"/>
            <a:ext cx="1036799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983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accent1"/>
                </a:solidFill>
              </a:defRPr>
            </a:lvl1pPr>
          </a:lstStyle>
          <a:p>
            <a:r>
              <a:rPr lang="de-DE"/>
              <a:t>Headline 20pt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45D87-BD20-E9BA-7CD5-09336307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267600"/>
            <a:ext cx="720000" cy="5904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© Value Accelerator GmbH | 2025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18875" y="6394348"/>
            <a:ext cx="606426" cy="33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179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_blue">
    <p:bg>
      <p:bgPr>
        <a:solidFill>
          <a:srgbClr val="001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de-DE"/>
              <a:t>Headline 20pt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45D87-BD20-E9BA-7CD5-09336307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174" y="6175375"/>
            <a:ext cx="1036799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547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84F0BB-9A36-0647-6580-BF5FBC57E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F40A79-CAA9-6729-8CE5-4B48BEE05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92D054-2475-7CB0-8F84-99D318C137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1475" y="6267600"/>
            <a:ext cx="720000" cy="5904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Page ‹Nr.›</a:t>
            </a:r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66CD80-E711-811A-295A-FF8442B81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1475" y="6267601"/>
            <a:ext cx="7061925" cy="590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Value Accelerator GmbH | Address | YYYY-MM-DD</a:t>
            </a:r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C00541-7997-DF8D-1EA2-E5C4A3388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E0CCFD-FD2C-44BF-8CDB-89610C49BCA0}" type="slidenum">
              <a:rPr lang="de-AT" smtClean="0"/>
              <a:t>‹N›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605344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Page_with pic_blue">
    <p:bg>
      <p:bgPr>
        <a:solidFill>
          <a:srgbClr val="0030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5026E-4392-D81E-8EC8-EED37CF0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268915"/>
            <a:ext cx="5724525" cy="589086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© Value </a:t>
            </a:r>
            <a:r>
              <a:rPr lang="de-DE" dirty="0" err="1"/>
              <a:t>Accelerator</a:t>
            </a:r>
            <a:r>
              <a:rPr lang="de-DE" dirty="0"/>
              <a:t> GmbH | </a:t>
            </a:r>
            <a:r>
              <a:rPr lang="de-DE" dirty="0" err="1"/>
              <a:t>Address</a:t>
            </a:r>
            <a:r>
              <a:rPr lang="de-DE" dirty="0"/>
              <a:t> | YYYY-MM-DD</a:t>
            </a:r>
            <a:endParaRPr lang="de-AT" dirty="0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37A7429D-B533-6FEF-0A67-E7E33DD50B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36950"/>
          </a:xfrm>
          <a:solidFill>
            <a:schemeClr val="bg2"/>
          </a:solidFill>
        </p:spPr>
        <p:txBody>
          <a:bodyPr/>
          <a:lstStyle/>
          <a:p>
            <a:endParaRPr lang="de-AT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725130"/>
            <a:ext cx="11412538" cy="14760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Header Page with </a:t>
            </a:r>
            <a:r>
              <a:rPr lang="de-DE" dirty="0" err="1"/>
              <a:t>picture</a:t>
            </a:r>
            <a:br>
              <a:rPr lang="de-DE" dirty="0"/>
            </a:br>
            <a:r>
              <a:rPr lang="de-DE" dirty="0"/>
              <a:t>48pt</a:t>
            </a:r>
            <a:endParaRPr lang="de-AT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8629" y="6030058"/>
            <a:ext cx="2649602" cy="720000"/>
          </a:xfrm>
          <a:prstGeom prst="rect">
            <a:avLst/>
          </a:prstGeom>
        </p:spPr>
      </p:pic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EE5363F0-145A-E4D6-4469-AA2F913129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5201129"/>
            <a:ext cx="11412538" cy="964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Subheader </a:t>
            </a:r>
            <a:r>
              <a:rPr lang="de-DE" dirty="0" err="1"/>
              <a:t>line</a:t>
            </a:r>
            <a:r>
              <a:rPr lang="de-DE" dirty="0"/>
              <a:t> 18pt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251522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Page_with pic_blue">
    <p:bg>
      <p:bgPr>
        <a:solidFill>
          <a:srgbClr val="001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5026E-4392-D81E-8EC8-EED37CF0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268915"/>
            <a:ext cx="5724525" cy="589086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© Value </a:t>
            </a:r>
            <a:r>
              <a:rPr lang="de-DE" dirty="0" err="1"/>
              <a:t>Accelerator</a:t>
            </a:r>
            <a:r>
              <a:rPr lang="de-DE" dirty="0"/>
              <a:t> GmbH | </a:t>
            </a:r>
            <a:r>
              <a:rPr lang="de-DE" dirty="0" err="1"/>
              <a:t>Address</a:t>
            </a:r>
            <a:r>
              <a:rPr lang="de-DE" dirty="0"/>
              <a:t> | YYYY-MM-DD</a:t>
            </a:r>
            <a:endParaRPr lang="de-AT" dirty="0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37A7429D-B533-6FEF-0A67-E7E33DD50B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36950"/>
          </a:xfrm>
          <a:solidFill>
            <a:schemeClr val="bg2"/>
          </a:solidFill>
        </p:spPr>
        <p:txBody>
          <a:bodyPr/>
          <a:lstStyle/>
          <a:p>
            <a:endParaRPr lang="de-AT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725130"/>
            <a:ext cx="11412538" cy="14760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Header Page with </a:t>
            </a:r>
            <a:r>
              <a:rPr lang="de-DE" dirty="0" err="1"/>
              <a:t>picture</a:t>
            </a:r>
            <a:br>
              <a:rPr lang="de-DE" dirty="0"/>
            </a:br>
            <a:r>
              <a:rPr lang="de-DE" dirty="0"/>
              <a:t>48pt</a:t>
            </a:r>
            <a:endParaRPr lang="de-AT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8629" y="6030058"/>
            <a:ext cx="2649602" cy="720000"/>
          </a:xfrm>
          <a:prstGeom prst="rect">
            <a:avLst/>
          </a:prstGeom>
        </p:spPr>
      </p:pic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EE5363F0-145A-E4D6-4469-AA2F913129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5201129"/>
            <a:ext cx="11412538" cy="964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Subheader </a:t>
            </a:r>
            <a:r>
              <a:rPr lang="de-DE" dirty="0" err="1"/>
              <a:t>line</a:t>
            </a:r>
            <a:r>
              <a:rPr lang="de-DE" dirty="0"/>
              <a:t> 18pt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225305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Page_with pic_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5026E-4392-D81E-8EC8-EED37CF0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268915"/>
            <a:ext cx="5724525" cy="589086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 dirty="0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37A7429D-B533-6FEF-0A67-E7E33DD50B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36950"/>
          </a:xfrm>
          <a:solidFill>
            <a:schemeClr val="bg2"/>
          </a:solidFill>
        </p:spPr>
        <p:txBody>
          <a:bodyPr/>
          <a:lstStyle/>
          <a:p>
            <a:endParaRPr lang="de-AT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725130"/>
            <a:ext cx="11412538" cy="14760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Header Page with </a:t>
            </a:r>
            <a:r>
              <a:rPr lang="de-DE" dirty="0" err="1"/>
              <a:t>picture</a:t>
            </a:r>
            <a:br>
              <a:rPr lang="de-DE" dirty="0"/>
            </a:br>
            <a:r>
              <a:rPr lang="de-DE" dirty="0"/>
              <a:t>48pt</a:t>
            </a:r>
            <a:endParaRPr lang="de-AT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8629" y="6030058"/>
            <a:ext cx="2649602" cy="720000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AFAE5A-6176-E11F-2285-A16D838FB60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5201129"/>
            <a:ext cx="11412538" cy="964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Subheader </a:t>
            </a:r>
            <a:r>
              <a:rPr lang="de-DE" dirty="0" err="1"/>
              <a:t>line</a:t>
            </a:r>
            <a:r>
              <a:rPr lang="de-DE" dirty="0"/>
              <a:t> 18pt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1909515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Page_with logo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5026E-4392-D81E-8EC8-EED37CF0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268915"/>
            <a:ext cx="5724525" cy="589086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© Value </a:t>
            </a:r>
            <a:r>
              <a:rPr lang="de-DE" dirty="0" err="1"/>
              <a:t>Accelerator</a:t>
            </a:r>
            <a:r>
              <a:rPr lang="de-DE" dirty="0"/>
              <a:t> GmbH | </a:t>
            </a:r>
            <a:r>
              <a:rPr lang="de-DE" dirty="0" err="1"/>
              <a:t>Address</a:t>
            </a:r>
            <a:r>
              <a:rPr lang="de-DE" dirty="0"/>
              <a:t> | YYYY-MM-DD</a:t>
            </a:r>
            <a:endParaRPr lang="de-AT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725130"/>
            <a:ext cx="11412538" cy="14760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Header Page with logo </a:t>
            </a:r>
            <a:br>
              <a:rPr lang="de-DE" dirty="0"/>
            </a:br>
            <a:r>
              <a:rPr lang="de-DE" dirty="0"/>
              <a:t>48pt</a:t>
            </a:r>
            <a:endParaRPr lang="de-AT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208" y="430823"/>
            <a:ext cx="11412000" cy="3101085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CF1AA37-C943-F3F6-BA00-FA2E273748E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5201130"/>
            <a:ext cx="11412538" cy="964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Subheader </a:t>
            </a:r>
            <a:r>
              <a:rPr lang="de-DE" dirty="0" err="1"/>
              <a:t>line</a:t>
            </a:r>
            <a:r>
              <a:rPr lang="de-DE" dirty="0"/>
              <a:t> 18pt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256924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Page_with logo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5026E-4392-D81E-8EC8-EED37CF0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268915"/>
            <a:ext cx="5724525" cy="589086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© Value </a:t>
            </a:r>
            <a:r>
              <a:rPr lang="de-DE" dirty="0" err="1"/>
              <a:t>Accelerator</a:t>
            </a:r>
            <a:r>
              <a:rPr lang="de-DE" dirty="0"/>
              <a:t> GmbH | </a:t>
            </a:r>
            <a:r>
              <a:rPr lang="de-DE" dirty="0" err="1"/>
              <a:t>Address</a:t>
            </a:r>
            <a:r>
              <a:rPr lang="de-DE" dirty="0"/>
              <a:t> | YYYY-MM-DD</a:t>
            </a:r>
            <a:endParaRPr lang="de-AT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725130"/>
            <a:ext cx="11412538" cy="14760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Header Page with logo </a:t>
            </a:r>
            <a:br>
              <a:rPr lang="de-DE" dirty="0"/>
            </a:br>
            <a:r>
              <a:rPr lang="de-DE" dirty="0"/>
              <a:t>48pt</a:t>
            </a:r>
            <a:endParaRPr lang="de-AT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208" y="430823"/>
            <a:ext cx="11412000" cy="3101085"/>
          </a:xfrm>
          <a:prstGeom prst="rect">
            <a:avLst/>
          </a:prstGeom>
        </p:spPr>
      </p:pic>
      <p:sp>
        <p:nvSpPr>
          <p:cNvPr id="2" name="Textplatzhalter 2">
            <a:extLst>
              <a:ext uri="{FF2B5EF4-FFF2-40B4-BE49-F238E27FC236}">
                <a16:creationId xmlns:a16="http://schemas.microsoft.com/office/drawing/2014/main" id="{13EEFDE1-6E9E-1D71-521E-7107B5137CC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5201130"/>
            <a:ext cx="11412538" cy="964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Subheader </a:t>
            </a:r>
            <a:r>
              <a:rPr lang="de-DE" dirty="0" err="1"/>
              <a:t>line</a:t>
            </a:r>
            <a:r>
              <a:rPr lang="de-DE" dirty="0"/>
              <a:t> 18pt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99906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Page_with logo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5026E-4392-D81E-8EC8-EED37CF0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268915"/>
            <a:ext cx="5724525" cy="589086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725130"/>
            <a:ext cx="11412538" cy="14760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Header Page with logo </a:t>
            </a:r>
            <a:br>
              <a:rPr lang="de-DE" dirty="0"/>
            </a:br>
            <a:r>
              <a:rPr lang="de-DE" dirty="0"/>
              <a:t>48pt</a:t>
            </a:r>
            <a:endParaRPr lang="de-AT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208" y="430823"/>
            <a:ext cx="11412000" cy="3101085"/>
          </a:xfrm>
          <a:prstGeom prst="rect">
            <a:avLst/>
          </a:prstGeom>
        </p:spPr>
      </p:pic>
      <p:sp>
        <p:nvSpPr>
          <p:cNvPr id="2" name="Textplatzhalter 2">
            <a:extLst>
              <a:ext uri="{FF2B5EF4-FFF2-40B4-BE49-F238E27FC236}">
                <a16:creationId xmlns:a16="http://schemas.microsoft.com/office/drawing/2014/main" id="{9822EDF2-8A09-71EA-D20C-D37CF23863F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5201130"/>
            <a:ext cx="11412538" cy="964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Subheader </a:t>
            </a:r>
            <a:r>
              <a:rPr lang="de-DE" dirty="0" err="1"/>
              <a:t>line</a:t>
            </a:r>
            <a:r>
              <a:rPr lang="de-DE" dirty="0"/>
              <a:t> 18pt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99760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Page_with logo_blue">
    <p:bg>
      <p:bgPr>
        <a:solidFill>
          <a:srgbClr val="001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5026E-4392-D81E-8EC8-EED37CF0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268915"/>
            <a:ext cx="5724525" cy="589086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© Value </a:t>
            </a:r>
            <a:r>
              <a:rPr lang="de-DE" dirty="0" err="1"/>
              <a:t>Accelerator</a:t>
            </a:r>
            <a:r>
              <a:rPr lang="de-DE" dirty="0"/>
              <a:t> GmbH | </a:t>
            </a:r>
            <a:r>
              <a:rPr lang="de-DE" dirty="0" err="1"/>
              <a:t>Address</a:t>
            </a:r>
            <a:r>
              <a:rPr lang="de-DE" dirty="0"/>
              <a:t> | YYYY-MM-DD</a:t>
            </a:r>
            <a:endParaRPr lang="de-AT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725130"/>
            <a:ext cx="11412538" cy="14760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Header Page with logo </a:t>
            </a:r>
            <a:br>
              <a:rPr lang="de-DE" dirty="0"/>
            </a:br>
            <a:r>
              <a:rPr lang="de-DE" dirty="0"/>
              <a:t>48pt</a:t>
            </a:r>
            <a:endParaRPr lang="de-AT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208" y="430823"/>
            <a:ext cx="11412000" cy="3101085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CF1AA37-C943-F3F6-BA00-FA2E273748E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5201130"/>
            <a:ext cx="11412538" cy="964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Subheader </a:t>
            </a:r>
            <a:r>
              <a:rPr lang="de-DE" dirty="0" err="1"/>
              <a:t>line</a:t>
            </a:r>
            <a:r>
              <a:rPr lang="de-DE" dirty="0"/>
              <a:t> 18pt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290824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Page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1412875"/>
            <a:ext cx="11412538" cy="2772000"/>
          </a:xfrm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Chapter Slide,</a:t>
            </a:r>
            <a:br>
              <a:rPr lang="de-DE" dirty="0"/>
            </a:br>
            <a:r>
              <a:rPr lang="de-DE" dirty="0"/>
              <a:t>Title </a:t>
            </a:r>
            <a:r>
              <a:rPr lang="de-DE" dirty="0" err="1"/>
              <a:t>line</a:t>
            </a:r>
            <a:r>
              <a:rPr lang="de-DE" dirty="0"/>
              <a:t>,</a:t>
            </a:r>
            <a:br>
              <a:rPr lang="de-DE" dirty="0"/>
            </a:br>
            <a:r>
              <a:rPr lang="de-DE" dirty="0"/>
              <a:t>60pt</a:t>
            </a:r>
            <a:endParaRPr lang="de-AT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8629" y="6030058"/>
            <a:ext cx="2649602" cy="720000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8FBBF4-1EC5-FE80-A033-2D8200896C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4184874"/>
            <a:ext cx="11412538" cy="16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Subheader </a:t>
            </a:r>
            <a:r>
              <a:rPr lang="de-DE" dirty="0" err="1"/>
              <a:t>line</a:t>
            </a:r>
            <a:r>
              <a:rPr lang="de-DE" dirty="0"/>
              <a:t> 24pt</a:t>
            </a:r>
            <a:endParaRPr lang="de-AT" dirty="0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251EF7EC-D561-6EBA-2D81-D85F77C5C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10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 dirty="0"/>
          </a:p>
        </p:txBody>
      </p:sp>
      <p:sp>
        <p:nvSpPr>
          <p:cNvPr id="7" name="Datumsplatzhalter 2">
            <a:extLst>
              <a:ext uri="{FF2B5EF4-FFF2-40B4-BE49-F238E27FC236}">
                <a16:creationId xmlns:a16="http://schemas.microsoft.com/office/drawing/2014/main" id="{359BBA35-3801-36D3-8622-CCC3992F26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370465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_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E44E60E7-8B3D-D89A-614E-8F07317123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4184874"/>
            <a:ext cx="11412538" cy="16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Subheader </a:t>
            </a:r>
            <a:r>
              <a:rPr lang="de-DE" dirty="0" err="1"/>
              <a:t>line</a:t>
            </a:r>
            <a:r>
              <a:rPr lang="de-DE" dirty="0"/>
              <a:t> 24pt</a:t>
            </a:r>
            <a:endParaRPr lang="de-AT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1412875"/>
            <a:ext cx="11412538" cy="2772000"/>
          </a:xfrm>
        </p:spPr>
        <p:txBody>
          <a:bodyPr anchor="t">
            <a:normAutofit/>
          </a:bodyPr>
          <a:lstStyle>
            <a:lvl1pPr algn="l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Chapter Slide,</a:t>
            </a:r>
            <a:br>
              <a:rPr lang="de-DE" dirty="0"/>
            </a:br>
            <a:r>
              <a:rPr lang="de-DE" dirty="0"/>
              <a:t>Title </a:t>
            </a:r>
            <a:r>
              <a:rPr lang="de-DE" dirty="0" err="1"/>
              <a:t>line</a:t>
            </a:r>
            <a:r>
              <a:rPr lang="de-DE" dirty="0"/>
              <a:t>,</a:t>
            </a:r>
            <a:br>
              <a:rPr lang="de-DE" dirty="0"/>
            </a:br>
            <a:r>
              <a:rPr lang="de-DE" dirty="0"/>
              <a:t>60pt</a:t>
            </a:r>
            <a:endParaRPr lang="de-AT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8629" y="6030058"/>
            <a:ext cx="2649602" cy="720000"/>
          </a:xfrm>
          <a:prstGeom prst="rect">
            <a:avLst/>
          </a:prstGeom>
        </p:spPr>
      </p:pic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89AE636F-5BBF-D776-3AC7-6DD8D061F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10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 dirty="0"/>
          </a:p>
        </p:txBody>
      </p:sp>
      <p:sp>
        <p:nvSpPr>
          <p:cNvPr id="6" name="Datumsplatzhalter 2">
            <a:extLst>
              <a:ext uri="{FF2B5EF4-FFF2-40B4-BE49-F238E27FC236}">
                <a16:creationId xmlns:a16="http://schemas.microsoft.com/office/drawing/2014/main" id="{AF23422C-540E-52A4-04D4-A3FA0EAA2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0438468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1412875"/>
            <a:ext cx="11412538" cy="2772000"/>
          </a:xfrm>
        </p:spPr>
        <p:txBody>
          <a:bodyPr anchor="t">
            <a:normAutofit/>
          </a:bodyPr>
          <a:lstStyle>
            <a:lvl1pPr algn="l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Chapter Slide,</a:t>
            </a:r>
            <a:br>
              <a:rPr lang="de-DE" dirty="0"/>
            </a:br>
            <a:r>
              <a:rPr lang="de-DE" dirty="0"/>
              <a:t>Title </a:t>
            </a:r>
            <a:r>
              <a:rPr lang="de-DE" dirty="0" err="1"/>
              <a:t>line</a:t>
            </a:r>
            <a:r>
              <a:rPr lang="de-DE" dirty="0"/>
              <a:t>,</a:t>
            </a:r>
            <a:br>
              <a:rPr lang="de-DE" dirty="0"/>
            </a:br>
            <a:r>
              <a:rPr lang="de-DE" dirty="0"/>
              <a:t>60pt</a:t>
            </a:r>
            <a:endParaRPr lang="de-AT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8629" y="6030058"/>
            <a:ext cx="2649602" cy="720000"/>
          </a:xfrm>
          <a:prstGeom prst="rect">
            <a:avLst/>
          </a:prstGeom>
        </p:spPr>
      </p:pic>
      <p:sp>
        <p:nvSpPr>
          <p:cNvPr id="2" name="Textplatzhalter 2">
            <a:extLst>
              <a:ext uri="{FF2B5EF4-FFF2-40B4-BE49-F238E27FC236}">
                <a16:creationId xmlns:a16="http://schemas.microsoft.com/office/drawing/2014/main" id="{C6D71FA2-511E-FDAA-9B59-D9DED97960C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4184874"/>
            <a:ext cx="11412538" cy="16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Subheader </a:t>
            </a:r>
            <a:r>
              <a:rPr lang="de-DE" dirty="0" err="1"/>
              <a:t>line</a:t>
            </a:r>
            <a:r>
              <a:rPr lang="de-DE" dirty="0"/>
              <a:t> 24pt</a:t>
            </a:r>
            <a:endParaRPr lang="de-AT" dirty="0"/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0D14840A-FCC3-7677-58BC-6A48C3A96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10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 dirty="0"/>
          </a:p>
        </p:txBody>
      </p:sp>
      <p:sp>
        <p:nvSpPr>
          <p:cNvPr id="6" name="Datumsplatzhalter 2">
            <a:extLst>
              <a:ext uri="{FF2B5EF4-FFF2-40B4-BE49-F238E27FC236}">
                <a16:creationId xmlns:a16="http://schemas.microsoft.com/office/drawing/2014/main" id="{371DBDAF-9C33-F92D-A591-5D0DF8A325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071755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_blue">
    <p:bg>
      <p:bgPr>
        <a:solidFill>
          <a:srgbClr val="001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1412875"/>
            <a:ext cx="11412538" cy="2772000"/>
          </a:xfrm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Chapter Slide,</a:t>
            </a:r>
            <a:br>
              <a:rPr lang="de-DE" dirty="0"/>
            </a:br>
            <a:r>
              <a:rPr lang="de-DE" dirty="0"/>
              <a:t>Title </a:t>
            </a:r>
            <a:r>
              <a:rPr lang="de-DE" dirty="0" err="1"/>
              <a:t>line</a:t>
            </a:r>
            <a:r>
              <a:rPr lang="de-DE" dirty="0"/>
              <a:t>,</a:t>
            </a:r>
            <a:br>
              <a:rPr lang="de-DE" dirty="0"/>
            </a:br>
            <a:r>
              <a:rPr lang="de-DE" dirty="0"/>
              <a:t>60pt</a:t>
            </a:r>
            <a:endParaRPr lang="de-AT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8629" y="6030058"/>
            <a:ext cx="2649602" cy="720000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8FBBF4-1EC5-FE80-A033-2D8200896C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4184874"/>
            <a:ext cx="11412538" cy="16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Subheader </a:t>
            </a:r>
            <a:r>
              <a:rPr lang="de-DE" dirty="0" err="1"/>
              <a:t>line</a:t>
            </a:r>
            <a:r>
              <a:rPr lang="de-DE" dirty="0"/>
              <a:t> 24pt</a:t>
            </a:r>
            <a:endParaRPr lang="de-AT" dirty="0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251EF7EC-D561-6EBA-2D81-D85F77C5C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10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© Value Accelerator GmbH</a:t>
            </a:r>
          </a:p>
        </p:txBody>
      </p:sp>
      <p:sp>
        <p:nvSpPr>
          <p:cNvPr id="7" name="Datumsplatzhalter 2">
            <a:extLst>
              <a:ext uri="{FF2B5EF4-FFF2-40B4-BE49-F238E27FC236}">
                <a16:creationId xmlns:a16="http://schemas.microsoft.com/office/drawing/2014/main" id="{359BBA35-3801-36D3-8622-CCC3992F26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04026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block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Headline 20pt</a:t>
            </a:r>
            <a:endParaRPr lang="de-AT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45D87-BD20-E9BA-7CD5-09336307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174" y="6175375"/>
            <a:ext cx="1036799" cy="576000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12CC48E-79C9-FED9-2A7E-E43AC11F1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12538" cy="4789487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994371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lock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Headline 20pt</a:t>
            </a:r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Value </a:t>
            </a:r>
            <a:r>
              <a:rPr lang="de-DE" dirty="0" err="1"/>
              <a:t>Accelerator</a:t>
            </a:r>
            <a:r>
              <a:rPr lang="de-DE" dirty="0"/>
              <a:t> GmbH | </a:t>
            </a:r>
            <a:r>
              <a:rPr lang="de-DE" dirty="0" err="1"/>
              <a:t>Address</a:t>
            </a:r>
            <a:r>
              <a:rPr lang="de-DE" dirty="0"/>
              <a:t> | YYYY-MM-DD</a:t>
            </a:r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174" y="6175375"/>
            <a:ext cx="1036799" cy="576000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12CC48E-79C9-FED9-2A7E-E43AC11F1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987" y="1376363"/>
            <a:ext cx="11412538" cy="4789487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400">
                <a:solidFill>
                  <a:schemeClr val="accent1"/>
                </a:solidFill>
              </a:defRPr>
            </a:lvl3pPr>
            <a:lvl4pPr>
              <a:defRPr sz="1200">
                <a:solidFill>
                  <a:schemeClr val="accent1"/>
                </a:solidFill>
              </a:defRPr>
            </a:lvl4pPr>
            <a:lvl5pPr>
              <a:defRPr sz="1000">
                <a:solidFill>
                  <a:schemeClr val="accent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 18pt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5" name="Datumsplatzhalter 2">
            <a:extLst>
              <a:ext uri="{FF2B5EF4-FFF2-40B4-BE49-F238E27FC236}">
                <a16:creationId xmlns:a16="http://schemas.microsoft.com/office/drawing/2014/main" id="{EA34C94E-E038-C3E5-041D-07292B1BFE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7988" y="6267600"/>
            <a:ext cx="693012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879090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lock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Headline 20pt</a:t>
            </a:r>
            <a:endParaRPr lang="de-AT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45D87-BD20-E9BA-7CD5-09336307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267600"/>
            <a:ext cx="720000" cy="5904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© Value Accelerator GmbH | Address | YYYY-MM-DD</a:t>
            </a:r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174" y="6175375"/>
            <a:ext cx="1036799" cy="576000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12CC48E-79C9-FED9-2A7E-E43AC11F1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12538" cy="478948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783431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lock_blue">
    <p:bg>
      <p:bgPr>
        <a:solidFill>
          <a:srgbClr val="001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Headline 20pt</a:t>
            </a:r>
            <a:endParaRPr lang="de-AT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45D87-BD20-E9BA-7CD5-09336307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174" y="6175375"/>
            <a:ext cx="1036799" cy="576000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12CC48E-79C9-FED9-2A7E-E43AC11F1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12538" cy="4789487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181850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ree content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Headline 20pt</a:t>
            </a:r>
            <a:endParaRPr lang="de-AT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45D87-BD20-E9BA-7CD5-09336307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174" y="6175375"/>
            <a:ext cx="1036799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744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Headline 20pt</a:t>
            </a:r>
            <a:endParaRPr lang="de-AT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45D87-BD20-E9BA-7CD5-09336307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267600"/>
            <a:ext cx="720000" cy="5904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© Value Accelerator GmbH | Address | YYYY-MM-DD</a:t>
            </a:r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174" y="6175375"/>
            <a:ext cx="1036799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564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Headline 20pt</a:t>
            </a:r>
            <a:endParaRPr lang="de-AT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45D87-BD20-E9BA-7CD5-09336307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267600"/>
            <a:ext cx="720000" cy="5904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© Value Accelerator GmbH | Address | YYYY-MM-DD</a:t>
            </a:r>
          </a:p>
        </p:txBody>
      </p:sp>
      <p:pic>
        <p:nvPicPr>
          <p:cNvPr id="5" name="Grafik 6">
            <a:extLst>
              <a:ext uri="{FF2B5EF4-FFF2-40B4-BE49-F238E27FC236}">
                <a16:creationId xmlns:a16="http://schemas.microsoft.com/office/drawing/2014/main" id="{12D33134-6BE7-D84D-7D23-0C8D1F2861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18875" y="6394348"/>
            <a:ext cx="606426" cy="33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27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_blue">
    <p:bg>
      <p:bgPr>
        <a:solidFill>
          <a:srgbClr val="001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Headline 20pt</a:t>
            </a:r>
            <a:endParaRPr lang="de-AT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45D87-BD20-E9BA-7CD5-09336307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174" y="6175375"/>
            <a:ext cx="1036799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968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84F0BB-9A36-0647-6580-BF5FBC57E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F40A79-CAA9-6729-8CE5-4B48BEE05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92D054-2475-7CB0-8F84-99D318C137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1475" y="6267600"/>
            <a:ext cx="720000" cy="5904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Page ‹Nr.›</a:t>
            </a:r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66CD80-E711-811A-295A-FF8442B81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1475" y="6267601"/>
            <a:ext cx="7061925" cy="590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Value Accelerator GmbH | Address | YYYY-MM-DD</a:t>
            </a:r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C00541-7997-DF8D-1EA2-E5C4A3388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E0CCFD-FD2C-44BF-8CDB-89610C49BCA0}" type="slidenum">
              <a:rPr lang="de-AT" smtClean="0"/>
              <a:t>‹N›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667553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0.xml"/><Relationship Id="rId2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50E7471-52B4-A7E2-64E5-5FDB7C8EB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10284C9-56FC-84E0-5D48-B0A460211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C4DCF1-96B7-E7E8-E3A9-B718C280C6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1475" y="6267600"/>
            <a:ext cx="720000" cy="59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Page ‹Nr.›</a:t>
            </a:r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3CB436-FD7C-2BA7-7A70-893832EE85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1475" y="6267601"/>
            <a:ext cx="7061925" cy="59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67967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50E7471-52B4-A7E2-64E5-5FDB7C8EB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10284C9-56FC-84E0-5D48-B0A460211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C4DCF1-96B7-E7E8-E3A9-B718C280C6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1475" y="6267600"/>
            <a:ext cx="720000" cy="59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Page ‹Nr.›</a:t>
            </a:r>
            <a:endParaRPr lang="de-AT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3CB436-FD7C-2BA7-7A70-893832EE85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1475" y="6267601"/>
            <a:ext cx="7061925" cy="59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92029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11.svg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Relationship Id="rId7" Type="http://schemas.openxmlformats.org/officeDocument/2006/relationships/image" Target="../media/image16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hyperlink" Target="https://www.linkedin.com/in/michael-okoli/" TargetMode="External"/><Relationship Id="rId7" Type="http://schemas.openxmlformats.org/officeDocument/2006/relationships/image" Target="../media/image21.png"/><Relationship Id="rId8" Type="http://schemas.openxmlformats.org/officeDocument/2006/relationships/hyperlink" Target="https://www.linkedin.com/in/gabperrone/" TargetMode="External"/><Relationship Id="rId9" Type="http://schemas.openxmlformats.org/officeDocument/2006/relationships/hyperlink" Target="https://www.linkedin.com/in/rosario-laface-b88a2799/" TargetMode="External"/><Relationship Id="rId10" Type="http://schemas.openxmlformats.org/officeDocument/2006/relationships/hyperlink" Target="https://www.linkedin.com/in/christoph-conrad-2997a621/" TargetMode="External"/><Relationship Id="rId11" Type="http://schemas.openxmlformats.org/officeDocument/2006/relationships/image" Target="../media/image22.png"/><Relationship Id="rId12" Type="http://schemas.openxmlformats.org/officeDocument/2006/relationships/hyperlink" Target="https://www.linkedin.com/in/stefanosilvani/" TargetMode="External"/><Relationship Id="rId13" Type="http://schemas.openxmlformats.org/officeDocument/2006/relationships/hyperlink" Target="https://www.value-accelerator.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9509F57-F004-E02D-BAD1-31C41D688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Value Accelerator GmbH | 2026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E6B709-4B15-2199-EE89-BD6D35A09ED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85155F-C9FA-68B2-B586-A237447BA2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1"/>
              <a:t>{{customer_name}}</a:t>
            </a:r>
            <a:br>
              <a:rPr lang="en-US" noProof="1"/>
            </a:br>
            <a:r>
              <a:rPr lang="en-US" noProof="1"/>
              <a:t>Go-To-Market Blueprint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2B7E30-E0F1-9760-5D1B-6C4F1167E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1"/>
              <a:t>Value Accelerator Program</a:t>
            </a:r>
            <a:br>
              <a:rPr lang="en-US" noProof="1"/>
            </a:br>
            <a:r>
              <a:rPr lang="en-US" noProof="1"/>
              <a:t>Date: {{document_date}}</a:t>
            </a:r>
            <a:br>
              <a:rPr lang="en-US" noProof="1"/>
            </a:br>
            <a:r>
              <a:rPr lang="en-US" noProof="1"/>
              <a:t>Version: {{document_version}}</a:t>
            </a:r>
          </a:p>
        </p:txBody>
      </p:sp>
    </p:spTree>
    <p:extLst>
      <p:ext uri="{BB962C8B-B14F-4D97-AF65-F5344CB8AC3E}">
        <p14:creationId xmlns:p14="http://schemas.microsoft.com/office/powerpoint/2010/main" val="273906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0529D-B727-D0D3-534C-02309F56C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03EA1C-B6E0-CABE-374A-EEB60E640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1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en-US" noProof="1" dirty="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BAAA1A-71E7-FB0F-37CB-42E478EB5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8" name="TitleBar">
            <a:extLst>
              <a:ext uri="{FF2B5EF4-FFF2-40B4-BE49-F238E27FC236}">
                <a16:creationId xmlns:a16="http://schemas.microsoft.com/office/drawing/2014/main" id="{7578CE7A-D015-37F1-79B2-5E4C2F9DCD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Accent">
            <a:extLst>
              <a:ext uri="{FF2B5EF4-FFF2-40B4-BE49-F238E27FC236}">
                <a16:creationId xmlns:a16="http://schemas.microsoft.com/office/drawing/2014/main" id="{950353CF-0E7D-B54F-6E0E-1A26BC7CC5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1028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Text">
            <a:extLst>
              <a:ext uri="{FF2B5EF4-FFF2-40B4-BE49-F238E27FC236}">
                <a16:creationId xmlns:a16="http://schemas.microsoft.com/office/drawing/2014/main" id="{0A95A23A-45B8-8577-31A6-8542F322AA84}"/>
              </a:ext>
            </a:extLst>
          </p:cNvPr>
          <p:cNvSpPr txBox="1">
            <a:spLocks noGrp="1"/>
          </p:cNvSpPr>
          <p:nvPr/>
        </p:nvSpPr>
        <p:spPr>
          <a:xfrm>
            <a:off x="320000" y="0"/>
            <a:ext cx="10000000" cy="10287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2000" b="1" i="0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 THIS DOCUMENT</a:t>
            </a:r>
          </a:p>
          <a:p>
            <a:pPr algn="l">
              <a:spcBef>
                <a:spcPts val="0"/>
              </a:spcBef>
              <a:buNone/>
            </a:pPr>
            <a:r>
              <a:rPr lang="en-US" sz="1600" i="0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any question reach out to: info@value-accelerator.io </a:t>
            </a:r>
          </a:p>
        </p:txBody>
      </p:sp>
      <p:sp>
        <p:nvSpPr>
          <p:cNvPr id="2" name="Card0">
            <a:extLst>
              <a:ext uri="{FF2B5EF4-FFF2-40B4-BE49-F238E27FC236}">
                <a16:creationId xmlns:a16="http://schemas.microsoft.com/office/drawing/2014/main" id="{13C4170F-806D-B342-47ED-30DC60E6F74A}"/>
              </a:ext>
            </a:extLst>
          </p:cNvPr>
          <p:cNvSpPr>
            <a:spLocks noGrp="1"/>
          </p:cNvSpPr>
          <p:nvPr/>
        </p:nvSpPr>
        <p:spPr>
          <a:xfrm>
            <a:off x="380000" y="1450000"/>
            <a:ext cx="11432000" cy="900000"/>
          </a:xfrm>
          <a:prstGeom prst="rect">
            <a:avLst/>
          </a:prstGeom>
          <a:solidFill>
            <a:srgbClr val="E5EAF8"/>
          </a:solidFill>
          <a:ln w="12700">
            <a:solidFill>
              <a:srgbClr val="D0D8F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rdAccent0">
            <a:extLst>
              <a:ext uri="{FF2B5EF4-FFF2-40B4-BE49-F238E27FC236}">
                <a16:creationId xmlns:a16="http://schemas.microsoft.com/office/drawing/2014/main" id="{A79ECB28-5F15-2715-868B-03E7F6B8CB7C}"/>
              </a:ext>
            </a:extLst>
          </p:cNvPr>
          <p:cNvSpPr>
            <a:spLocks noGrp="1"/>
          </p:cNvSpPr>
          <p:nvPr/>
        </p:nvSpPr>
        <p:spPr>
          <a:xfrm>
            <a:off x="380000" y="1450000"/>
            <a:ext cx="18288" cy="900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rdHead0">
            <a:extLst>
              <a:ext uri="{FF2B5EF4-FFF2-40B4-BE49-F238E27FC236}">
                <a16:creationId xmlns:a16="http://schemas.microsoft.com/office/drawing/2014/main" id="{E680D292-BE01-B9B3-C784-1EAE045A8200}"/>
              </a:ext>
            </a:extLst>
          </p:cNvPr>
          <p:cNvSpPr txBox="1">
            <a:spLocks noGrp="1"/>
          </p:cNvSpPr>
          <p:nvPr/>
        </p:nvSpPr>
        <p:spPr>
          <a:xfrm>
            <a:off x="470000" y="1510000"/>
            <a:ext cx="10000000" cy="3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600" b="1" i="0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do we need a GTM Blueprint?</a:t>
            </a:r>
          </a:p>
        </p:txBody>
      </p:sp>
      <p:sp>
        <p:nvSpPr>
          <p:cNvPr id="11" name="CardBody0">
            <a:extLst>
              <a:ext uri="{FF2B5EF4-FFF2-40B4-BE49-F238E27FC236}">
                <a16:creationId xmlns:a16="http://schemas.microsoft.com/office/drawing/2014/main" id="{08FBF5AB-A68D-9249-CC81-92E481C72887}"/>
              </a:ext>
            </a:extLst>
          </p:cNvPr>
          <p:cNvSpPr txBox="1">
            <a:spLocks noGrp="1"/>
          </p:cNvSpPr>
          <p:nvPr/>
        </p:nvSpPr>
        <p:spPr>
          <a:xfrm>
            <a:off x="470000" y="1850000"/>
            <a:ext cx="10000000" cy="4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400" b="0" i="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have a sales system where marketing and sales use the same value-based narrative.</a:t>
            </a:r>
          </a:p>
        </p:txBody>
      </p:sp>
      <p:sp>
        <p:nvSpPr>
          <p:cNvPr id="12" name="Card1">
            <a:extLst>
              <a:ext uri="{FF2B5EF4-FFF2-40B4-BE49-F238E27FC236}">
                <a16:creationId xmlns:a16="http://schemas.microsoft.com/office/drawing/2014/main" id="{AB804E5B-22DB-03C8-6025-6D72B0B5E236}"/>
              </a:ext>
            </a:extLst>
          </p:cNvPr>
          <p:cNvSpPr>
            <a:spLocks noGrp="1"/>
          </p:cNvSpPr>
          <p:nvPr/>
        </p:nvSpPr>
        <p:spPr>
          <a:xfrm>
            <a:off x="380000" y="2978700"/>
            <a:ext cx="11432000" cy="900000"/>
          </a:xfrm>
          <a:prstGeom prst="rect">
            <a:avLst/>
          </a:prstGeom>
          <a:solidFill>
            <a:srgbClr val="E5EAF8"/>
          </a:solidFill>
          <a:ln w="12700">
            <a:solidFill>
              <a:srgbClr val="D0D8F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ardAccent1">
            <a:extLst>
              <a:ext uri="{FF2B5EF4-FFF2-40B4-BE49-F238E27FC236}">
                <a16:creationId xmlns:a16="http://schemas.microsoft.com/office/drawing/2014/main" id="{911EF4C0-D285-DF7C-191B-43BC3B2931ED}"/>
              </a:ext>
            </a:extLst>
          </p:cNvPr>
          <p:cNvSpPr>
            <a:spLocks noGrp="1"/>
          </p:cNvSpPr>
          <p:nvPr/>
        </p:nvSpPr>
        <p:spPr>
          <a:xfrm>
            <a:off x="380000" y="2978700"/>
            <a:ext cx="18288" cy="900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rdHead1">
            <a:extLst>
              <a:ext uri="{FF2B5EF4-FFF2-40B4-BE49-F238E27FC236}">
                <a16:creationId xmlns:a16="http://schemas.microsoft.com/office/drawing/2014/main" id="{BEF46C6C-8B90-88E3-B3A2-DCA9663ECFB2}"/>
              </a:ext>
            </a:extLst>
          </p:cNvPr>
          <p:cNvSpPr txBox="1">
            <a:spLocks noGrp="1"/>
          </p:cNvSpPr>
          <p:nvPr/>
        </p:nvSpPr>
        <p:spPr>
          <a:xfrm>
            <a:off x="470000" y="3038700"/>
            <a:ext cx="10000000" cy="3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600" b="1" i="0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did we create this Blueprint?</a:t>
            </a:r>
          </a:p>
        </p:txBody>
      </p:sp>
      <p:sp>
        <p:nvSpPr>
          <p:cNvPr id="15" name="CardBody1">
            <a:extLst>
              <a:ext uri="{FF2B5EF4-FFF2-40B4-BE49-F238E27FC236}">
                <a16:creationId xmlns:a16="http://schemas.microsoft.com/office/drawing/2014/main" id="{0F84A822-D447-FBB9-10F9-41A651619FC2}"/>
              </a:ext>
            </a:extLst>
          </p:cNvPr>
          <p:cNvSpPr txBox="1">
            <a:spLocks noGrp="1"/>
          </p:cNvSpPr>
          <p:nvPr/>
        </p:nvSpPr>
        <p:spPr>
          <a:xfrm>
            <a:off x="470000" y="3378700"/>
            <a:ext cx="10000000" cy="4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400" b="0" i="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2-days in person GTM Foundation Workshop with marketing, sales and product) consolidated with AI.</a:t>
            </a:r>
          </a:p>
        </p:txBody>
      </p:sp>
      <p:sp>
        <p:nvSpPr>
          <p:cNvPr id="16" name="Card2">
            <a:extLst>
              <a:ext uri="{FF2B5EF4-FFF2-40B4-BE49-F238E27FC236}">
                <a16:creationId xmlns:a16="http://schemas.microsoft.com/office/drawing/2014/main" id="{CAF175F3-E3D2-4CDA-28F3-E22E56ED0EDA}"/>
              </a:ext>
            </a:extLst>
          </p:cNvPr>
          <p:cNvSpPr>
            <a:spLocks noGrp="1"/>
          </p:cNvSpPr>
          <p:nvPr/>
        </p:nvSpPr>
        <p:spPr>
          <a:xfrm>
            <a:off x="380000" y="4371300"/>
            <a:ext cx="11432000" cy="900000"/>
          </a:xfrm>
          <a:prstGeom prst="rect">
            <a:avLst/>
          </a:prstGeom>
          <a:solidFill>
            <a:srgbClr val="E5EAF8"/>
          </a:solidFill>
          <a:ln w="12700">
            <a:solidFill>
              <a:srgbClr val="D0D8F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rdAccent2">
            <a:extLst>
              <a:ext uri="{FF2B5EF4-FFF2-40B4-BE49-F238E27FC236}">
                <a16:creationId xmlns:a16="http://schemas.microsoft.com/office/drawing/2014/main" id="{C944F6C7-6688-D734-0144-43E9D63C4208}"/>
              </a:ext>
            </a:extLst>
          </p:cNvPr>
          <p:cNvSpPr>
            <a:spLocks noGrp="1"/>
          </p:cNvSpPr>
          <p:nvPr/>
        </p:nvSpPr>
        <p:spPr>
          <a:xfrm>
            <a:off x="380000" y="4371300"/>
            <a:ext cx="18288" cy="900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ardHead2">
            <a:extLst>
              <a:ext uri="{FF2B5EF4-FFF2-40B4-BE49-F238E27FC236}">
                <a16:creationId xmlns:a16="http://schemas.microsoft.com/office/drawing/2014/main" id="{CA8C208F-F9CF-B2DB-581C-4DDC368176ED}"/>
              </a:ext>
            </a:extLst>
          </p:cNvPr>
          <p:cNvSpPr txBox="1">
            <a:spLocks noGrp="1"/>
          </p:cNvSpPr>
          <p:nvPr/>
        </p:nvSpPr>
        <p:spPr>
          <a:xfrm>
            <a:off x="470000" y="4431300"/>
            <a:ext cx="10000000" cy="3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600" b="1" i="0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use </a:t>
            </a:r>
            <a:r>
              <a:rPr lang="en-US" sz="1600" b="1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document?</a:t>
            </a:r>
            <a:endParaRPr lang="en-US" sz="1600" b="1" i="0" noProof="1">
              <a:solidFill>
                <a:srgbClr val="0013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ardBody2">
            <a:extLst>
              <a:ext uri="{FF2B5EF4-FFF2-40B4-BE49-F238E27FC236}">
                <a16:creationId xmlns:a16="http://schemas.microsoft.com/office/drawing/2014/main" id="{6103BBE9-A72C-11E4-7264-508C24E14DCE}"/>
              </a:ext>
            </a:extLst>
          </p:cNvPr>
          <p:cNvSpPr txBox="1">
            <a:spLocks noGrp="1"/>
          </p:cNvSpPr>
          <p:nvPr/>
        </p:nvSpPr>
        <p:spPr>
          <a:xfrm>
            <a:off x="470000" y="4771300"/>
            <a:ext cx="10000000" cy="4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400" b="0" i="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the foundation to build your sales playbook and marketing campaigns.</a:t>
            </a:r>
          </a:p>
        </p:txBody>
      </p:sp>
    </p:spTree>
    <p:extLst>
      <p:ext uri="{BB962C8B-B14F-4D97-AF65-F5344CB8AC3E}">
        <p14:creationId xmlns:p14="http://schemas.microsoft.com/office/powerpoint/2010/main" val="2083100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3344F-764F-29F4-1CCA-51811B82D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DB901C-7553-726C-7EE7-E2135C4EB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1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en-US" noProof="1" dirty="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4BD5B3-65E6-EF13-B7DE-391325474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8" name="TitleBar">
            <a:extLst>
              <a:ext uri="{FF2B5EF4-FFF2-40B4-BE49-F238E27FC236}">
                <a16:creationId xmlns:a16="http://schemas.microsoft.com/office/drawing/2014/main" id="{ED83E9C3-BBBE-ADFE-5BA5-5BF294AE33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Accent">
            <a:extLst>
              <a:ext uri="{FF2B5EF4-FFF2-40B4-BE49-F238E27FC236}">
                <a16:creationId xmlns:a16="http://schemas.microsoft.com/office/drawing/2014/main" id="{07C4B105-9F02-E542-31DF-D4B6FD7BBA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1028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Text">
            <a:extLst>
              <a:ext uri="{FF2B5EF4-FFF2-40B4-BE49-F238E27FC236}">
                <a16:creationId xmlns:a16="http://schemas.microsoft.com/office/drawing/2014/main" id="{DE846BD0-F859-2569-AFCA-57C4B52B2E85}"/>
              </a:ext>
            </a:extLst>
          </p:cNvPr>
          <p:cNvSpPr txBox="1">
            <a:spLocks noGrp="1"/>
          </p:cNvSpPr>
          <p:nvPr/>
        </p:nvSpPr>
        <p:spPr>
          <a:xfrm>
            <a:off x="320000" y="0"/>
            <a:ext cx="10000000" cy="10287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2000" b="1" i="0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GO-TO-MARKET BLUEPRINT OVERVIEW</a:t>
            </a:r>
            <a:br>
              <a:rPr lang="en-US" sz="2000" b="1" i="0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i="0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six building blocks of a value-based go-to-market system</a:t>
            </a:r>
          </a:p>
        </p:txBody>
      </p:sp>
      <p:sp>
        <p:nvSpPr>
          <p:cNvPr id="5" name="Freeform: Shape 27" descr="Mindmap wheel">
            <a:extLst>
              <a:ext uri="{FF2B5EF4-FFF2-40B4-BE49-F238E27FC236}">
                <a16:creationId xmlns:a16="http://schemas.microsoft.com/office/drawing/2014/main" id="{D84D8055-2832-3901-0F9A-3CF2B9ACB986}"/>
              </a:ext>
            </a:extLst>
          </p:cNvPr>
          <p:cNvSpPr/>
          <p:nvPr/>
        </p:nvSpPr>
        <p:spPr bwMode="gray">
          <a:xfrm>
            <a:off x="4498379" y="2069723"/>
            <a:ext cx="3225264" cy="3225264"/>
          </a:xfrm>
          <a:custGeom>
            <a:avLst/>
            <a:gdLst>
              <a:gd name="connsiteX0" fmla="*/ 1944000 w 3888000"/>
              <a:gd name="connsiteY0" fmla="*/ 288000 h 3888000"/>
              <a:gd name="connsiteX1" fmla="*/ 288000 w 3888000"/>
              <a:gd name="connsiteY1" fmla="*/ 1944000 h 3888000"/>
              <a:gd name="connsiteX2" fmla="*/ 1944000 w 3888000"/>
              <a:gd name="connsiteY2" fmla="*/ 3600000 h 3888000"/>
              <a:gd name="connsiteX3" fmla="*/ 3600000 w 3888000"/>
              <a:gd name="connsiteY3" fmla="*/ 1944000 h 3888000"/>
              <a:gd name="connsiteX4" fmla="*/ 1944000 w 3888000"/>
              <a:gd name="connsiteY4" fmla="*/ 288000 h 3888000"/>
              <a:gd name="connsiteX5" fmla="*/ 1944000 w 3888000"/>
              <a:gd name="connsiteY5" fmla="*/ 0 h 3888000"/>
              <a:gd name="connsiteX6" fmla="*/ 3888000 w 3888000"/>
              <a:gd name="connsiteY6" fmla="*/ 1944000 h 3888000"/>
              <a:gd name="connsiteX7" fmla="*/ 1944000 w 3888000"/>
              <a:gd name="connsiteY7" fmla="*/ 3888000 h 3888000"/>
              <a:gd name="connsiteX8" fmla="*/ 0 w 3888000"/>
              <a:gd name="connsiteY8" fmla="*/ 1944000 h 3888000"/>
              <a:gd name="connsiteX9" fmla="*/ 1944000 w 3888000"/>
              <a:gd name="connsiteY9" fmla="*/ 0 h 38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88000" h="3888000">
                <a:moveTo>
                  <a:pt x="1944000" y="288000"/>
                </a:moveTo>
                <a:cubicBezTo>
                  <a:pt x="1029417" y="288000"/>
                  <a:pt x="288000" y="1029417"/>
                  <a:pt x="288000" y="1944000"/>
                </a:cubicBezTo>
                <a:cubicBezTo>
                  <a:pt x="288000" y="2858583"/>
                  <a:pt x="1029417" y="3600000"/>
                  <a:pt x="1944000" y="3600000"/>
                </a:cubicBezTo>
                <a:cubicBezTo>
                  <a:pt x="2858584" y="3600000"/>
                  <a:pt x="3600000" y="2858583"/>
                  <a:pt x="3600000" y="1944000"/>
                </a:cubicBezTo>
                <a:cubicBezTo>
                  <a:pt x="3600000" y="1029417"/>
                  <a:pt x="2858584" y="288000"/>
                  <a:pt x="1944000" y="288000"/>
                </a:cubicBezTo>
                <a:close/>
                <a:moveTo>
                  <a:pt x="1944000" y="0"/>
                </a:moveTo>
                <a:cubicBezTo>
                  <a:pt x="3017642" y="0"/>
                  <a:pt x="3888000" y="870359"/>
                  <a:pt x="3888000" y="1944000"/>
                </a:cubicBezTo>
                <a:cubicBezTo>
                  <a:pt x="3888000" y="3017641"/>
                  <a:pt x="3017642" y="3888000"/>
                  <a:pt x="1944000" y="3888000"/>
                </a:cubicBezTo>
                <a:cubicBezTo>
                  <a:pt x="870358" y="3888000"/>
                  <a:pt x="0" y="3017641"/>
                  <a:pt x="0" y="1944000"/>
                </a:cubicBezTo>
                <a:cubicBezTo>
                  <a:pt x="0" y="870359"/>
                  <a:pt x="870358" y="0"/>
                  <a:pt x="1944000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square" lIns="683644" tIns="143925" rIns="683644" bIns="143925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1">
                <a:ln>
                  <a:noFill/>
                </a:ln>
                <a:solidFill>
                  <a:srgbClr val="0030B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Go-To-Market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1">
                <a:ln>
                  <a:noFill/>
                </a:ln>
                <a:solidFill>
                  <a:srgbClr val="0030B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Foundation</a:t>
            </a:r>
          </a:p>
        </p:txBody>
      </p:sp>
      <p:sp>
        <p:nvSpPr>
          <p:cNvPr id="21" name="Freihandform 53">
            <a:extLst>
              <a:ext uri="{FF2B5EF4-FFF2-40B4-BE49-F238E27FC236}">
                <a16:creationId xmlns:a16="http://schemas.microsoft.com/office/drawing/2014/main" id="{CAFF6E4F-A908-2AE9-DFB2-D3D209280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 flipH="1">
            <a:off x="6945989" y="1829478"/>
            <a:ext cx="810000" cy="446886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accent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rial Unicode MS"/>
              <a:cs typeface="Arial" panose="020B0604020202020204" pitchFamily="34" charset="0"/>
            </a:endParaRPr>
          </a:p>
        </p:txBody>
      </p:sp>
      <p:cxnSp>
        <p:nvCxnSpPr>
          <p:cNvPr id="22" name="Gerade Verbindung 55">
            <a:extLst>
              <a:ext uri="{FF2B5EF4-FFF2-40B4-BE49-F238E27FC236}">
                <a16:creationId xmlns:a16="http://schemas.microsoft.com/office/drawing/2014/main" id="{3F9BD320-7C8A-8877-14BC-5B8904D05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>
            <a:off x="7755989" y="3535856"/>
            <a:ext cx="558000" cy="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oval" w="lg" len="lg"/>
            <a:tailEnd type="none" w="lg" len="lg"/>
          </a:ln>
          <a:effectLst/>
        </p:spPr>
      </p:cxnSp>
      <p:sp>
        <p:nvSpPr>
          <p:cNvPr id="23" name="Freihandform 54">
            <a:extLst>
              <a:ext uri="{FF2B5EF4-FFF2-40B4-BE49-F238E27FC236}">
                <a16:creationId xmlns:a16="http://schemas.microsoft.com/office/drawing/2014/main" id="{C1E7814E-BBEA-961B-D014-40AE75A9F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 flipH="1" flipV="1">
            <a:off x="6958848" y="5071552"/>
            <a:ext cx="828000" cy="463680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accent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rial Unicode MS"/>
              <a:cs typeface="Arial" panose="020B0604020202020204" pitchFamily="34" charset="0"/>
            </a:endParaRPr>
          </a:p>
        </p:txBody>
      </p:sp>
      <p:sp>
        <p:nvSpPr>
          <p:cNvPr id="24" name="Freihandform 52">
            <a:extLst>
              <a:ext uri="{FF2B5EF4-FFF2-40B4-BE49-F238E27FC236}">
                <a16:creationId xmlns:a16="http://schemas.microsoft.com/office/drawing/2014/main" id="{A706CE4F-9676-71F5-5695-8028D7CC3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 flipV="1">
            <a:off x="4295278" y="5053565"/>
            <a:ext cx="828000" cy="463680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accent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rial Unicode MS"/>
              <a:cs typeface="Arial" panose="020B0604020202020204" pitchFamily="34" charset="0"/>
            </a:endParaRPr>
          </a:p>
        </p:txBody>
      </p:sp>
      <p:cxnSp>
        <p:nvCxnSpPr>
          <p:cNvPr id="25" name="Gerade Verbindung 56">
            <a:extLst>
              <a:ext uri="{FF2B5EF4-FFF2-40B4-BE49-F238E27FC236}">
                <a16:creationId xmlns:a16="http://schemas.microsoft.com/office/drawing/2014/main" id="{D13ED004-7C49-3A53-2989-71F938AB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 flipH="1">
            <a:off x="3863822" y="3526369"/>
            <a:ext cx="577734" cy="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oval" w="lg" len="lg"/>
            <a:tailEnd type="none" w="lg" len="lg"/>
          </a:ln>
          <a:effectLst/>
        </p:spPr>
      </p:cxnSp>
      <p:sp>
        <p:nvSpPr>
          <p:cNvPr id="26" name="Freihandform 50">
            <a:extLst>
              <a:ext uri="{FF2B5EF4-FFF2-40B4-BE49-F238E27FC236}">
                <a16:creationId xmlns:a16="http://schemas.microsoft.com/office/drawing/2014/main" id="{3B6078DC-36B6-3B12-6DDF-6839B09BE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>
            <a:off x="4394631" y="1829431"/>
            <a:ext cx="810000" cy="446933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accent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rial Unicode MS"/>
              <a:cs typeface="Arial" panose="020B0604020202020204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7EC47C3-6E84-B617-1A73-4A40ED3615C7}"/>
              </a:ext>
            </a:extLst>
          </p:cNvPr>
          <p:cNvGrpSpPr/>
          <p:nvPr/>
        </p:nvGrpSpPr>
        <p:grpSpPr>
          <a:xfrm>
            <a:off x="7797792" y="4995245"/>
            <a:ext cx="3615108" cy="1044000"/>
            <a:chOff x="8285035" y="4653000"/>
            <a:chExt cx="3615108" cy="1044000"/>
          </a:xfrm>
        </p:grpSpPr>
        <p:sp>
          <p:nvSpPr>
            <p:cNvPr id="28" name="Ellipse 43" descr="Sample image">
              <a:extLst>
                <a:ext uri="{FF2B5EF4-FFF2-40B4-BE49-F238E27FC236}">
                  <a16:creationId xmlns:a16="http://schemas.microsoft.com/office/drawing/2014/main" id="{EF44D3CC-AB76-227B-145F-E27EE6115CC4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8285035" y="4653000"/>
              <a:ext cx="1044000" cy="1044000"/>
            </a:xfrm>
            <a:prstGeom prst="ellipse">
              <a:avLst/>
            </a:prstGeom>
            <a:solidFill>
              <a:srgbClr val="E5E5E9"/>
            </a:solidFill>
            <a:ln w="22225">
              <a:noFill/>
              <a:miter lim="800000"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 Unicode MS"/>
                <a:cs typeface="Arial" panose="020B0604020202020204" pitchFamily="34" charset="0"/>
              </a:endParaRPr>
            </a:p>
          </p:txBody>
        </p:sp>
        <p:sp>
          <p:nvSpPr>
            <p:cNvPr id="29" name="Textfeld 6" descr="Sample content">
              <a:extLst>
                <a:ext uri="{FF2B5EF4-FFF2-40B4-BE49-F238E27FC236}">
                  <a16:creationId xmlns:a16="http://schemas.microsoft.com/office/drawing/2014/main" id="{D39F09AB-29D1-8F04-0DBC-5C7017579FEC}"/>
                </a:ext>
              </a:extLst>
            </p:cNvPr>
            <p:cNvSpPr txBox="1"/>
            <p:nvPr/>
          </p:nvSpPr>
          <p:spPr bwMode="gray">
            <a:xfrm>
              <a:off x="9336591" y="4653000"/>
              <a:ext cx="2563552" cy="1044000"/>
            </a:xfrm>
            <a:prstGeom prst="rect">
              <a:avLst/>
            </a:prstGeom>
            <a:noFill/>
          </p:spPr>
          <p:txBody>
            <a:bodyPr wrap="square" lIns="143925" tIns="0" rIns="0" bIns="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599" b="1" i="0" u="none" strike="noStrike" kern="1200" cap="none" spc="0" normalizeH="0" baseline="0" noProof="1">
                  <a:ln>
                    <a:noFill/>
                  </a:ln>
                  <a:solidFill>
                    <a:srgbClr val="0030BC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Commercial Insight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66667E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“How do you effectively communication your unique value?”</a:t>
              </a:r>
            </a:p>
          </p:txBody>
        </p:sp>
        <p:pic>
          <p:nvPicPr>
            <p:cNvPr id="30" name="Grafik 32" descr="Glühbirne und Zahnrad mit einfarbiger Füllung">
              <a:extLst>
                <a:ext uri="{FF2B5EF4-FFF2-40B4-BE49-F238E27FC236}">
                  <a16:creationId xmlns:a16="http://schemas.microsoft.com/office/drawing/2014/main" id="{2BA0FC44-5D02-B77A-2B2F-9066586617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453410" y="4808539"/>
              <a:ext cx="720000" cy="720000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92DAD1C-7005-4A8B-35D8-436FA45B80CC}"/>
              </a:ext>
            </a:extLst>
          </p:cNvPr>
          <p:cNvGrpSpPr/>
          <p:nvPr/>
        </p:nvGrpSpPr>
        <p:grpSpPr>
          <a:xfrm>
            <a:off x="956263" y="1302310"/>
            <a:ext cx="3429168" cy="1044000"/>
            <a:chOff x="-184133" y="2856600"/>
            <a:chExt cx="3429168" cy="1044000"/>
          </a:xfrm>
        </p:grpSpPr>
        <p:sp>
          <p:nvSpPr>
            <p:cNvPr id="32" name="Ellipse 43" descr="Sample image">
              <a:extLst>
                <a:ext uri="{FF2B5EF4-FFF2-40B4-BE49-F238E27FC236}">
                  <a16:creationId xmlns:a16="http://schemas.microsoft.com/office/drawing/2014/main" id="{F46721E4-6865-6BAA-CA0E-ABEC65157675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2201035" y="2856600"/>
              <a:ext cx="1044000" cy="1044000"/>
            </a:xfrm>
            <a:prstGeom prst="ellipse">
              <a:avLst/>
            </a:prstGeom>
            <a:solidFill>
              <a:srgbClr val="E5E5E9"/>
            </a:solidFill>
            <a:ln w="22225">
              <a:noFill/>
              <a:miter lim="800000"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 Unicode MS"/>
                <a:cs typeface="Arial" panose="020B0604020202020204" pitchFamily="34" charset="0"/>
              </a:endParaRPr>
            </a:p>
          </p:txBody>
        </p:sp>
        <p:sp>
          <p:nvSpPr>
            <p:cNvPr id="33" name="Textfeld 4" descr="Sample content">
              <a:extLst>
                <a:ext uri="{FF2B5EF4-FFF2-40B4-BE49-F238E27FC236}">
                  <a16:creationId xmlns:a16="http://schemas.microsoft.com/office/drawing/2014/main" id="{7253F74D-3A18-F941-948C-21A792D5DFE0}"/>
                </a:ext>
              </a:extLst>
            </p:cNvPr>
            <p:cNvSpPr txBox="1"/>
            <p:nvPr/>
          </p:nvSpPr>
          <p:spPr bwMode="gray">
            <a:xfrm>
              <a:off x="-184133" y="2856600"/>
              <a:ext cx="2391543" cy="1044000"/>
            </a:xfrm>
            <a:prstGeom prst="rect">
              <a:avLst/>
            </a:prstGeom>
            <a:noFill/>
          </p:spPr>
          <p:txBody>
            <a:bodyPr wrap="square" lIns="0" tIns="0" rIns="143925" bIns="0" rtlCol="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599" b="1" i="0" u="none" strike="noStrike" kern="1200" cap="none" spc="0" normalizeH="0" baseline="0" noProof="1">
                  <a:ln>
                    <a:noFill/>
                  </a:ln>
                  <a:solidFill>
                    <a:srgbClr val="0030BC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Ideal Customer Profile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66667E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“What company is the most likely to buy from you?”</a:t>
              </a:r>
            </a:p>
          </p:txBody>
        </p:sp>
        <p:pic>
          <p:nvPicPr>
            <p:cNvPr id="34" name="Grafik 36" descr="Prüfliste mit einfarbiger Füllung">
              <a:extLst>
                <a:ext uri="{FF2B5EF4-FFF2-40B4-BE49-F238E27FC236}">
                  <a16:creationId xmlns:a16="http://schemas.microsoft.com/office/drawing/2014/main" id="{59875BE8-3645-D9D7-39AD-EE31596562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41412" y="3025060"/>
              <a:ext cx="720000" cy="720000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E19D6-03E8-88D8-E612-9633DE9C317C}"/>
              </a:ext>
            </a:extLst>
          </p:cNvPr>
          <p:cNvGrpSpPr/>
          <p:nvPr/>
        </p:nvGrpSpPr>
        <p:grpSpPr>
          <a:xfrm>
            <a:off x="372096" y="3012678"/>
            <a:ext cx="3485625" cy="1044000"/>
            <a:chOff x="407410" y="4653000"/>
            <a:chExt cx="3485625" cy="1044000"/>
          </a:xfrm>
        </p:grpSpPr>
        <p:sp>
          <p:nvSpPr>
            <p:cNvPr id="36" name="Ellipse 43" descr="Sample image">
              <a:extLst>
                <a:ext uri="{FF2B5EF4-FFF2-40B4-BE49-F238E27FC236}">
                  <a16:creationId xmlns:a16="http://schemas.microsoft.com/office/drawing/2014/main" id="{75D4A51A-8D5B-F269-3EC7-962372A382B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2849035" y="4653000"/>
              <a:ext cx="1044000" cy="1044000"/>
            </a:xfrm>
            <a:prstGeom prst="ellipse">
              <a:avLst/>
            </a:prstGeom>
            <a:solidFill>
              <a:srgbClr val="E5E5E9"/>
            </a:solidFill>
            <a:ln w="22225">
              <a:noFill/>
              <a:miter lim="800000"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 Unicode MS"/>
                <a:cs typeface="Arial" panose="020B0604020202020204" pitchFamily="34" charset="0"/>
              </a:endParaRPr>
            </a:p>
          </p:txBody>
        </p:sp>
        <p:sp>
          <p:nvSpPr>
            <p:cNvPr id="37" name="Textfeld 5" descr="Sample content">
              <a:extLst>
                <a:ext uri="{FF2B5EF4-FFF2-40B4-BE49-F238E27FC236}">
                  <a16:creationId xmlns:a16="http://schemas.microsoft.com/office/drawing/2014/main" id="{8CDA3E09-1A86-6D32-7AAA-860014C77CC8}"/>
                </a:ext>
              </a:extLst>
            </p:cNvPr>
            <p:cNvSpPr txBox="1"/>
            <p:nvPr/>
          </p:nvSpPr>
          <p:spPr bwMode="gray">
            <a:xfrm>
              <a:off x="407410" y="4653000"/>
              <a:ext cx="2448000" cy="1044000"/>
            </a:xfrm>
            <a:prstGeom prst="rect">
              <a:avLst/>
            </a:prstGeom>
            <a:noFill/>
          </p:spPr>
          <p:txBody>
            <a:bodyPr wrap="square" lIns="0" tIns="0" rIns="143925" bIns="0" rtlCol="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599" b="1" i="0" u="none" strike="noStrike" kern="1200" cap="none" spc="0" normalizeH="0" baseline="0" noProof="1">
                  <a:ln>
                    <a:noFill/>
                  </a:ln>
                  <a:solidFill>
                    <a:srgbClr val="0030BC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Persona &amp; </a:t>
              </a:r>
              <a:br>
                <a:rPr kumimoji="0" lang="en-US" sz="1599" b="1" i="0" u="none" strike="noStrike" kern="1200" cap="none" spc="0" normalizeH="0" baseline="0" noProof="1">
                  <a:ln>
                    <a:noFill/>
                  </a:ln>
                  <a:solidFill>
                    <a:srgbClr val="0030BC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</a:br>
              <a:r>
                <a:rPr kumimoji="0" lang="en-US" sz="1599" b="1" i="0" u="none" strike="noStrike" kern="1200" cap="none" spc="0" normalizeH="0" baseline="0" noProof="1">
                  <a:ln>
                    <a:noFill/>
                  </a:ln>
                  <a:solidFill>
                    <a:srgbClr val="0030BC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Buying Group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66667E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Who are the key decision makers and what do they aim for?</a:t>
              </a:r>
            </a:p>
          </p:txBody>
        </p:sp>
        <p:pic>
          <p:nvPicPr>
            <p:cNvPr id="38" name="Grafik 30" descr="Büromitarbeiter mit einfarbiger Füllung">
              <a:extLst>
                <a:ext uri="{FF2B5EF4-FFF2-40B4-BE49-F238E27FC236}">
                  <a16:creationId xmlns:a16="http://schemas.microsoft.com/office/drawing/2014/main" id="{83E7F0C2-1C52-3A01-712B-103E2029E2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12610" y="4794763"/>
              <a:ext cx="720000" cy="720000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75DD354-CFF6-0DC3-E0AB-BF5F208DE1D6}"/>
              </a:ext>
            </a:extLst>
          </p:cNvPr>
          <p:cNvGrpSpPr/>
          <p:nvPr/>
        </p:nvGrpSpPr>
        <p:grpSpPr>
          <a:xfrm>
            <a:off x="779100" y="4996396"/>
            <a:ext cx="3485625" cy="1044000"/>
            <a:chOff x="407410" y="1161000"/>
            <a:chExt cx="3485625" cy="1044000"/>
          </a:xfrm>
        </p:grpSpPr>
        <p:sp>
          <p:nvSpPr>
            <p:cNvPr id="40" name="Ellipse 43" descr="Sample image">
              <a:extLst>
                <a:ext uri="{FF2B5EF4-FFF2-40B4-BE49-F238E27FC236}">
                  <a16:creationId xmlns:a16="http://schemas.microsoft.com/office/drawing/2014/main" id="{97A8EE1F-302F-055B-60FB-C1C262964554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2849035" y="1161000"/>
              <a:ext cx="1044000" cy="1044000"/>
            </a:xfrm>
            <a:prstGeom prst="ellipse">
              <a:avLst/>
            </a:prstGeom>
            <a:solidFill>
              <a:srgbClr val="E5E5E9"/>
            </a:solidFill>
            <a:ln w="22225">
              <a:noFill/>
              <a:miter lim="800000"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 Unicode MS"/>
                <a:cs typeface="Arial" panose="020B0604020202020204" pitchFamily="34" charset="0"/>
              </a:endParaRPr>
            </a:p>
          </p:txBody>
        </p:sp>
        <p:sp>
          <p:nvSpPr>
            <p:cNvPr id="41" name="Textfeld 51" descr="Sample content">
              <a:extLst>
                <a:ext uri="{FF2B5EF4-FFF2-40B4-BE49-F238E27FC236}">
                  <a16:creationId xmlns:a16="http://schemas.microsoft.com/office/drawing/2014/main" id="{5F305808-1E96-3526-F933-04919C6F862A}"/>
                </a:ext>
              </a:extLst>
            </p:cNvPr>
            <p:cNvSpPr txBox="1"/>
            <p:nvPr/>
          </p:nvSpPr>
          <p:spPr bwMode="gray">
            <a:xfrm>
              <a:off x="407410" y="1161000"/>
              <a:ext cx="2448000" cy="1044000"/>
            </a:xfrm>
            <a:prstGeom prst="rect">
              <a:avLst/>
            </a:prstGeom>
            <a:noFill/>
          </p:spPr>
          <p:txBody>
            <a:bodyPr wrap="square" lIns="0" tIns="0" rIns="143925" bIns="0" rtlCol="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599" b="1" i="0" u="none" strike="noStrike" kern="1200" cap="none" spc="0" normalizeH="0" baseline="0" noProof="1">
                  <a:ln>
                    <a:noFill/>
                  </a:ln>
                  <a:solidFill>
                    <a:srgbClr val="0030BC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Value Proposition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66667E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“Why do customers buy </a:t>
              </a:r>
              <a:br>
                <a:rPr kumimoji="0" 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66667E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</a:br>
              <a:r>
                <a:rPr kumimoji="0" 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66667E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offerings like your?”</a:t>
              </a:r>
            </a:p>
          </p:txBody>
        </p:sp>
        <p:pic>
          <p:nvPicPr>
            <p:cNvPr id="42" name="Grafik 28" descr="Raute mit einfarbiger Füllung">
              <a:extLst>
                <a:ext uri="{FF2B5EF4-FFF2-40B4-BE49-F238E27FC236}">
                  <a16:creationId xmlns:a16="http://schemas.microsoft.com/office/drawing/2014/main" id="{9EECCE70-2F5C-95E5-679A-38C3A2707E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999306" y="1341000"/>
              <a:ext cx="720000" cy="72000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07C0C06-97A3-FAA6-B802-F0F859AA0A82}"/>
              </a:ext>
            </a:extLst>
          </p:cNvPr>
          <p:cNvGrpSpPr/>
          <p:nvPr/>
        </p:nvGrpSpPr>
        <p:grpSpPr>
          <a:xfrm>
            <a:off x="7742558" y="1315547"/>
            <a:ext cx="3493179" cy="1044000"/>
            <a:chOff x="8939410" y="2856600"/>
            <a:chExt cx="3493179" cy="1044000"/>
          </a:xfrm>
        </p:grpSpPr>
        <p:sp>
          <p:nvSpPr>
            <p:cNvPr id="44" name="Ellipse 43" descr="Sample image">
              <a:extLst>
                <a:ext uri="{FF2B5EF4-FFF2-40B4-BE49-F238E27FC236}">
                  <a16:creationId xmlns:a16="http://schemas.microsoft.com/office/drawing/2014/main" id="{5EE0917D-C452-78FB-B50D-8460A4981A68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8939410" y="2856600"/>
              <a:ext cx="1044000" cy="1044000"/>
            </a:xfrm>
            <a:prstGeom prst="ellipse">
              <a:avLst/>
            </a:prstGeom>
            <a:solidFill>
              <a:srgbClr val="E5E5E9"/>
            </a:solidFill>
            <a:ln w="22225">
              <a:noFill/>
              <a:miter lim="800000"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 Unicode MS"/>
                <a:cs typeface="Arial" panose="020B0604020202020204" pitchFamily="34" charset="0"/>
              </a:endParaRPr>
            </a:p>
          </p:txBody>
        </p:sp>
        <p:sp>
          <p:nvSpPr>
            <p:cNvPr id="45" name="Textfeld 7" descr="Sample content">
              <a:extLst>
                <a:ext uri="{FF2B5EF4-FFF2-40B4-BE49-F238E27FC236}">
                  <a16:creationId xmlns:a16="http://schemas.microsoft.com/office/drawing/2014/main" id="{4020D3D0-742F-B444-928F-D1041B35269E}"/>
                </a:ext>
              </a:extLst>
            </p:cNvPr>
            <p:cNvSpPr txBox="1"/>
            <p:nvPr/>
          </p:nvSpPr>
          <p:spPr bwMode="gray">
            <a:xfrm>
              <a:off x="9984590" y="2856600"/>
              <a:ext cx="2447999" cy="1044000"/>
            </a:xfrm>
            <a:prstGeom prst="rect">
              <a:avLst/>
            </a:prstGeom>
            <a:noFill/>
          </p:spPr>
          <p:txBody>
            <a:bodyPr wrap="square" lIns="143925" tIns="0" rIns="0" bIns="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599" b="1" i="0" u="none" strike="noStrike" kern="1200" cap="none" spc="0" normalizeH="0" baseline="0" noProof="1">
                  <a:ln>
                    <a:noFill/>
                  </a:ln>
                  <a:solidFill>
                    <a:srgbClr val="0030BC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Customer Mental Model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66667E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“How do your customers think about their own business?”</a:t>
              </a:r>
            </a:p>
          </p:txBody>
        </p:sp>
        <p:pic>
          <p:nvPicPr>
            <p:cNvPr id="46" name="Grafik 24" descr="Rechte und linke Gehirnhälfte mit einfarbiger Füllung">
              <a:extLst>
                <a:ext uri="{FF2B5EF4-FFF2-40B4-BE49-F238E27FC236}">
                  <a16:creationId xmlns:a16="http://schemas.microsoft.com/office/drawing/2014/main" id="{1D8AD0B3-A143-89AF-2A4C-7AF822BEEA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101410" y="3018600"/>
              <a:ext cx="720000" cy="720000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6D506EA-9C3A-8C39-7C3A-9E40C1F74430}"/>
              </a:ext>
            </a:extLst>
          </p:cNvPr>
          <p:cNvGrpSpPr/>
          <p:nvPr/>
        </p:nvGrpSpPr>
        <p:grpSpPr>
          <a:xfrm>
            <a:off x="8332372" y="2959632"/>
            <a:ext cx="3493181" cy="1044000"/>
            <a:chOff x="8291410" y="1161000"/>
            <a:chExt cx="3493181" cy="1044000"/>
          </a:xfrm>
        </p:grpSpPr>
        <p:sp>
          <p:nvSpPr>
            <p:cNvPr id="48" name="Ellipse 43" descr="Sample image">
              <a:extLst>
                <a:ext uri="{FF2B5EF4-FFF2-40B4-BE49-F238E27FC236}">
                  <a16:creationId xmlns:a16="http://schemas.microsoft.com/office/drawing/2014/main" id="{F4ADEEF1-D409-DFEE-E281-381C80681E49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8291410" y="1161000"/>
              <a:ext cx="1044000" cy="1044000"/>
            </a:xfrm>
            <a:prstGeom prst="ellipse">
              <a:avLst/>
            </a:prstGeom>
            <a:solidFill>
              <a:srgbClr val="E5E5E9"/>
            </a:solidFill>
            <a:ln w="22225">
              <a:noFill/>
              <a:miter lim="800000"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 Unicode MS"/>
                <a:cs typeface="Arial" panose="020B0604020202020204" pitchFamily="34" charset="0"/>
              </a:endParaRPr>
            </a:p>
          </p:txBody>
        </p:sp>
        <p:sp>
          <p:nvSpPr>
            <p:cNvPr id="49" name="Textfeld 3" descr="Sample content">
              <a:extLst>
                <a:ext uri="{FF2B5EF4-FFF2-40B4-BE49-F238E27FC236}">
                  <a16:creationId xmlns:a16="http://schemas.microsoft.com/office/drawing/2014/main" id="{F3D06D03-5110-D1BD-DE07-DA456859F65B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9336591" y="1161000"/>
              <a:ext cx="2448000" cy="1044000"/>
            </a:xfrm>
            <a:prstGeom prst="rect">
              <a:avLst/>
            </a:prstGeom>
            <a:noFill/>
          </p:spPr>
          <p:txBody>
            <a:bodyPr wrap="square" lIns="143925" tIns="0" rIns="0" bIns="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599" b="1" i="0" u="none" strike="noStrike" kern="1200" cap="none" spc="0" normalizeH="0" baseline="0" noProof="1">
                  <a:ln>
                    <a:noFill/>
                  </a:ln>
                  <a:solidFill>
                    <a:srgbClr val="0030BC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Unique Selling Points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66667E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“Why should customers buy from you and not from competitors?”</a:t>
              </a:r>
            </a:p>
          </p:txBody>
        </p:sp>
        <p:pic>
          <p:nvPicPr>
            <p:cNvPr id="50" name="Grafik 38" descr="Stern mit einfarbiger Füllung">
              <a:extLst>
                <a:ext uri="{FF2B5EF4-FFF2-40B4-BE49-F238E27FC236}">
                  <a16:creationId xmlns:a16="http://schemas.microsoft.com/office/drawing/2014/main" id="{AB6C6CB6-C0B0-B225-FED1-4F66DFE615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035" y="1327583"/>
              <a:ext cx="720000" cy="7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67947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8C8795-D281-B783-6999-33181A38D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7841A6-EB3D-F2FD-B8CA-8D576DBB8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1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en-US" noProof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reenBar">
            <a:extLst>
              <a:ext uri="{FF2B5EF4-FFF2-40B4-BE49-F238E27FC236}">
                <a16:creationId xmlns:a16="http://schemas.microsoft.com/office/drawing/2014/main" id="{A18DEEC2-144C-0DB2-C8A8-731A984B25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CB786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ectionTitle">
            <a:extLst>
              <a:ext uri="{FF2B5EF4-FFF2-40B4-BE49-F238E27FC236}">
                <a16:creationId xmlns:a16="http://schemas.microsoft.com/office/drawing/2014/main" id="{9D3772E8-584D-4F5C-6485-1FE269D1CEF8}"/>
              </a:ext>
            </a:extLst>
          </p:cNvPr>
          <p:cNvSpPr txBox="1">
            <a:spLocks noGrp="1"/>
          </p:cNvSpPr>
          <p:nvPr/>
        </p:nvSpPr>
        <p:spPr>
          <a:xfrm>
            <a:off x="550000" y="2400000"/>
            <a:ext cx="10000000" cy="12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40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Ideal Customer Profile (ICP)</a:t>
            </a:r>
          </a:p>
        </p:txBody>
      </p:sp>
      <p:sp>
        <p:nvSpPr>
          <p:cNvPr id="12" name="SectionSub">
            <a:extLst>
              <a:ext uri="{FF2B5EF4-FFF2-40B4-BE49-F238E27FC236}">
                <a16:creationId xmlns:a16="http://schemas.microsoft.com/office/drawing/2014/main" id="{8F1640EE-6FE3-4301-DA02-9D9C8261B9F1}"/>
              </a:ext>
            </a:extLst>
          </p:cNvPr>
          <p:cNvSpPr txBox="1">
            <a:spLocks noGrp="1"/>
          </p:cNvSpPr>
          <p:nvPr/>
        </p:nvSpPr>
        <p:spPr>
          <a:xfrm>
            <a:off x="550000" y="3700000"/>
            <a:ext cx="10000000" cy="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0" i="1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"Who is the most likely to buy from you?"</a:t>
            </a:r>
          </a:p>
        </p:txBody>
      </p:sp>
    </p:spTree>
    <p:extLst>
      <p:ext uri="{BB962C8B-B14F-4D97-AF65-F5344CB8AC3E}">
        <p14:creationId xmlns:p14="http://schemas.microsoft.com/office/powerpoint/2010/main" val="2551618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25985-C115-FB96-1F87-A604C48C6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0E8A7D-1493-A74B-F629-809B6659C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1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en-US" noProof="1" dirty="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53804C-9AC7-FC8B-E980-C4A790BD6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17" name="Cell0Bg">
            <a:extLst>
              <a:ext uri="{FF2B5EF4-FFF2-40B4-BE49-F238E27FC236}">
                <a16:creationId xmlns:a16="http://schemas.microsoft.com/office/drawing/2014/main" id="{937C61D6-D75E-833D-F122-EF570D5DB302}"/>
              </a:ext>
            </a:extLst>
          </p:cNvPr>
          <p:cNvSpPr>
            <a:spLocks noGrp="1"/>
          </p:cNvSpPr>
          <p:nvPr/>
        </p:nvSpPr>
        <p:spPr>
          <a:xfrm>
            <a:off x="407988" y="1372500"/>
            <a:ext cx="3750000" cy="2200000"/>
          </a:xfrm>
          <a:prstGeom prst="rect">
            <a:avLst/>
          </a:prstGeom>
          <a:solidFill>
            <a:srgbClr val="E5EAF8"/>
          </a:solidFill>
          <a:ln w="9525">
            <a:solidFill>
              <a:srgbClr val="CCDC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ell0Hdr">
            <a:extLst>
              <a:ext uri="{FF2B5EF4-FFF2-40B4-BE49-F238E27FC236}">
                <a16:creationId xmlns:a16="http://schemas.microsoft.com/office/drawing/2014/main" id="{A46E7E91-F838-3419-487F-83D5C4E7E789}"/>
              </a:ext>
            </a:extLst>
          </p:cNvPr>
          <p:cNvSpPr>
            <a:spLocks noGrp="1"/>
          </p:cNvSpPr>
          <p:nvPr/>
        </p:nvSpPr>
        <p:spPr>
          <a:xfrm>
            <a:off x="407988" y="1372500"/>
            <a:ext cx="3750000" cy="3800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ell0Label">
            <a:extLst>
              <a:ext uri="{FF2B5EF4-FFF2-40B4-BE49-F238E27FC236}">
                <a16:creationId xmlns:a16="http://schemas.microsoft.com/office/drawing/2014/main" id="{4129AABC-5D77-AA1E-E1BC-9B9AE88A5EE0}"/>
              </a:ext>
            </a:extLst>
          </p:cNvPr>
          <p:cNvSpPr txBox="1">
            <a:spLocks noGrp="1"/>
          </p:cNvSpPr>
          <p:nvPr/>
        </p:nvSpPr>
        <p:spPr>
          <a:xfrm>
            <a:off x="557988" y="1372500"/>
            <a:ext cx="3600000" cy="3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Industry</a:t>
            </a:r>
          </a:p>
        </p:txBody>
      </p:sp>
      <p:sp>
        <p:nvSpPr>
          <p:cNvPr id="20" name="Cell0Content">
            <a:extLst>
              <a:ext uri="{FF2B5EF4-FFF2-40B4-BE49-F238E27FC236}">
                <a16:creationId xmlns:a16="http://schemas.microsoft.com/office/drawing/2014/main" id="{33C91E96-EA77-FA09-2749-CA21BA431D17}"/>
              </a:ext>
            </a:extLst>
          </p:cNvPr>
          <p:cNvSpPr txBox="1">
            <a:spLocks noGrp="1"/>
          </p:cNvSpPr>
          <p:nvPr/>
        </p:nvSpPr>
        <p:spPr>
          <a:xfrm>
            <a:off x="557988" y="1802500"/>
            <a:ext cx="3450000" cy="172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200" b="0" i="0" dirty="0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{{icp_industry}}</a:t>
            </a:r>
          </a:p>
        </p:txBody>
      </p:sp>
      <p:sp>
        <p:nvSpPr>
          <p:cNvPr id="21" name="Cell1Bg">
            <a:extLst>
              <a:ext uri="{FF2B5EF4-FFF2-40B4-BE49-F238E27FC236}">
                <a16:creationId xmlns:a16="http://schemas.microsoft.com/office/drawing/2014/main" id="{F8343AF6-F8E8-FE86-6843-BC08C7951204}"/>
              </a:ext>
            </a:extLst>
          </p:cNvPr>
          <p:cNvSpPr>
            <a:spLocks noGrp="1"/>
          </p:cNvSpPr>
          <p:nvPr/>
        </p:nvSpPr>
        <p:spPr>
          <a:xfrm>
            <a:off x="4272988" y="1372500"/>
            <a:ext cx="3750000" cy="2200000"/>
          </a:xfrm>
          <a:prstGeom prst="rect">
            <a:avLst/>
          </a:prstGeom>
          <a:solidFill>
            <a:srgbClr val="E5EAF8"/>
          </a:solidFill>
          <a:ln w="9525">
            <a:solidFill>
              <a:srgbClr val="CCDC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ell1Hdr">
            <a:extLst>
              <a:ext uri="{FF2B5EF4-FFF2-40B4-BE49-F238E27FC236}">
                <a16:creationId xmlns:a16="http://schemas.microsoft.com/office/drawing/2014/main" id="{76315E51-5FED-19AC-DA8E-51BBC409630A}"/>
              </a:ext>
            </a:extLst>
          </p:cNvPr>
          <p:cNvSpPr>
            <a:spLocks noGrp="1"/>
          </p:cNvSpPr>
          <p:nvPr/>
        </p:nvSpPr>
        <p:spPr>
          <a:xfrm>
            <a:off x="4272988" y="1372500"/>
            <a:ext cx="3750000" cy="3800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Cell1Label">
            <a:extLst>
              <a:ext uri="{FF2B5EF4-FFF2-40B4-BE49-F238E27FC236}">
                <a16:creationId xmlns:a16="http://schemas.microsoft.com/office/drawing/2014/main" id="{243515F3-2E8A-4BB6-56B3-19A13B8AC6F0}"/>
              </a:ext>
            </a:extLst>
          </p:cNvPr>
          <p:cNvSpPr txBox="1">
            <a:spLocks noGrp="1"/>
          </p:cNvSpPr>
          <p:nvPr/>
        </p:nvSpPr>
        <p:spPr>
          <a:xfrm>
            <a:off x="4422988" y="1372500"/>
            <a:ext cx="3600000" cy="3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Geography</a:t>
            </a:r>
          </a:p>
        </p:txBody>
      </p:sp>
      <p:sp>
        <p:nvSpPr>
          <p:cNvPr id="24" name="Cell1Content">
            <a:extLst>
              <a:ext uri="{FF2B5EF4-FFF2-40B4-BE49-F238E27FC236}">
                <a16:creationId xmlns:a16="http://schemas.microsoft.com/office/drawing/2014/main" id="{DBCC200A-B28F-30D1-4597-AF6CAAFAB7C5}"/>
              </a:ext>
            </a:extLst>
          </p:cNvPr>
          <p:cNvSpPr txBox="1">
            <a:spLocks noGrp="1"/>
          </p:cNvSpPr>
          <p:nvPr/>
        </p:nvSpPr>
        <p:spPr>
          <a:xfrm>
            <a:off x="4422988" y="1802500"/>
            <a:ext cx="3450000" cy="172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200" b="0" i="0" dirty="0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{{icp_geography}}</a:t>
            </a:r>
          </a:p>
        </p:txBody>
      </p:sp>
      <p:sp>
        <p:nvSpPr>
          <p:cNvPr id="25" name="Cell2Bg">
            <a:extLst>
              <a:ext uri="{FF2B5EF4-FFF2-40B4-BE49-F238E27FC236}">
                <a16:creationId xmlns:a16="http://schemas.microsoft.com/office/drawing/2014/main" id="{EB7867E5-C09F-3580-E332-B91BEA8732BB}"/>
              </a:ext>
            </a:extLst>
          </p:cNvPr>
          <p:cNvSpPr>
            <a:spLocks noGrp="1"/>
          </p:cNvSpPr>
          <p:nvPr/>
        </p:nvSpPr>
        <p:spPr>
          <a:xfrm>
            <a:off x="8137988" y="1372500"/>
            <a:ext cx="3750000" cy="2200000"/>
          </a:xfrm>
          <a:prstGeom prst="rect">
            <a:avLst/>
          </a:prstGeom>
          <a:solidFill>
            <a:srgbClr val="E5EAF8"/>
          </a:solidFill>
          <a:ln w="9525">
            <a:solidFill>
              <a:srgbClr val="CCDC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Cell2Hdr">
            <a:extLst>
              <a:ext uri="{FF2B5EF4-FFF2-40B4-BE49-F238E27FC236}">
                <a16:creationId xmlns:a16="http://schemas.microsoft.com/office/drawing/2014/main" id="{FE9A0A38-284E-F7A7-A0C7-3563AF577549}"/>
              </a:ext>
            </a:extLst>
          </p:cNvPr>
          <p:cNvSpPr>
            <a:spLocks noGrp="1"/>
          </p:cNvSpPr>
          <p:nvPr/>
        </p:nvSpPr>
        <p:spPr>
          <a:xfrm>
            <a:off x="8137988" y="1372500"/>
            <a:ext cx="3750000" cy="3800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Cell2Label">
            <a:extLst>
              <a:ext uri="{FF2B5EF4-FFF2-40B4-BE49-F238E27FC236}">
                <a16:creationId xmlns:a16="http://schemas.microsoft.com/office/drawing/2014/main" id="{7D019EED-F51B-540B-1B8A-1D15304F6BEA}"/>
              </a:ext>
            </a:extLst>
          </p:cNvPr>
          <p:cNvSpPr txBox="1">
            <a:spLocks noGrp="1"/>
          </p:cNvSpPr>
          <p:nvPr/>
        </p:nvSpPr>
        <p:spPr>
          <a:xfrm>
            <a:off x="8287988" y="1372500"/>
            <a:ext cx="3600000" cy="3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Company Size</a:t>
            </a:r>
          </a:p>
        </p:txBody>
      </p:sp>
      <p:sp>
        <p:nvSpPr>
          <p:cNvPr id="28" name="Cell2Content">
            <a:extLst>
              <a:ext uri="{FF2B5EF4-FFF2-40B4-BE49-F238E27FC236}">
                <a16:creationId xmlns:a16="http://schemas.microsoft.com/office/drawing/2014/main" id="{2BC60C01-EAD1-3320-412C-94C12B09F25D}"/>
              </a:ext>
            </a:extLst>
          </p:cNvPr>
          <p:cNvSpPr txBox="1">
            <a:spLocks noGrp="1"/>
          </p:cNvSpPr>
          <p:nvPr/>
        </p:nvSpPr>
        <p:spPr>
          <a:xfrm>
            <a:off x="8287988" y="1802500"/>
            <a:ext cx="3450000" cy="172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200" b="0" i="0" dirty="0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{{icp_company_size}}</a:t>
            </a:r>
          </a:p>
        </p:txBody>
      </p:sp>
      <p:sp>
        <p:nvSpPr>
          <p:cNvPr id="43" name="TitleBar">
            <a:extLst>
              <a:ext uri="{FF2B5EF4-FFF2-40B4-BE49-F238E27FC236}">
                <a16:creationId xmlns:a16="http://schemas.microsoft.com/office/drawing/2014/main" id="{6DB0F20E-5E26-CBBD-F761-27606184F0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itleAccent">
            <a:extLst>
              <a:ext uri="{FF2B5EF4-FFF2-40B4-BE49-F238E27FC236}">
                <a16:creationId xmlns:a16="http://schemas.microsoft.com/office/drawing/2014/main" id="{18AC904F-B0C4-CAA6-9630-0F12BE9268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1028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itleText">
            <a:extLst>
              <a:ext uri="{FF2B5EF4-FFF2-40B4-BE49-F238E27FC236}">
                <a16:creationId xmlns:a16="http://schemas.microsoft.com/office/drawing/2014/main" id="{62612742-5A00-47B5-88BA-9D4E6793BD09}"/>
              </a:ext>
            </a:extLst>
          </p:cNvPr>
          <p:cNvSpPr txBox="1">
            <a:spLocks noGrp="1"/>
          </p:cNvSpPr>
          <p:nvPr/>
        </p:nvSpPr>
        <p:spPr>
          <a:xfrm>
            <a:off x="320000" y="0"/>
            <a:ext cx="10000000" cy="10287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2000" b="1" i="0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IDEAL CUSTOMER PROFILE (ICP)</a:t>
            </a:r>
          </a:p>
        </p:txBody>
      </p:sp>
      <p:sp>
        <p:nvSpPr>
          <p:cNvPr id="46" name="Cell0Bg">
            <a:extLst>
              <a:ext uri="{FF2B5EF4-FFF2-40B4-BE49-F238E27FC236}">
                <a16:creationId xmlns:a16="http://schemas.microsoft.com/office/drawing/2014/main" id="{C6BD6CD5-CF7F-3268-7CD3-4B8851894BAB}"/>
              </a:ext>
            </a:extLst>
          </p:cNvPr>
          <p:cNvSpPr>
            <a:spLocks noGrp="1"/>
          </p:cNvSpPr>
          <p:nvPr/>
        </p:nvSpPr>
        <p:spPr>
          <a:xfrm>
            <a:off x="407988" y="3916300"/>
            <a:ext cx="3750000" cy="2200000"/>
          </a:xfrm>
          <a:prstGeom prst="rect">
            <a:avLst/>
          </a:prstGeom>
          <a:solidFill>
            <a:srgbClr val="E5EAF8"/>
          </a:solidFill>
          <a:ln w="9525">
            <a:solidFill>
              <a:srgbClr val="CCDC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Cell0Hdr">
            <a:extLst>
              <a:ext uri="{FF2B5EF4-FFF2-40B4-BE49-F238E27FC236}">
                <a16:creationId xmlns:a16="http://schemas.microsoft.com/office/drawing/2014/main" id="{A9EDA6BF-D38C-A159-841A-BFCA02BC6C5D}"/>
              </a:ext>
            </a:extLst>
          </p:cNvPr>
          <p:cNvSpPr>
            <a:spLocks noGrp="1"/>
          </p:cNvSpPr>
          <p:nvPr/>
        </p:nvSpPr>
        <p:spPr>
          <a:xfrm>
            <a:off x="407988" y="3916300"/>
            <a:ext cx="3750000" cy="3800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Cell0Label">
            <a:extLst>
              <a:ext uri="{FF2B5EF4-FFF2-40B4-BE49-F238E27FC236}">
                <a16:creationId xmlns:a16="http://schemas.microsoft.com/office/drawing/2014/main" id="{096E33DD-97AE-58D1-CA9B-7F7899192D68}"/>
              </a:ext>
            </a:extLst>
          </p:cNvPr>
          <p:cNvSpPr txBox="1">
            <a:spLocks noGrp="1"/>
          </p:cNvSpPr>
          <p:nvPr/>
        </p:nvSpPr>
        <p:spPr>
          <a:xfrm>
            <a:off x="557988" y="3916300"/>
            <a:ext cx="3600000" cy="3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Buying Group</a:t>
            </a:r>
          </a:p>
        </p:txBody>
      </p:sp>
      <p:sp>
        <p:nvSpPr>
          <p:cNvPr id="49" name="Cell0Content">
            <a:extLst>
              <a:ext uri="{FF2B5EF4-FFF2-40B4-BE49-F238E27FC236}">
                <a16:creationId xmlns:a16="http://schemas.microsoft.com/office/drawing/2014/main" id="{5E0E2849-AC4C-BBA4-6FD3-369F262A6864}"/>
              </a:ext>
            </a:extLst>
          </p:cNvPr>
          <p:cNvSpPr txBox="1">
            <a:spLocks noGrp="1"/>
          </p:cNvSpPr>
          <p:nvPr/>
        </p:nvSpPr>
        <p:spPr>
          <a:xfrm>
            <a:off x="557988" y="4346300"/>
            <a:ext cx="3450000" cy="172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200" b="0" i="0" dirty="0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{{icp_buying_group}}</a:t>
            </a:r>
          </a:p>
        </p:txBody>
      </p:sp>
      <p:sp>
        <p:nvSpPr>
          <p:cNvPr id="50" name="Cell1Bg">
            <a:extLst>
              <a:ext uri="{FF2B5EF4-FFF2-40B4-BE49-F238E27FC236}">
                <a16:creationId xmlns:a16="http://schemas.microsoft.com/office/drawing/2014/main" id="{EB0B2AC1-C634-5E61-FCBA-622CF6827D1F}"/>
              </a:ext>
            </a:extLst>
          </p:cNvPr>
          <p:cNvSpPr>
            <a:spLocks noGrp="1"/>
          </p:cNvSpPr>
          <p:nvPr/>
        </p:nvSpPr>
        <p:spPr>
          <a:xfrm>
            <a:off x="4272988" y="3916300"/>
            <a:ext cx="3750000" cy="2200000"/>
          </a:xfrm>
          <a:prstGeom prst="rect">
            <a:avLst/>
          </a:prstGeom>
          <a:solidFill>
            <a:srgbClr val="E5EAF8"/>
          </a:solidFill>
          <a:ln w="9525">
            <a:solidFill>
              <a:srgbClr val="CCDC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Cell1Hdr">
            <a:extLst>
              <a:ext uri="{FF2B5EF4-FFF2-40B4-BE49-F238E27FC236}">
                <a16:creationId xmlns:a16="http://schemas.microsoft.com/office/drawing/2014/main" id="{771696A6-980F-AB0A-A51A-F32953DC7420}"/>
              </a:ext>
            </a:extLst>
          </p:cNvPr>
          <p:cNvSpPr>
            <a:spLocks noGrp="1"/>
          </p:cNvSpPr>
          <p:nvPr/>
        </p:nvSpPr>
        <p:spPr>
          <a:xfrm>
            <a:off x="4272988" y="3916300"/>
            <a:ext cx="3750000" cy="3800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Cell1Label">
            <a:extLst>
              <a:ext uri="{FF2B5EF4-FFF2-40B4-BE49-F238E27FC236}">
                <a16:creationId xmlns:a16="http://schemas.microsoft.com/office/drawing/2014/main" id="{627C73DD-7623-F2E9-0335-CD026493DF65}"/>
              </a:ext>
            </a:extLst>
          </p:cNvPr>
          <p:cNvSpPr txBox="1">
            <a:spLocks noGrp="1"/>
          </p:cNvSpPr>
          <p:nvPr/>
        </p:nvSpPr>
        <p:spPr>
          <a:xfrm>
            <a:off x="4422988" y="3916300"/>
            <a:ext cx="3600000" cy="3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Maturity Level</a:t>
            </a:r>
          </a:p>
        </p:txBody>
      </p:sp>
      <p:sp>
        <p:nvSpPr>
          <p:cNvPr id="53" name="Cell1Content">
            <a:extLst>
              <a:ext uri="{FF2B5EF4-FFF2-40B4-BE49-F238E27FC236}">
                <a16:creationId xmlns:a16="http://schemas.microsoft.com/office/drawing/2014/main" id="{71311969-DC6C-567E-0C19-C63E88EA6A9F}"/>
              </a:ext>
            </a:extLst>
          </p:cNvPr>
          <p:cNvSpPr txBox="1">
            <a:spLocks noGrp="1"/>
          </p:cNvSpPr>
          <p:nvPr/>
        </p:nvSpPr>
        <p:spPr>
          <a:xfrm>
            <a:off x="4422988" y="4346300"/>
            <a:ext cx="3450000" cy="172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200" b="0" i="0" dirty="0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{{icp_maturity_level}}</a:t>
            </a:r>
          </a:p>
        </p:txBody>
      </p:sp>
      <p:sp>
        <p:nvSpPr>
          <p:cNvPr id="54" name="Cell2Bg">
            <a:extLst>
              <a:ext uri="{FF2B5EF4-FFF2-40B4-BE49-F238E27FC236}">
                <a16:creationId xmlns:a16="http://schemas.microsoft.com/office/drawing/2014/main" id="{24B5235F-A345-0CDB-E608-61BD5872387F}"/>
              </a:ext>
            </a:extLst>
          </p:cNvPr>
          <p:cNvSpPr>
            <a:spLocks noGrp="1"/>
          </p:cNvSpPr>
          <p:nvPr/>
        </p:nvSpPr>
        <p:spPr>
          <a:xfrm>
            <a:off x="8137988" y="3916300"/>
            <a:ext cx="3750000" cy="2200000"/>
          </a:xfrm>
          <a:prstGeom prst="rect">
            <a:avLst/>
          </a:prstGeom>
          <a:solidFill>
            <a:srgbClr val="E5EAF8"/>
          </a:solidFill>
          <a:ln w="9525">
            <a:solidFill>
              <a:srgbClr val="CCDC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Cell2Hdr">
            <a:extLst>
              <a:ext uri="{FF2B5EF4-FFF2-40B4-BE49-F238E27FC236}">
                <a16:creationId xmlns:a16="http://schemas.microsoft.com/office/drawing/2014/main" id="{ABC96B95-1596-72A9-18AA-D155A4FE5B8E}"/>
              </a:ext>
            </a:extLst>
          </p:cNvPr>
          <p:cNvSpPr>
            <a:spLocks noGrp="1"/>
          </p:cNvSpPr>
          <p:nvPr/>
        </p:nvSpPr>
        <p:spPr>
          <a:xfrm>
            <a:off x="8137988" y="3916300"/>
            <a:ext cx="3750000" cy="3800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Cell2Label">
            <a:extLst>
              <a:ext uri="{FF2B5EF4-FFF2-40B4-BE49-F238E27FC236}">
                <a16:creationId xmlns:a16="http://schemas.microsoft.com/office/drawing/2014/main" id="{8AEF78BA-AF11-3432-3ED0-BE9282D251C3}"/>
              </a:ext>
            </a:extLst>
          </p:cNvPr>
          <p:cNvSpPr txBox="1">
            <a:spLocks noGrp="1"/>
          </p:cNvSpPr>
          <p:nvPr/>
        </p:nvSpPr>
        <p:spPr>
          <a:xfrm>
            <a:off x="8287988" y="3916300"/>
            <a:ext cx="3600000" cy="3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[custom field]</a:t>
            </a:r>
          </a:p>
        </p:txBody>
      </p:sp>
      <p:sp>
        <p:nvSpPr>
          <p:cNvPr id="57" name="Cell2Content">
            <a:extLst>
              <a:ext uri="{FF2B5EF4-FFF2-40B4-BE49-F238E27FC236}">
                <a16:creationId xmlns:a16="http://schemas.microsoft.com/office/drawing/2014/main" id="{CBB090F1-4A82-E7F5-EF0A-400D32677CC6}"/>
              </a:ext>
            </a:extLst>
          </p:cNvPr>
          <p:cNvSpPr txBox="1">
            <a:spLocks noGrp="1"/>
          </p:cNvSpPr>
          <p:nvPr/>
        </p:nvSpPr>
        <p:spPr>
          <a:xfrm>
            <a:off x="8287988" y="4346300"/>
            <a:ext cx="3450000" cy="172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200" b="0" i="0" dirty="0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{{icp_custom_field}}</a:t>
            </a:r>
          </a:p>
        </p:txBody>
      </p:sp>
    </p:spTree>
    <p:extLst>
      <p:ext uri="{BB962C8B-B14F-4D97-AF65-F5344CB8AC3E}">
        <p14:creationId xmlns:p14="http://schemas.microsoft.com/office/powerpoint/2010/main" val="121702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36BB0-A930-6BBF-961F-F7235CFD3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AD035-B989-ACAC-412C-4FCE6CD44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81664-D65A-0E20-307E-2A627D0D4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1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en-US" noProof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reenBar">
            <a:extLst>
              <a:ext uri="{FF2B5EF4-FFF2-40B4-BE49-F238E27FC236}">
                <a16:creationId xmlns:a16="http://schemas.microsoft.com/office/drawing/2014/main" id="{E6064D88-069E-1485-AE4F-F35A79B683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CB786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ectionTitle">
            <a:extLst>
              <a:ext uri="{FF2B5EF4-FFF2-40B4-BE49-F238E27FC236}">
                <a16:creationId xmlns:a16="http://schemas.microsoft.com/office/drawing/2014/main" id="{B6CEFF76-68C4-D40E-8ADE-36CDA726BAB9}"/>
              </a:ext>
            </a:extLst>
          </p:cNvPr>
          <p:cNvSpPr txBox="1">
            <a:spLocks noGrp="1"/>
          </p:cNvSpPr>
          <p:nvPr/>
        </p:nvSpPr>
        <p:spPr>
          <a:xfrm>
            <a:off x="550000" y="2400000"/>
            <a:ext cx="10000000" cy="12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40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 &amp; Buying Group</a:t>
            </a:r>
          </a:p>
        </p:txBody>
      </p:sp>
      <p:sp>
        <p:nvSpPr>
          <p:cNvPr id="12" name="SectionSub">
            <a:extLst>
              <a:ext uri="{FF2B5EF4-FFF2-40B4-BE49-F238E27FC236}">
                <a16:creationId xmlns:a16="http://schemas.microsoft.com/office/drawing/2014/main" id="{9A415B59-6137-0C78-988A-72C47F45D8D6}"/>
              </a:ext>
            </a:extLst>
          </p:cNvPr>
          <p:cNvSpPr txBox="1">
            <a:spLocks noGrp="1"/>
          </p:cNvSpPr>
          <p:nvPr/>
        </p:nvSpPr>
        <p:spPr>
          <a:xfrm>
            <a:off x="550000" y="3700000"/>
            <a:ext cx="10000000" cy="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0" i="1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"Who are the key decision makers and what do they aim for?"</a:t>
            </a:r>
          </a:p>
        </p:txBody>
      </p:sp>
    </p:spTree>
    <p:extLst>
      <p:ext uri="{BB962C8B-B14F-4D97-AF65-F5344CB8AC3E}">
        <p14:creationId xmlns:p14="http://schemas.microsoft.com/office/powerpoint/2010/main" val="2004851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D9C284-7EC2-FF9E-B34F-B985DC211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de-DE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de-A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B13D9E-5672-2DE4-4A73-A68826496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5" name="LeftPanel">
            <a:extLst>
              <a:ext uri="{FF2B5EF4-FFF2-40B4-BE49-F238E27FC236}">
                <a16:creationId xmlns:a16="http://schemas.microsoft.com/office/drawing/2014/main" id="{618147BB-375C-7AF6-034A-9A34764DE1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00000" cy="68580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reenTop">
            <a:extLst>
              <a:ext uri="{FF2B5EF4-FFF2-40B4-BE49-F238E27FC236}">
                <a16:creationId xmlns:a16="http://schemas.microsoft.com/office/drawing/2014/main" id="{C38B0704-436C-56A2-9C21-8EECB5CA5D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00000" cy="18288"/>
          </a:xfrm>
          <a:prstGeom prst="rect">
            <a:avLst/>
          </a:prstGeom>
          <a:solidFill>
            <a:srgbClr val="2CB786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PhotoBg">
            <a:extLst>
              <a:ext uri="{FF2B5EF4-FFF2-40B4-BE49-F238E27FC236}">
                <a16:creationId xmlns:a16="http://schemas.microsoft.com/office/drawing/2014/main" id="{2E29F472-DA1A-D316-C221-BD4BF287514A}"/>
              </a:ext>
            </a:extLst>
          </p:cNvPr>
          <p:cNvSpPr>
            <a:spLocks noGrp="1"/>
          </p:cNvSpPr>
          <p:nvPr/>
        </p:nvSpPr>
        <p:spPr>
          <a:xfrm>
            <a:off x="200000" y="150000"/>
            <a:ext cx="1200000" cy="1400000"/>
          </a:xfrm>
          <a:prstGeom prst="rect">
            <a:avLst/>
          </a:prstGeom>
          <a:solidFill>
            <a:srgbClr val="0030BC"/>
          </a:solidFill>
          <a:ln w="9525">
            <a:solidFill>
              <a:srgbClr val="E5EAF8"/>
            </a:solidFill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PhotoLabel">
            <a:extLst>
              <a:ext uri="{FF2B5EF4-FFF2-40B4-BE49-F238E27FC236}">
                <a16:creationId xmlns:a16="http://schemas.microsoft.com/office/drawing/2014/main" id="{9C256FD4-F307-FF9E-EAD3-DF6046BAA913}"/>
              </a:ext>
            </a:extLst>
          </p:cNvPr>
          <p:cNvSpPr txBox="1">
            <a:spLocks noGrp="1"/>
          </p:cNvSpPr>
          <p:nvPr/>
        </p:nvSpPr>
        <p:spPr>
          <a:xfrm>
            <a:off x="200000" y="600000"/>
            <a:ext cx="1200000" cy="4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200" b="0" i="0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Photo</a:t>
            </a:r>
          </a:p>
        </p:txBody>
      </p:sp>
      <p:sp>
        <p:nvSpPr>
          <p:cNvPr id="9" name="RoleName">
            <a:extLst>
              <a:ext uri="{FF2B5EF4-FFF2-40B4-BE49-F238E27FC236}">
                <a16:creationId xmlns:a16="http://schemas.microsoft.com/office/drawing/2014/main" id="{2CA6D599-51A1-322A-6109-FC3FA429847C}"/>
              </a:ext>
            </a:extLst>
          </p:cNvPr>
          <p:cNvSpPr txBox="1">
            <a:spLocks noGrp="1"/>
          </p:cNvSpPr>
          <p:nvPr/>
        </p:nvSpPr>
        <p:spPr>
          <a:xfrm>
            <a:off x="1550000" y="250000"/>
            <a:ext cx="1700000" cy="5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{{persona_role_name}}</a:t>
            </a:r>
          </a:p>
        </p:txBody>
      </p:sp>
      <p:sp>
        <p:nvSpPr>
          <p:cNvPr id="10" name="BasicInfo">
            <a:extLst>
              <a:ext uri="{FF2B5EF4-FFF2-40B4-BE49-F238E27FC236}">
                <a16:creationId xmlns:a16="http://schemas.microsoft.com/office/drawing/2014/main" id="{27ACA6E6-3091-0109-D8E6-A7748F445966}"/>
              </a:ext>
            </a:extLst>
          </p:cNvPr>
          <p:cNvSpPr txBox="1">
            <a:spLocks noGrp="1"/>
          </p:cNvSpPr>
          <p:nvPr/>
        </p:nvSpPr>
        <p:spPr>
          <a:xfrm>
            <a:off x="200000" y="1650000"/>
            <a:ext cx="3000000" cy="225856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200" b="1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Name: {{persona_name}}</a:t>
            </a:r>
          </a:p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t>Role: {{persona_role}}</a:t>
            </a:r>
            <a:endParaRPr lang="en-US" sz="1200" b="1" dirty="0">
              <a:solidFill>
                <a:srgbClr val="E5EAF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200" b="1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Age: {{persona_age}}</a:t>
            </a:r>
          </a:p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t>Education: {{persona_education}}</a:t>
            </a:r>
            <a:endParaRPr lang="en-US" sz="1200" b="1" dirty="0">
              <a:solidFill>
                <a:srgbClr val="E5EAF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200" b="1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Location: {{persona_location}}</a:t>
            </a:r>
          </a:p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t>Industry: {{persona_industry}}</a:t>
            </a:r>
            <a:endParaRPr lang="en-US" sz="1200" b="1" dirty="0">
              <a:solidFill>
                <a:srgbClr val="E5EAF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200" b="1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Education: …</a:t>
            </a:r>
          </a:p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endParaRPr lang="en-US" sz="1200" b="1" dirty="0">
              <a:solidFill>
                <a:srgbClr val="E5EAF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200" b="1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Location: …</a:t>
            </a:r>
          </a:p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endParaRPr lang="en-US" sz="1200" b="1" dirty="0">
              <a:solidFill>
                <a:srgbClr val="E5EAF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200" b="1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Industry: …</a:t>
            </a:r>
            <a:endParaRPr lang="en-US" sz="1200" b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spHeader">
            <a:extLst>
              <a:ext uri="{FF2B5EF4-FFF2-40B4-BE49-F238E27FC236}">
                <a16:creationId xmlns:a16="http://schemas.microsoft.com/office/drawing/2014/main" id="{12D853E2-E994-6693-4C91-E17B0B3A6C48}"/>
              </a:ext>
            </a:extLst>
          </p:cNvPr>
          <p:cNvSpPr>
            <a:spLocks noGrp="1"/>
          </p:cNvSpPr>
          <p:nvPr/>
        </p:nvSpPr>
        <p:spPr>
          <a:xfrm>
            <a:off x="0" y="4039460"/>
            <a:ext cx="3400000" cy="380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spLabel">
            <a:extLst>
              <a:ext uri="{FF2B5EF4-FFF2-40B4-BE49-F238E27FC236}">
                <a16:creationId xmlns:a16="http://schemas.microsoft.com/office/drawing/2014/main" id="{FB3CDAC4-1AFA-7F58-ACCC-232B5CF440A4}"/>
              </a:ext>
            </a:extLst>
          </p:cNvPr>
          <p:cNvSpPr txBox="1">
            <a:spLocks noGrp="1"/>
          </p:cNvSpPr>
          <p:nvPr/>
        </p:nvSpPr>
        <p:spPr>
          <a:xfrm>
            <a:off x="150000" y="4039460"/>
            <a:ext cx="3200000" cy="3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Responsibilities</a:t>
            </a:r>
          </a:p>
        </p:txBody>
      </p:sp>
      <p:sp>
        <p:nvSpPr>
          <p:cNvPr id="13" name="RespContent">
            <a:extLst>
              <a:ext uri="{FF2B5EF4-FFF2-40B4-BE49-F238E27FC236}">
                <a16:creationId xmlns:a16="http://schemas.microsoft.com/office/drawing/2014/main" id="{D9751E74-5341-80E8-8393-351DA8891279}"/>
              </a:ext>
            </a:extLst>
          </p:cNvPr>
          <p:cNvSpPr txBox="1">
            <a:spLocks noGrp="1"/>
          </p:cNvSpPr>
          <p:nvPr/>
        </p:nvSpPr>
        <p:spPr>
          <a:xfrm>
            <a:off x="200000" y="4539959"/>
            <a:ext cx="3000000" cy="1625891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{{persona_resp_1}}</a:t>
            </a:r>
          </a:p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{{persona_resp_2}}</a:t>
            </a:r>
          </a:p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{{persona_resp_3}}</a:t>
            </a:r>
          </a:p>
        </p:txBody>
      </p:sp>
      <p:sp>
        <p:nvSpPr>
          <p:cNvPr id="14" name="RightTopBar">
            <a:extLst>
              <a:ext uri="{FF2B5EF4-FFF2-40B4-BE49-F238E27FC236}">
                <a16:creationId xmlns:a16="http://schemas.microsoft.com/office/drawing/2014/main" id="{491DA3C0-D077-D424-452C-CFF82D197FC2}"/>
              </a:ext>
            </a:extLst>
          </p:cNvPr>
          <p:cNvSpPr>
            <a:spLocks noGrp="1"/>
          </p:cNvSpPr>
          <p:nvPr/>
        </p:nvSpPr>
        <p:spPr>
          <a:xfrm>
            <a:off x="3400000" y="0"/>
            <a:ext cx="8792000" cy="950000"/>
          </a:xfrm>
          <a:prstGeom prst="rect">
            <a:avLst/>
          </a:prstGeom>
          <a:solidFill>
            <a:srgbClr val="E5EAF8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ightTitle">
            <a:extLst>
              <a:ext uri="{FF2B5EF4-FFF2-40B4-BE49-F238E27FC236}">
                <a16:creationId xmlns:a16="http://schemas.microsoft.com/office/drawing/2014/main" id="{358B9E47-DB38-4CD9-7A66-B62398753EEF}"/>
              </a:ext>
            </a:extLst>
          </p:cNvPr>
          <p:cNvSpPr txBox="1">
            <a:spLocks noGrp="1"/>
          </p:cNvSpPr>
          <p:nvPr/>
        </p:nvSpPr>
        <p:spPr>
          <a:xfrm>
            <a:off x="3500000" y="0"/>
            <a:ext cx="8592000" cy="9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Objectives &amp; KPIs</a:t>
            </a:r>
          </a:p>
        </p:txBody>
      </p:sp>
      <p:sp>
        <p:nvSpPr>
          <p:cNvPr id="35" name="Card0">
            <a:extLst>
              <a:ext uri="{FF2B5EF4-FFF2-40B4-BE49-F238E27FC236}">
                <a16:creationId xmlns:a16="http://schemas.microsoft.com/office/drawing/2014/main" id="{F0228259-2A75-B82F-407E-81DB91736C2E}"/>
              </a:ext>
            </a:extLst>
          </p:cNvPr>
          <p:cNvSpPr>
            <a:spLocks noGrp="1"/>
          </p:cNvSpPr>
          <p:nvPr/>
        </p:nvSpPr>
        <p:spPr>
          <a:xfrm>
            <a:off x="3499999" y="1096409"/>
            <a:ext cx="4013983" cy="2052639"/>
          </a:xfrm>
          <a:prstGeom prst="rect">
            <a:avLst/>
          </a:prstGeom>
          <a:solidFill>
            <a:srgbClr val="E5EAF8"/>
          </a:solidFill>
          <a:ln w="12700">
            <a:solidFill>
              <a:srgbClr val="D0D8F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CardAccent0">
            <a:extLst>
              <a:ext uri="{FF2B5EF4-FFF2-40B4-BE49-F238E27FC236}">
                <a16:creationId xmlns:a16="http://schemas.microsoft.com/office/drawing/2014/main" id="{77B2A57F-51A9-17DC-36B8-29FDBCA3A420}"/>
              </a:ext>
            </a:extLst>
          </p:cNvPr>
          <p:cNvSpPr>
            <a:spLocks noGrp="1"/>
          </p:cNvSpPr>
          <p:nvPr/>
        </p:nvSpPr>
        <p:spPr>
          <a:xfrm>
            <a:off x="3499999" y="1096412"/>
            <a:ext cx="53975" cy="2052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CardBody0">
            <a:extLst>
              <a:ext uri="{FF2B5EF4-FFF2-40B4-BE49-F238E27FC236}">
                <a16:creationId xmlns:a16="http://schemas.microsoft.com/office/drawing/2014/main" id="{CC8AC45D-D593-7239-DA82-627A12E6C80B}"/>
              </a:ext>
            </a:extLst>
          </p:cNvPr>
          <p:cNvSpPr txBox="1">
            <a:spLocks noGrp="1"/>
          </p:cNvSpPr>
          <p:nvPr/>
        </p:nvSpPr>
        <p:spPr>
          <a:xfrm>
            <a:off x="3645717" y="1496411"/>
            <a:ext cx="3484690" cy="131161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marL="285750" indent="-2857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b="0" i="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Description: {{persona_obj1_desc}}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1: {{persona_obj1_kpi1}}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2: {{persona_obj1_kpi2}}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3: {{persona_obj1_kpi3}}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 Point 1: {{persona_obj1_pain1}}</a:t>
            </a: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 Point 2: {{persona_obj1_pain2}}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Winning Trigger: {{persona_obj1_trigger}}</a:t>
            </a:r>
            <a:endParaRPr lang="en-US" sz="1400" b="0" i="0" noProof="1">
              <a:solidFill>
                <a:srgbClr val="39393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 b="0" i="0" noProof="1">
              <a:solidFill>
                <a:srgbClr val="39393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PhotoBg">
            <a:extLst>
              <a:ext uri="{FF2B5EF4-FFF2-40B4-BE49-F238E27FC236}">
                <a16:creationId xmlns:a16="http://schemas.microsoft.com/office/drawing/2014/main" id="{62DEC885-4E25-C90D-3CA3-02B211429FA5}"/>
              </a:ext>
            </a:extLst>
          </p:cNvPr>
          <p:cNvSpPr>
            <a:spLocks noGrp="1"/>
          </p:cNvSpPr>
          <p:nvPr/>
        </p:nvSpPr>
        <p:spPr>
          <a:xfrm>
            <a:off x="3506946" y="1099329"/>
            <a:ext cx="4013982" cy="350000"/>
          </a:xfrm>
          <a:prstGeom prst="rect">
            <a:avLst/>
          </a:prstGeom>
          <a:solidFill>
            <a:srgbClr val="0030BC"/>
          </a:solidFill>
          <a:ln w="9525"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CardHead0">
            <a:extLst>
              <a:ext uri="{FF2B5EF4-FFF2-40B4-BE49-F238E27FC236}">
                <a16:creationId xmlns:a16="http://schemas.microsoft.com/office/drawing/2014/main" id="{8D448DF3-8167-6B32-BFDD-5197D5FB677D}"/>
              </a:ext>
            </a:extLst>
          </p:cNvPr>
          <p:cNvSpPr txBox="1">
            <a:spLocks noGrp="1"/>
          </p:cNvSpPr>
          <p:nvPr/>
        </p:nvSpPr>
        <p:spPr>
          <a:xfrm>
            <a:off x="3545717" y="1094842"/>
            <a:ext cx="3960009" cy="3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600" b="1" i="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{{persona_obj1_title}}</a:t>
            </a:r>
          </a:p>
        </p:txBody>
      </p:sp>
      <p:sp>
        <p:nvSpPr>
          <p:cNvPr id="56" name="Card0">
            <a:extLst>
              <a:ext uri="{FF2B5EF4-FFF2-40B4-BE49-F238E27FC236}">
                <a16:creationId xmlns:a16="http://schemas.microsoft.com/office/drawing/2014/main" id="{963024EE-1FE1-7271-CC75-998E281C78BC}"/>
              </a:ext>
            </a:extLst>
          </p:cNvPr>
          <p:cNvSpPr>
            <a:spLocks noGrp="1"/>
          </p:cNvSpPr>
          <p:nvPr/>
        </p:nvSpPr>
        <p:spPr>
          <a:xfrm>
            <a:off x="7799596" y="1097979"/>
            <a:ext cx="4013983" cy="2052639"/>
          </a:xfrm>
          <a:prstGeom prst="rect">
            <a:avLst/>
          </a:prstGeom>
          <a:solidFill>
            <a:srgbClr val="E5EAF8"/>
          </a:solidFill>
          <a:ln w="12700">
            <a:solidFill>
              <a:srgbClr val="D0D8F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CardAccent0">
            <a:extLst>
              <a:ext uri="{FF2B5EF4-FFF2-40B4-BE49-F238E27FC236}">
                <a16:creationId xmlns:a16="http://schemas.microsoft.com/office/drawing/2014/main" id="{119AB8E6-DD8E-C3E4-8969-65E4DB31D5BD}"/>
              </a:ext>
            </a:extLst>
          </p:cNvPr>
          <p:cNvSpPr>
            <a:spLocks noGrp="1"/>
          </p:cNvSpPr>
          <p:nvPr/>
        </p:nvSpPr>
        <p:spPr>
          <a:xfrm>
            <a:off x="7799596" y="1097982"/>
            <a:ext cx="53975" cy="2052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CardBody0">
            <a:extLst>
              <a:ext uri="{FF2B5EF4-FFF2-40B4-BE49-F238E27FC236}">
                <a16:creationId xmlns:a16="http://schemas.microsoft.com/office/drawing/2014/main" id="{569617F0-6BF7-8BD0-9E04-26425895670A}"/>
              </a:ext>
            </a:extLst>
          </p:cNvPr>
          <p:cNvSpPr txBox="1">
            <a:spLocks noGrp="1"/>
          </p:cNvSpPr>
          <p:nvPr/>
        </p:nvSpPr>
        <p:spPr>
          <a:xfrm>
            <a:off x="7945314" y="1497981"/>
            <a:ext cx="3484690" cy="131161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marL="285750" indent="-2857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b="0" i="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Description: {{persona_obj2_desc}}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1: {{persona_obj2_kpi1}}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2: {{persona_obj2_kpi2}}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3: {{persona_obj2_kpi3}}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 Point 1: {{persona_obj2_pain1}}</a:t>
            </a: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 Point 2: {{persona_obj2_pain2}}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Winning Trigger: {{persona_obj2_trigger}}</a:t>
            </a:r>
            <a:endParaRPr lang="en-US" sz="1400" b="0" i="0" noProof="1">
              <a:solidFill>
                <a:srgbClr val="39393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 b="0" i="0" noProof="1">
              <a:solidFill>
                <a:srgbClr val="39393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PhotoBg">
            <a:extLst>
              <a:ext uri="{FF2B5EF4-FFF2-40B4-BE49-F238E27FC236}">
                <a16:creationId xmlns:a16="http://schemas.microsoft.com/office/drawing/2014/main" id="{B921601D-4928-26C4-F62F-DD51AC0E311B}"/>
              </a:ext>
            </a:extLst>
          </p:cNvPr>
          <p:cNvSpPr>
            <a:spLocks noGrp="1"/>
          </p:cNvSpPr>
          <p:nvPr/>
        </p:nvSpPr>
        <p:spPr>
          <a:xfrm>
            <a:off x="7806543" y="1100899"/>
            <a:ext cx="4013982" cy="350000"/>
          </a:xfrm>
          <a:prstGeom prst="rect">
            <a:avLst/>
          </a:prstGeom>
          <a:solidFill>
            <a:srgbClr val="0030BC"/>
          </a:solidFill>
          <a:ln w="9525"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CardHead0">
            <a:extLst>
              <a:ext uri="{FF2B5EF4-FFF2-40B4-BE49-F238E27FC236}">
                <a16:creationId xmlns:a16="http://schemas.microsoft.com/office/drawing/2014/main" id="{242D6B0C-1D99-25AA-F2B0-4C3A790D7D88}"/>
              </a:ext>
            </a:extLst>
          </p:cNvPr>
          <p:cNvSpPr txBox="1">
            <a:spLocks noGrp="1"/>
          </p:cNvSpPr>
          <p:nvPr/>
        </p:nvSpPr>
        <p:spPr>
          <a:xfrm>
            <a:off x="7845314" y="1096412"/>
            <a:ext cx="3960009" cy="3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600" b="1" i="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{{persona_obj2_title}}</a:t>
            </a:r>
          </a:p>
        </p:txBody>
      </p:sp>
      <p:sp>
        <p:nvSpPr>
          <p:cNvPr id="61" name="Card0">
            <a:extLst>
              <a:ext uri="{FF2B5EF4-FFF2-40B4-BE49-F238E27FC236}">
                <a16:creationId xmlns:a16="http://schemas.microsoft.com/office/drawing/2014/main" id="{6F6BE3C4-99AB-CC1A-A06F-8434933BF11F}"/>
              </a:ext>
            </a:extLst>
          </p:cNvPr>
          <p:cNvSpPr>
            <a:spLocks noGrp="1"/>
          </p:cNvSpPr>
          <p:nvPr/>
        </p:nvSpPr>
        <p:spPr>
          <a:xfrm>
            <a:off x="3506945" y="3430567"/>
            <a:ext cx="4013983" cy="2052639"/>
          </a:xfrm>
          <a:prstGeom prst="rect">
            <a:avLst/>
          </a:prstGeom>
          <a:solidFill>
            <a:srgbClr val="E5EAF8"/>
          </a:solidFill>
          <a:ln w="12700">
            <a:solidFill>
              <a:srgbClr val="D0D8F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CardAccent0">
            <a:extLst>
              <a:ext uri="{FF2B5EF4-FFF2-40B4-BE49-F238E27FC236}">
                <a16:creationId xmlns:a16="http://schemas.microsoft.com/office/drawing/2014/main" id="{EA747945-91EB-BD34-C05F-FCE47D387CC9}"/>
              </a:ext>
            </a:extLst>
          </p:cNvPr>
          <p:cNvSpPr>
            <a:spLocks noGrp="1"/>
          </p:cNvSpPr>
          <p:nvPr/>
        </p:nvSpPr>
        <p:spPr>
          <a:xfrm>
            <a:off x="3506945" y="3430570"/>
            <a:ext cx="53975" cy="2052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CardBody0">
            <a:extLst>
              <a:ext uri="{FF2B5EF4-FFF2-40B4-BE49-F238E27FC236}">
                <a16:creationId xmlns:a16="http://schemas.microsoft.com/office/drawing/2014/main" id="{334D8B18-C426-EC22-D748-AF3DB15FC4C2}"/>
              </a:ext>
            </a:extLst>
          </p:cNvPr>
          <p:cNvSpPr txBox="1">
            <a:spLocks noGrp="1"/>
          </p:cNvSpPr>
          <p:nvPr/>
        </p:nvSpPr>
        <p:spPr>
          <a:xfrm>
            <a:off x="3652663" y="3830569"/>
            <a:ext cx="3484690" cy="131161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marL="285750" indent="-2857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b="0" i="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Description: {{persona_obj3_desc}}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1: {{persona_obj3_kpi1}}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2: {{persona_obj3_kpi2}}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3: {{persona_obj3_kpi3}}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 Point 1: {{persona_obj3_pain1}}</a:t>
            </a: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 Point 2: {{persona_obj3_pain2}}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Winning Trigger: {{persona_obj3_trigger}}</a:t>
            </a:r>
            <a:endParaRPr lang="en-US" sz="1400" b="0" i="0" noProof="1">
              <a:solidFill>
                <a:srgbClr val="39393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 b="0" i="0" noProof="1">
              <a:solidFill>
                <a:srgbClr val="39393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PhotoBg">
            <a:extLst>
              <a:ext uri="{FF2B5EF4-FFF2-40B4-BE49-F238E27FC236}">
                <a16:creationId xmlns:a16="http://schemas.microsoft.com/office/drawing/2014/main" id="{9EBC790C-5140-6CBB-631B-9095F77D573B}"/>
              </a:ext>
            </a:extLst>
          </p:cNvPr>
          <p:cNvSpPr>
            <a:spLocks noGrp="1"/>
          </p:cNvSpPr>
          <p:nvPr/>
        </p:nvSpPr>
        <p:spPr>
          <a:xfrm>
            <a:off x="3513892" y="3433487"/>
            <a:ext cx="4013982" cy="350000"/>
          </a:xfrm>
          <a:prstGeom prst="rect">
            <a:avLst/>
          </a:prstGeom>
          <a:solidFill>
            <a:srgbClr val="0030BC"/>
          </a:solidFill>
          <a:ln w="9525"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CardHead0">
            <a:extLst>
              <a:ext uri="{FF2B5EF4-FFF2-40B4-BE49-F238E27FC236}">
                <a16:creationId xmlns:a16="http://schemas.microsoft.com/office/drawing/2014/main" id="{FA3412F2-D7FE-70CE-7A60-775F240FF4CA}"/>
              </a:ext>
            </a:extLst>
          </p:cNvPr>
          <p:cNvSpPr txBox="1">
            <a:spLocks noGrp="1"/>
          </p:cNvSpPr>
          <p:nvPr/>
        </p:nvSpPr>
        <p:spPr>
          <a:xfrm>
            <a:off x="3552663" y="3429000"/>
            <a:ext cx="3960009" cy="3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600" b="1" i="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{{persona_obj3_title}}</a:t>
            </a:r>
          </a:p>
        </p:txBody>
      </p:sp>
      <p:sp>
        <p:nvSpPr>
          <p:cNvPr id="66" name="Card0">
            <a:extLst>
              <a:ext uri="{FF2B5EF4-FFF2-40B4-BE49-F238E27FC236}">
                <a16:creationId xmlns:a16="http://schemas.microsoft.com/office/drawing/2014/main" id="{AF7F26BE-2A2C-2BA7-A0A1-FCFAA1B288A1}"/>
              </a:ext>
            </a:extLst>
          </p:cNvPr>
          <p:cNvSpPr>
            <a:spLocks noGrp="1"/>
          </p:cNvSpPr>
          <p:nvPr/>
        </p:nvSpPr>
        <p:spPr>
          <a:xfrm>
            <a:off x="7806542" y="3432137"/>
            <a:ext cx="4013983" cy="2052639"/>
          </a:xfrm>
          <a:prstGeom prst="rect">
            <a:avLst/>
          </a:prstGeom>
          <a:solidFill>
            <a:srgbClr val="E5EAF8"/>
          </a:solidFill>
          <a:ln w="12700">
            <a:solidFill>
              <a:srgbClr val="D0D8F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CardAccent0">
            <a:extLst>
              <a:ext uri="{FF2B5EF4-FFF2-40B4-BE49-F238E27FC236}">
                <a16:creationId xmlns:a16="http://schemas.microsoft.com/office/drawing/2014/main" id="{EA943BBB-FF8D-56BF-9F17-B7D9424DB63E}"/>
              </a:ext>
            </a:extLst>
          </p:cNvPr>
          <p:cNvSpPr>
            <a:spLocks noGrp="1"/>
          </p:cNvSpPr>
          <p:nvPr/>
        </p:nvSpPr>
        <p:spPr>
          <a:xfrm>
            <a:off x="7806542" y="3432140"/>
            <a:ext cx="53975" cy="2052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CardBody0">
            <a:extLst>
              <a:ext uri="{FF2B5EF4-FFF2-40B4-BE49-F238E27FC236}">
                <a16:creationId xmlns:a16="http://schemas.microsoft.com/office/drawing/2014/main" id="{A17064A0-C776-D52D-1307-5E54A609DC39}"/>
              </a:ext>
            </a:extLst>
          </p:cNvPr>
          <p:cNvSpPr txBox="1">
            <a:spLocks noGrp="1"/>
          </p:cNvSpPr>
          <p:nvPr/>
        </p:nvSpPr>
        <p:spPr>
          <a:xfrm>
            <a:off x="7952260" y="3832139"/>
            <a:ext cx="3484690" cy="131161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marL="285750" indent="-2857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b="0" i="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Description: {{persona_obj4_desc}}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1: {{persona_obj4_kpi1}}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2: {{persona_obj4_kpi2}}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3: {{persona_obj4_kpi3}}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 Point 1: {{persona_obj4_pain1}}</a:t>
            </a: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 Point 2: {{persona_obj4_pain2}}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Winning Trigger: {{persona_obj4_trigger}}</a:t>
            </a:r>
            <a:endParaRPr lang="en-US" sz="1400" b="0" i="0" noProof="1">
              <a:solidFill>
                <a:srgbClr val="39393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 b="0" i="0" noProof="1">
              <a:solidFill>
                <a:srgbClr val="39393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PhotoBg">
            <a:extLst>
              <a:ext uri="{FF2B5EF4-FFF2-40B4-BE49-F238E27FC236}">
                <a16:creationId xmlns:a16="http://schemas.microsoft.com/office/drawing/2014/main" id="{14C93F71-7545-3060-68CE-D5EC05FEF378}"/>
              </a:ext>
            </a:extLst>
          </p:cNvPr>
          <p:cNvSpPr>
            <a:spLocks noGrp="1"/>
          </p:cNvSpPr>
          <p:nvPr/>
        </p:nvSpPr>
        <p:spPr>
          <a:xfrm>
            <a:off x="7813489" y="3435057"/>
            <a:ext cx="4013982" cy="350000"/>
          </a:xfrm>
          <a:prstGeom prst="rect">
            <a:avLst/>
          </a:prstGeom>
          <a:solidFill>
            <a:srgbClr val="0030BC"/>
          </a:solidFill>
          <a:ln w="9525"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CardHead0">
            <a:extLst>
              <a:ext uri="{FF2B5EF4-FFF2-40B4-BE49-F238E27FC236}">
                <a16:creationId xmlns:a16="http://schemas.microsoft.com/office/drawing/2014/main" id="{98E1AE91-A53B-2009-5C26-BF4CDE500D57}"/>
              </a:ext>
            </a:extLst>
          </p:cNvPr>
          <p:cNvSpPr txBox="1">
            <a:spLocks noGrp="1"/>
          </p:cNvSpPr>
          <p:nvPr/>
        </p:nvSpPr>
        <p:spPr>
          <a:xfrm>
            <a:off x="7852260" y="3430570"/>
            <a:ext cx="3960009" cy="3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600" b="1" i="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{{persona_obj4_title}}</a:t>
            </a:r>
          </a:p>
        </p:txBody>
      </p:sp>
      <p:sp>
        <p:nvSpPr>
          <p:cNvPr id="71" name="Card2">
            <a:extLst>
              <a:ext uri="{FF2B5EF4-FFF2-40B4-BE49-F238E27FC236}">
                <a16:creationId xmlns:a16="http://schemas.microsoft.com/office/drawing/2014/main" id="{5DFF4521-39E7-B952-5EC5-9119F4FD5D3A}"/>
              </a:ext>
            </a:extLst>
          </p:cNvPr>
          <p:cNvSpPr>
            <a:spLocks noGrp="1"/>
          </p:cNvSpPr>
          <p:nvPr/>
        </p:nvSpPr>
        <p:spPr>
          <a:xfrm>
            <a:off x="3545718" y="5735201"/>
            <a:ext cx="8259605" cy="410000"/>
          </a:xfrm>
          <a:prstGeom prst="rect">
            <a:avLst/>
          </a:prstGeom>
          <a:solidFill>
            <a:srgbClr val="E5EAF8"/>
          </a:solidFill>
          <a:ln w="12700">
            <a:solidFill>
              <a:srgbClr val="D0D8F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CardAccent2">
            <a:extLst>
              <a:ext uri="{FF2B5EF4-FFF2-40B4-BE49-F238E27FC236}">
                <a16:creationId xmlns:a16="http://schemas.microsoft.com/office/drawing/2014/main" id="{70EB4DB8-62D7-BFAE-AE65-E411A103F906}"/>
              </a:ext>
            </a:extLst>
          </p:cNvPr>
          <p:cNvSpPr>
            <a:spLocks noGrp="1"/>
          </p:cNvSpPr>
          <p:nvPr/>
        </p:nvSpPr>
        <p:spPr>
          <a:xfrm flipH="1">
            <a:off x="3499999" y="5735201"/>
            <a:ext cx="45719" cy="409999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CardHead2">
            <a:extLst>
              <a:ext uri="{FF2B5EF4-FFF2-40B4-BE49-F238E27FC236}">
                <a16:creationId xmlns:a16="http://schemas.microsoft.com/office/drawing/2014/main" id="{FBA3BEEC-18DD-897F-093A-EA984B40F111}"/>
              </a:ext>
            </a:extLst>
          </p:cNvPr>
          <p:cNvSpPr txBox="1">
            <a:spLocks noGrp="1"/>
          </p:cNvSpPr>
          <p:nvPr/>
        </p:nvSpPr>
        <p:spPr>
          <a:xfrm>
            <a:off x="3635718" y="5795201"/>
            <a:ext cx="2499055" cy="3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400" b="1" i="0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Communication Channels:</a:t>
            </a:r>
          </a:p>
        </p:txBody>
      </p:sp>
      <p:sp>
        <p:nvSpPr>
          <p:cNvPr id="75" name="CardBody0">
            <a:extLst>
              <a:ext uri="{FF2B5EF4-FFF2-40B4-BE49-F238E27FC236}">
                <a16:creationId xmlns:a16="http://schemas.microsoft.com/office/drawing/2014/main" id="{1AFD539C-91FC-ABC5-07A4-10F2D3C0ACBD}"/>
              </a:ext>
            </a:extLst>
          </p:cNvPr>
          <p:cNvSpPr txBox="1">
            <a:spLocks noGrp="1"/>
          </p:cNvSpPr>
          <p:nvPr/>
        </p:nvSpPr>
        <p:spPr>
          <a:xfrm>
            <a:off x="6109916" y="5735760"/>
            <a:ext cx="5710609" cy="456184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</a:pPr>
            <a:r>
              <a:rPr lang="en-US" sz="1400" b="0" i="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{{persona_channels}}</a:t>
            </a:r>
          </a:p>
        </p:txBody>
      </p:sp>
    </p:spTree>
    <p:extLst>
      <p:ext uri="{BB962C8B-B14F-4D97-AF65-F5344CB8AC3E}">
        <p14:creationId xmlns:p14="http://schemas.microsoft.com/office/powerpoint/2010/main" val="120493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4C4A2-4610-7DA0-B25C-5EC74212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16A01-08BA-760B-846F-EC0DB344C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de-DE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de-A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CB27A1-F3E2-D47A-2AED-601E887C2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2025</a:t>
            </a:r>
          </a:p>
        </p:txBody>
      </p:sp>
      <p:sp>
        <p:nvSpPr>
          <p:cNvPr id="5" name="TitleBar">
            <a:extLst>
              <a:ext uri="{FF2B5EF4-FFF2-40B4-BE49-F238E27FC236}">
                <a16:creationId xmlns:a16="http://schemas.microsoft.com/office/drawing/2014/main" id="{449E2426-56F2-08BF-21CE-A55858BCC0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Accent">
            <a:extLst>
              <a:ext uri="{FF2B5EF4-FFF2-40B4-BE49-F238E27FC236}">
                <a16:creationId xmlns:a16="http://schemas.microsoft.com/office/drawing/2014/main" id="{5C90DDAE-B657-2708-795C-4EEDFD5E70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1028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Text">
            <a:extLst>
              <a:ext uri="{FF2B5EF4-FFF2-40B4-BE49-F238E27FC236}">
                <a16:creationId xmlns:a16="http://schemas.microsoft.com/office/drawing/2014/main" id="{4A8D7675-51BB-4326-3D50-C9964E7FA0D5}"/>
              </a:ext>
            </a:extLst>
          </p:cNvPr>
          <p:cNvSpPr txBox="1">
            <a:spLocks noGrp="1"/>
          </p:cNvSpPr>
          <p:nvPr/>
        </p:nvSpPr>
        <p:spPr>
          <a:xfrm>
            <a:off x="320000" y="0"/>
            <a:ext cx="10000000" cy="10287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2000" b="1" i="0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SHARED OBJECTIVES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F277525-B4FF-B38F-C94E-1993C86F7D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950247"/>
              </p:ext>
            </p:extLst>
          </p:nvPr>
        </p:nvGraphicFramePr>
        <p:xfrm>
          <a:off x="407988" y="1376363"/>
          <a:ext cx="1141253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4179">
                  <a:extLst>
                    <a:ext uri="{9D8B030D-6E8A-4147-A177-3AD203B41FA5}">
                      <a16:colId xmlns:a16="http://schemas.microsoft.com/office/drawing/2014/main" val="304806159"/>
                    </a:ext>
                  </a:extLst>
                </a:gridCol>
                <a:gridCol w="3804179">
                  <a:extLst>
                    <a:ext uri="{9D8B030D-6E8A-4147-A177-3AD203B41FA5}">
                      <a16:colId xmlns:a16="http://schemas.microsoft.com/office/drawing/2014/main" val="585613222"/>
                    </a:ext>
                  </a:extLst>
                </a:gridCol>
                <a:gridCol w="3804179">
                  <a:extLst>
                    <a:ext uri="{9D8B030D-6E8A-4147-A177-3AD203B41FA5}">
                      <a16:colId xmlns:a16="http://schemas.microsoft.com/office/drawing/2014/main" val="606438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1"/>
                        <a:t>Shared Outcome</a:t>
                      </a:r>
                      <a:endParaRPr lang="en-US" sz="1600" noProof="1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1"/>
                        <a:t>Linked Personas</a:t>
                      </a:r>
                      <a:endParaRPr lang="en-US" sz="1600" noProof="1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1"/>
                        <a:t>Avg. Outcome Priority %</a:t>
                      </a:r>
                      <a:endParaRPr lang="en-US" sz="1600" noProof="1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063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152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622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791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0939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F791D-7FC6-FF10-CFF2-B51DAA188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D10F68-70C7-818B-F155-4ECD7B36B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56A17-0176-9B23-0E19-41D01A6F8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1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en-US" noProof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9</a:t>
            </a:fld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reenBar">
            <a:extLst>
              <a:ext uri="{FF2B5EF4-FFF2-40B4-BE49-F238E27FC236}">
                <a16:creationId xmlns:a16="http://schemas.microsoft.com/office/drawing/2014/main" id="{4CA8207D-2267-60B5-3D7B-96AD4CDAC1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CB786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ectionTitle">
            <a:extLst>
              <a:ext uri="{FF2B5EF4-FFF2-40B4-BE49-F238E27FC236}">
                <a16:creationId xmlns:a16="http://schemas.microsoft.com/office/drawing/2014/main" id="{879C12AC-B8F9-E5CA-CBFB-442DC20C6172}"/>
              </a:ext>
            </a:extLst>
          </p:cNvPr>
          <p:cNvSpPr txBox="1">
            <a:spLocks noGrp="1"/>
          </p:cNvSpPr>
          <p:nvPr/>
        </p:nvSpPr>
        <p:spPr>
          <a:xfrm>
            <a:off x="550000" y="2400000"/>
            <a:ext cx="10000000" cy="12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40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Proposition</a:t>
            </a:r>
          </a:p>
        </p:txBody>
      </p:sp>
      <p:sp>
        <p:nvSpPr>
          <p:cNvPr id="12" name="SectionSub">
            <a:extLst>
              <a:ext uri="{FF2B5EF4-FFF2-40B4-BE49-F238E27FC236}">
                <a16:creationId xmlns:a16="http://schemas.microsoft.com/office/drawing/2014/main" id="{47C52D20-FBE6-3FFB-3FEE-A13E29D05163}"/>
              </a:ext>
            </a:extLst>
          </p:cNvPr>
          <p:cNvSpPr txBox="1">
            <a:spLocks noGrp="1"/>
          </p:cNvSpPr>
          <p:nvPr/>
        </p:nvSpPr>
        <p:spPr>
          <a:xfrm>
            <a:off x="550000" y="3700000"/>
            <a:ext cx="10000000" cy="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0" i="1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"Why do customers buy offerings like your?"</a:t>
            </a:r>
          </a:p>
        </p:txBody>
      </p:sp>
    </p:spTree>
    <p:extLst>
      <p:ext uri="{BB962C8B-B14F-4D97-AF65-F5344CB8AC3E}">
        <p14:creationId xmlns:p14="http://schemas.microsoft.com/office/powerpoint/2010/main" val="2210829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D3CAC3-33B1-2AF6-5940-9FBD0712D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de-DE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de-A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D3980-F83C-ED23-7B8F-48BC44580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5" name="Row0Bg">
            <a:extLst>
              <a:ext uri="{FF2B5EF4-FFF2-40B4-BE49-F238E27FC236}">
                <a16:creationId xmlns:a16="http://schemas.microsoft.com/office/drawing/2014/main" id="{20D614B3-D39C-210F-F4F7-7E89892A365E}"/>
              </a:ext>
            </a:extLst>
          </p:cNvPr>
          <p:cNvSpPr>
            <a:spLocks noGrp="1"/>
          </p:cNvSpPr>
          <p:nvPr/>
        </p:nvSpPr>
        <p:spPr>
          <a:xfrm>
            <a:off x="419100" y="1376363"/>
            <a:ext cx="11407900" cy="980000"/>
          </a:xfrm>
          <a:prstGeom prst="rect">
            <a:avLst/>
          </a:prstGeom>
          <a:solidFill>
            <a:srgbClr val="E5EAF8"/>
          </a:solidFill>
          <a:ln w="9525">
            <a:solidFill>
              <a:srgbClr val="CCDC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iv0">
            <a:extLst>
              <a:ext uri="{FF2B5EF4-FFF2-40B4-BE49-F238E27FC236}">
                <a16:creationId xmlns:a16="http://schemas.microsoft.com/office/drawing/2014/main" id="{D416028E-CEBD-0596-54C3-92ED79C25CF6}"/>
              </a:ext>
            </a:extLst>
          </p:cNvPr>
          <p:cNvSpPr>
            <a:spLocks noGrp="1"/>
          </p:cNvSpPr>
          <p:nvPr/>
        </p:nvSpPr>
        <p:spPr>
          <a:xfrm>
            <a:off x="4365927" y="1438738"/>
            <a:ext cx="9525" cy="880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Q0">
            <a:extLst>
              <a:ext uri="{FF2B5EF4-FFF2-40B4-BE49-F238E27FC236}">
                <a16:creationId xmlns:a16="http://schemas.microsoft.com/office/drawing/2014/main" id="{14180735-A855-DD12-489E-ED48FC14C5D7}"/>
              </a:ext>
            </a:extLst>
          </p:cNvPr>
          <p:cNvSpPr txBox="1">
            <a:spLocks noGrp="1"/>
          </p:cNvSpPr>
          <p:nvPr/>
        </p:nvSpPr>
        <p:spPr>
          <a:xfrm>
            <a:off x="430001" y="1376363"/>
            <a:ext cx="3762778" cy="98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/>
          </a:bodyPr>
          <a:lstStyle/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600" b="1" dirty="0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your product/service?</a:t>
            </a:r>
          </a:p>
        </p:txBody>
      </p:sp>
      <p:sp>
        <p:nvSpPr>
          <p:cNvPr id="8" name="A0">
            <a:extLst>
              <a:ext uri="{FF2B5EF4-FFF2-40B4-BE49-F238E27FC236}">
                <a16:creationId xmlns:a16="http://schemas.microsoft.com/office/drawing/2014/main" id="{AED8FD0B-AED4-F4B8-DC4B-C095D85E3311}"/>
              </a:ext>
            </a:extLst>
          </p:cNvPr>
          <p:cNvSpPr txBox="1">
            <a:spLocks noGrp="1"/>
          </p:cNvSpPr>
          <p:nvPr/>
        </p:nvSpPr>
        <p:spPr>
          <a:xfrm>
            <a:off x="4778749" y="1376363"/>
            <a:ext cx="6977000" cy="98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/>
          </a:bodyPr>
          <a:lstStyle/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200" b="0" dirty="0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{{vp_what_is}}</a:t>
            </a:r>
          </a:p>
        </p:txBody>
      </p:sp>
      <p:sp>
        <p:nvSpPr>
          <p:cNvPr id="9" name="Row1Bg">
            <a:extLst>
              <a:ext uri="{FF2B5EF4-FFF2-40B4-BE49-F238E27FC236}">
                <a16:creationId xmlns:a16="http://schemas.microsoft.com/office/drawing/2014/main" id="{65A2FA9C-6D8D-BFBF-52C6-C5EE5DA0C71A}"/>
              </a:ext>
            </a:extLst>
          </p:cNvPr>
          <p:cNvSpPr>
            <a:spLocks noGrp="1"/>
          </p:cNvSpPr>
          <p:nvPr/>
        </p:nvSpPr>
        <p:spPr>
          <a:xfrm>
            <a:off x="407988" y="2683250"/>
            <a:ext cx="11419012" cy="980000"/>
          </a:xfrm>
          <a:prstGeom prst="rect">
            <a:avLst/>
          </a:prstGeom>
          <a:solidFill>
            <a:srgbClr val="F0F4FF"/>
          </a:solidFill>
          <a:ln w="9525">
            <a:solidFill>
              <a:srgbClr val="CCDC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Div1">
            <a:extLst>
              <a:ext uri="{FF2B5EF4-FFF2-40B4-BE49-F238E27FC236}">
                <a16:creationId xmlns:a16="http://schemas.microsoft.com/office/drawing/2014/main" id="{876B1DFC-E2B8-0C7C-7C78-292458CB7146}"/>
              </a:ext>
            </a:extLst>
          </p:cNvPr>
          <p:cNvSpPr>
            <a:spLocks noGrp="1"/>
          </p:cNvSpPr>
          <p:nvPr/>
        </p:nvSpPr>
        <p:spPr>
          <a:xfrm>
            <a:off x="4370690" y="2733250"/>
            <a:ext cx="9525" cy="880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Q1">
            <a:extLst>
              <a:ext uri="{FF2B5EF4-FFF2-40B4-BE49-F238E27FC236}">
                <a16:creationId xmlns:a16="http://schemas.microsoft.com/office/drawing/2014/main" id="{D1DBD0CD-495C-96B4-0192-F934EC2CE1CC}"/>
              </a:ext>
            </a:extLst>
          </p:cNvPr>
          <p:cNvSpPr txBox="1">
            <a:spLocks noGrp="1"/>
          </p:cNvSpPr>
          <p:nvPr/>
        </p:nvSpPr>
        <p:spPr>
          <a:xfrm>
            <a:off x="430000" y="2683250"/>
            <a:ext cx="3829447" cy="98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/>
          </a:bodyPr>
          <a:lstStyle/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600" b="1" dirty="0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does your product/service do?</a:t>
            </a:r>
          </a:p>
        </p:txBody>
      </p:sp>
      <p:sp>
        <p:nvSpPr>
          <p:cNvPr id="12" name="A1">
            <a:extLst>
              <a:ext uri="{FF2B5EF4-FFF2-40B4-BE49-F238E27FC236}">
                <a16:creationId xmlns:a16="http://schemas.microsoft.com/office/drawing/2014/main" id="{11575B57-5D21-871F-DADC-1252564463ED}"/>
              </a:ext>
            </a:extLst>
          </p:cNvPr>
          <p:cNvSpPr txBox="1">
            <a:spLocks noGrp="1"/>
          </p:cNvSpPr>
          <p:nvPr/>
        </p:nvSpPr>
        <p:spPr>
          <a:xfrm>
            <a:off x="4778749" y="2683250"/>
            <a:ext cx="6977000" cy="98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/>
          </a:bodyPr>
          <a:lstStyle/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200" b="0" dirty="0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{{vp_what_does}}</a:t>
            </a:r>
          </a:p>
        </p:txBody>
      </p:sp>
      <p:sp>
        <p:nvSpPr>
          <p:cNvPr id="13" name="Row2Bg">
            <a:extLst>
              <a:ext uri="{FF2B5EF4-FFF2-40B4-BE49-F238E27FC236}">
                <a16:creationId xmlns:a16="http://schemas.microsoft.com/office/drawing/2014/main" id="{88E16AEE-2656-C10F-5108-337DAE0FB495}"/>
              </a:ext>
            </a:extLst>
          </p:cNvPr>
          <p:cNvSpPr>
            <a:spLocks noGrp="1"/>
          </p:cNvSpPr>
          <p:nvPr/>
        </p:nvSpPr>
        <p:spPr>
          <a:xfrm>
            <a:off x="419100" y="3934550"/>
            <a:ext cx="11419012" cy="980000"/>
          </a:xfrm>
          <a:prstGeom prst="rect">
            <a:avLst/>
          </a:prstGeom>
          <a:solidFill>
            <a:srgbClr val="E5EAF8"/>
          </a:solidFill>
          <a:ln w="9525">
            <a:solidFill>
              <a:srgbClr val="CCDC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Div2">
            <a:extLst>
              <a:ext uri="{FF2B5EF4-FFF2-40B4-BE49-F238E27FC236}">
                <a16:creationId xmlns:a16="http://schemas.microsoft.com/office/drawing/2014/main" id="{DCAE44FF-A038-39DF-5C5E-791004170D95}"/>
              </a:ext>
            </a:extLst>
          </p:cNvPr>
          <p:cNvSpPr>
            <a:spLocks noGrp="1"/>
          </p:cNvSpPr>
          <p:nvPr/>
        </p:nvSpPr>
        <p:spPr>
          <a:xfrm>
            <a:off x="4380215" y="3984550"/>
            <a:ext cx="9525" cy="880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Q2">
            <a:extLst>
              <a:ext uri="{FF2B5EF4-FFF2-40B4-BE49-F238E27FC236}">
                <a16:creationId xmlns:a16="http://schemas.microsoft.com/office/drawing/2014/main" id="{57E590E3-110D-5D21-A168-85024EA07B9E}"/>
              </a:ext>
            </a:extLst>
          </p:cNvPr>
          <p:cNvSpPr txBox="1">
            <a:spLocks noGrp="1"/>
          </p:cNvSpPr>
          <p:nvPr/>
        </p:nvSpPr>
        <p:spPr>
          <a:xfrm>
            <a:off x="484100" y="3934550"/>
            <a:ext cx="3997047" cy="98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/>
          </a:bodyPr>
          <a:lstStyle/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600" b="1" dirty="0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does it work? (In simple terms)</a:t>
            </a:r>
          </a:p>
        </p:txBody>
      </p:sp>
      <p:sp>
        <p:nvSpPr>
          <p:cNvPr id="16" name="A2">
            <a:extLst>
              <a:ext uri="{FF2B5EF4-FFF2-40B4-BE49-F238E27FC236}">
                <a16:creationId xmlns:a16="http://schemas.microsoft.com/office/drawing/2014/main" id="{A1511B5D-230A-D713-EED9-B56EE8E63700}"/>
              </a:ext>
            </a:extLst>
          </p:cNvPr>
          <p:cNvSpPr txBox="1">
            <a:spLocks noGrp="1"/>
          </p:cNvSpPr>
          <p:nvPr/>
        </p:nvSpPr>
        <p:spPr>
          <a:xfrm>
            <a:off x="4778749" y="3934550"/>
            <a:ext cx="6977000" cy="98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/>
          </a:bodyPr>
          <a:lstStyle/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200" b="0" dirty="0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{{vp_how_works}}</a:t>
            </a:r>
          </a:p>
        </p:txBody>
      </p:sp>
      <p:sp>
        <p:nvSpPr>
          <p:cNvPr id="17" name="Row3Bg">
            <a:extLst>
              <a:ext uri="{FF2B5EF4-FFF2-40B4-BE49-F238E27FC236}">
                <a16:creationId xmlns:a16="http://schemas.microsoft.com/office/drawing/2014/main" id="{89B9B484-0593-3AAF-DE72-110ABA0F3FF9}"/>
              </a:ext>
            </a:extLst>
          </p:cNvPr>
          <p:cNvSpPr>
            <a:spLocks noGrp="1"/>
          </p:cNvSpPr>
          <p:nvPr/>
        </p:nvSpPr>
        <p:spPr>
          <a:xfrm>
            <a:off x="419100" y="5185850"/>
            <a:ext cx="11419012" cy="980000"/>
          </a:xfrm>
          <a:prstGeom prst="rect">
            <a:avLst/>
          </a:prstGeom>
          <a:solidFill>
            <a:srgbClr val="F0F4FF"/>
          </a:solidFill>
          <a:ln w="9525">
            <a:solidFill>
              <a:srgbClr val="CCDC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Div3">
            <a:extLst>
              <a:ext uri="{FF2B5EF4-FFF2-40B4-BE49-F238E27FC236}">
                <a16:creationId xmlns:a16="http://schemas.microsoft.com/office/drawing/2014/main" id="{CA06D190-9604-95D1-530F-AAFFA153A809}"/>
              </a:ext>
            </a:extLst>
          </p:cNvPr>
          <p:cNvSpPr>
            <a:spLocks noGrp="1"/>
          </p:cNvSpPr>
          <p:nvPr/>
        </p:nvSpPr>
        <p:spPr>
          <a:xfrm>
            <a:off x="4380215" y="5235850"/>
            <a:ext cx="9525" cy="880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Q3">
            <a:extLst>
              <a:ext uri="{FF2B5EF4-FFF2-40B4-BE49-F238E27FC236}">
                <a16:creationId xmlns:a16="http://schemas.microsoft.com/office/drawing/2014/main" id="{89837C26-3359-80A3-4272-BB0E2FCBD437}"/>
              </a:ext>
            </a:extLst>
          </p:cNvPr>
          <p:cNvSpPr txBox="1">
            <a:spLocks noGrp="1"/>
          </p:cNvSpPr>
          <p:nvPr/>
        </p:nvSpPr>
        <p:spPr>
          <a:xfrm>
            <a:off x="484101" y="5185850"/>
            <a:ext cx="3775346" cy="98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/>
          </a:bodyPr>
          <a:lstStyle/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600" b="1" dirty="0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the value to the customer?</a:t>
            </a:r>
          </a:p>
        </p:txBody>
      </p:sp>
      <p:sp>
        <p:nvSpPr>
          <p:cNvPr id="20" name="A3">
            <a:extLst>
              <a:ext uri="{FF2B5EF4-FFF2-40B4-BE49-F238E27FC236}">
                <a16:creationId xmlns:a16="http://schemas.microsoft.com/office/drawing/2014/main" id="{6A949EF7-40FA-C198-134C-43169A0B06C9}"/>
              </a:ext>
            </a:extLst>
          </p:cNvPr>
          <p:cNvSpPr txBox="1">
            <a:spLocks noGrp="1"/>
          </p:cNvSpPr>
          <p:nvPr/>
        </p:nvSpPr>
        <p:spPr>
          <a:xfrm>
            <a:off x="4778749" y="5185850"/>
            <a:ext cx="6977000" cy="98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/>
          </a:bodyPr>
          <a:lstStyle/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200" b="0" dirty="0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{{vp_value}}</a:t>
            </a:r>
          </a:p>
        </p:txBody>
      </p:sp>
      <p:sp>
        <p:nvSpPr>
          <p:cNvPr id="21" name="TitleBar">
            <a:extLst>
              <a:ext uri="{FF2B5EF4-FFF2-40B4-BE49-F238E27FC236}">
                <a16:creationId xmlns:a16="http://schemas.microsoft.com/office/drawing/2014/main" id="{2AF82818-1280-FC27-5880-D5F7E51376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itleAccent">
            <a:extLst>
              <a:ext uri="{FF2B5EF4-FFF2-40B4-BE49-F238E27FC236}">
                <a16:creationId xmlns:a16="http://schemas.microsoft.com/office/drawing/2014/main" id="{66FCA19A-AD37-327E-0912-2BA05F6DAC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1028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itleText">
            <a:extLst>
              <a:ext uri="{FF2B5EF4-FFF2-40B4-BE49-F238E27FC236}">
                <a16:creationId xmlns:a16="http://schemas.microsoft.com/office/drawing/2014/main" id="{2FC3ED0B-50B3-37CF-2286-0214EEC41506}"/>
              </a:ext>
            </a:extLst>
          </p:cNvPr>
          <p:cNvSpPr txBox="1">
            <a:spLocks noGrp="1"/>
          </p:cNvSpPr>
          <p:nvPr/>
        </p:nvSpPr>
        <p:spPr>
          <a:xfrm>
            <a:off x="320000" y="0"/>
            <a:ext cx="10000000" cy="10287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2000" b="1" i="0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PROPOSITION</a:t>
            </a:r>
          </a:p>
        </p:txBody>
      </p:sp>
    </p:spTree>
    <p:extLst>
      <p:ext uri="{BB962C8B-B14F-4D97-AF65-F5344CB8AC3E}">
        <p14:creationId xmlns:p14="http://schemas.microsoft.com/office/powerpoint/2010/main" val="2830291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56B63-D012-4ED3-5552-D2A40F779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0ADE9E-DB09-445C-688E-9E7C97CBE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de-DE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11</a:t>
            </a:fld>
            <a:endParaRPr lang="de-A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E0DD45-D656-82A1-901C-DC57D2577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21" name="TitleBar">
            <a:extLst>
              <a:ext uri="{FF2B5EF4-FFF2-40B4-BE49-F238E27FC236}">
                <a16:creationId xmlns:a16="http://schemas.microsoft.com/office/drawing/2014/main" id="{C03C45A2-4BD8-F447-BF25-1696E9E100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itleAccent">
            <a:extLst>
              <a:ext uri="{FF2B5EF4-FFF2-40B4-BE49-F238E27FC236}">
                <a16:creationId xmlns:a16="http://schemas.microsoft.com/office/drawing/2014/main" id="{968C55EC-451F-E9FA-F967-ACDDE8A233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1028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itleText">
            <a:extLst>
              <a:ext uri="{FF2B5EF4-FFF2-40B4-BE49-F238E27FC236}">
                <a16:creationId xmlns:a16="http://schemas.microsoft.com/office/drawing/2014/main" id="{CED193F6-A009-4E02-8B5A-EE18A10C844F}"/>
              </a:ext>
            </a:extLst>
          </p:cNvPr>
          <p:cNvSpPr txBox="1">
            <a:spLocks noGrp="1"/>
          </p:cNvSpPr>
          <p:nvPr/>
        </p:nvSpPr>
        <p:spPr>
          <a:xfrm>
            <a:off x="320000" y="0"/>
            <a:ext cx="10000000" cy="10287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2000" b="1" i="0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SLOGAN</a:t>
            </a:r>
          </a:p>
        </p:txBody>
      </p:sp>
      <p:sp>
        <p:nvSpPr>
          <p:cNvPr id="2" name="SlCard0">
            <a:extLst>
              <a:ext uri="{FF2B5EF4-FFF2-40B4-BE49-F238E27FC236}">
                <a16:creationId xmlns:a16="http://schemas.microsoft.com/office/drawing/2014/main" id="{7E7D4D9A-9111-D4A3-00EC-137A45A8394A}"/>
              </a:ext>
            </a:extLst>
          </p:cNvPr>
          <p:cNvSpPr>
            <a:spLocks noGrp="1"/>
          </p:cNvSpPr>
          <p:nvPr/>
        </p:nvSpPr>
        <p:spPr>
          <a:xfrm>
            <a:off x="395996" y="1396494"/>
            <a:ext cx="11462000" cy="1350000"/>
          </a:xfrm>
          <a:prstGeom prst="rect">
            <a:avLst/>
          </a:prstGeom>
          <a:solidFill>
            <a:srgbClr val="E5EAF8"/>
          </a:solidFill>
          <a:ln w="9525">
            <a:solidFill>
              <a:srgbClr val="CCDC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lNum0">
            <a:extLst>
              <a:ext uri="{FF2B5EF4-FFF2-40B4-BE49-F238E27FC236}">
                <a16:creationId xmlns:a16="http://schemas.microsoft.com/office/drawing/2014/main" id="{B37A955F-63A2-A324-51CC-178B37175684}"/>
              </a:ext>
            </a:extLst>
          </p:cNvPr>
          <p:cNvSpPr>
            <a:spLocks noGrp="1"/>
          </p:cNvSpPr>
          <p:nvPr/>
        </p:nvSpPr>
        <p:spPr>
          <a:xfrm>
            <a:off x="395996" y="1396494"/>
            <a:ext cx="380000" cy="13500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lNumTxt0">
            <a:extLst>
              <a:ext uri="{FF2B5EF4-FFF2-40B4-BE49-F238E27FC236}">
                <a16:creationId xmlns:a16="http://schemas.microsoft.com/office/drawing/2014/main" id="{AB022A61-B389-69EE-F74F-B92CA5D4315D}"/>
              </a:ext>
            </a:extLst>
          </p:cNvPr>
          <p:cNvSpPr txBox="1">
            <a:spLocks noGrp="1"/>
          </p:cNvSpPr>
          <p:nvPr/>
        </p:nvSpPr>
        <p:spPr>
          <a:xfrm>
            <a:off x="395996" y="1396494"/>
            <a:ext cx="380000" cy="13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3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6" name="SlLabel0">
            <a:extLst>
              <a:ext uri="{FF2B5EF4-FFF2-40B4-BE49-F238E27FC236}">
                <a16:creationId xmlns:a16="http://schemas.microsoft.com/office/drawing/2014/main" id="{2BDE9A6E-B63B-7E9F-F945-84364F607109}"/>
              </a:ext>
            </a:extLst>
          </p:cNvPr>
          <p:cNvSpPr txBox="1">
            <a:spLocks noGrp="1"/>
          </p:cNvSpPr>
          <p:nvPr/>
        </p:nvSpPr>
        <p:spPr>
          <a:xfrm>
            <a:off x="845996" y="1476494"/>
            <a:ext cx="10992000" cy="3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Slogan 1</a:t>
            </a:r>
          </a:p>
        </p:txBody>
      </p:sp>
      <p:sp>
        <p:nvSpPr>
          <p:cNvPr id="27" name="SlContent0">
            <a:extLst>
              <a:ext uri="{FF2B5EF4-FFF2-40B4-BE49-F238E27FC236}">
                <a16:creationId xmlns:a16="http://schemas.microsoft.com/office/drawing/2014/main" id="{EFD37463-44D7-BF20-67F3-A9D3D2C82CF1}"/>
              </a:ext>
            </a:extLst>
          </p:cNvPr>
          <p:cNvSpPr txBox="1">
            <a:spLocks noGrp="1"/>
          </p:cNvSpPr>
          <p:nvPr/>
        </p:nvSpPr>
        <p:spPr>
          <a:xfrm>
            <a:off x="845996" y="1876494"/>
            <a:ext cx="10992000" cy="8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300" b="0" i="0" dirty="0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{{slogan_1}}</a:t>
            </a:r>
          </a:p>
        </p:txBody>
      </p:sp>
      <p:sp>
        <p:nvSpPr>
          <p:cNvPr id="28" name="SlCard1">
            <a:extLst>
              <a:ext uri="{FF2B5EF4-FFF2-40B4-BE49-F238E27FC236}">
                <a16:creationId xmlns:a16="http://schemas.microsoft.com/office/drawing/2014/main" id="{8299FC7F-3F08-3300-BBF2-B2F65DD8FAAC}"/>
              </a:ext>
            </a:extLst>
          </p:cNvPr>
          <p:cNvSpPr>
            <a:spLocks noGrp="1"/>
          </p:cNvSpPr>
          <p:nvPr/>
        </p:nvSpPr>
        <p:spPr>
          <a:xfrm>
            <a:off x="395996" y="2946494"/>
            <a:ext cx="11462000" cy="1350000"/>
          </a:xfrm>
          <a:prstGeom prst="rect">
            <a:avLst/>
          </a:prstGeom>
          <a:solidFill>
            <a:srgbClr val="E5EAF8"/>
          </a:solidFill>
          <a:ln w="9525">
            <a:solidFill>
              <a:srgbClr val="CCDC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lNum1">
            <a:extLst>
              <a:ext uri="{FF2B5EF4-FFF2-40B4-BE49-F238E27FC236}">
                <a16:creationId xmlns:a16="http://schemas.microsoft.com/office/drawing/2014/main" id="{F9460D46-F187-8E0B-CFF1-A16C9774EF82}"/>
              </a:ext>
            </a:extLst>
          </p:cNvPr>
          <p:cNvSpPr>
            <a:spLocks noGrp="1"/>
          </p:cNvSpPr>
          <p:nvPr/>
        </p:nvSpPr>
        <p:spPr>
          <a:xfrm>
            <a:off x="395996" y="2946494"/>
            <a:ext cx="380000" cy="1350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lNumTxt1">
            <a:extLst>
              <a:ext uri="{FF2B5EF4-FFF2-40B4-BE49-F238E27FC236}">
                <a16:creationId xmlns:a16="http://schemas.microsoft.com/office/drawing/2014/main" id="{20004342-7CAA-0256-9AA7-4BAA4911668F}"/>
              </a:ext>
            </a:extLst>
          </p:cNvPr>
          <p:cNvSpPr txBox="1">
            <a:spLocks noGrp="1"/>
          </p:cNvSpPr>
          <p:nvPr/>
        </p:nvSpPr>
        <p:spPr>
          <a:xfrm>
            <a:off x="395996" y="2946494"/>
            <a:ext cx="380000" cy="13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3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1" name="SlLabel1">
            <a:extLst>
              <a:ext uri="{FF2B5EF4-FFF2-40B4-BE49-F238E27FC236}">
                <a16:creationId xmlns:a16="http://schemas.microsoft.com/office/drawing/2014/main" id="{A46FBF84-8153-1CD3-397A-BEF044478235}"/>
              </a:ext>
            </a:extLst>
          </p:cNvPr>
          <p:cNvSpPr txBox="1">
            <a:spLocks noGrp="1"/>
          </p:cNvSpPr>
          <p:nvPr/>
        </p:nvSpPr>
        <p:spPr>
          <a:xfrm>
            <a:off x="845996" y="3026494"/>
            <a:ext cx="10992000" cy="3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Slogan 2</a:t>
            </a:r>
          </a:p>
        </p:txBody>
      </p:sp>
      <p:sp>
        <p:nvSpPr>
          <p:cNvPr id="32" name="SlContent1">
            <a:extLst>
              <a:ext uri="{FF2B5EF4-FFF2-40B4-BE49-F238E27FC236}">
                <a16:creationId xmlns:a16="http://schemas.microsoft.com/office/drawing/2014/main" id="{5A7AA4A8-5DC0-3EC8-3D97-7D7FAAF0FE5D}"/>
              </a:ext>
            </a:extLst>
          </p:cNvPr>
          <p:cNvSpPr txBox="1">
            <a:spLocks noGrp="1"/>
          </p:cNvSpPr>
          <p:nvPr/>
        </p:nvSpPr>
        <p:spPr>
          <a:xfrm>
            <a:off x="845996" y="3426494"/>
            <a:ext cx="10992000" cy="8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300" b="0" i="0" dirty="0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{{slogan_2}}</a:t>
            </a:r>
          </a:p>
        </p:txBody>
      </p:sp>
      <p:sp>
        <p:nvSpPr>
          <p:cNvPr id="33" name="SlCard2">
            <a:extLst>
              <a:ext uri="{FF2B5EF4-FFF2-40B4-BE49-F238E27FC236}">
                <a16:creationId xmlns:a16="http://schemas.microsoft.com/office/drawing/2014/main" id="{F0570A57-9D43-346E-0620-8A9B323F178B}"/>
              </a:ext>
            </a:extLst>
          </p:cNvPr>
          <p:cNvSpPr>
            <a:spLocks noGrp="1"/>
          </p:cNvSpPr>
          <p:nvPr/>
        </p:nvSpPr>
        <p:spPr>
          <a:xfrm>
            <a:off x="395996" y="4496494"/>
            <a:ext cx="11462000" cy="1350000"/>
          </a:xfrm>
          <a:prstGeom prst="rect">
            <a:avLst/>
          </a:prstGeom>
          <a:solidFill>
            <a:srgbClr val="E5EAF8"/>
          </a:solidFill>
          <a:ln w="9525">
            <a:solidFill>
              <a:srgbClr val="CCDC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lNum2">
            <a:extLst>
              <a:ext uri="{FF2B5EF4-FFF2-40B4-BE49-F238E27FC236}">
                <a16:creationId xmlns:a16="http://schemas.microsoft.com/office/drawing/2014/main" id="{9510253C-D2F1-FFBD-DF0D-8CE3C3D4FC27}"/>
              </a:ext>
            </a:extLst>
          </p:cNvPr>
          <p:cNvSpPr>
            <a:spLocks noGrp="1"/>
          </p:cNvSpPr>
          <p:nvPr/>
        </p:nvSpPr>
        <p:spPr>
          <a:xfrm>
            <a:off x="395996" y="4496494"/>
            <a:ext cx="380000" cy="1350000"/>
          </a:xfrm>
          <a:prstGeom prst="rect">
            <a:avLst/>
          </a:prstGeom>
          <a:solidFill>
            <a:srgbClr val="2CB786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lNumTxt2">
            <a:extLst>
              <a:ext uri="{FF2B5EF4-FFF2-40B4-BE49-F238E27FC236}">
                <a16:creationId xmlns:a16="http://schemas.microsoft.com/office/drawing/2014/main" id="{BE8D5543-3F14-3B23-6F5B-420CAD213C03}"/>
              </a:ext>
            </a:extLst>
          </p:cNvPr>
          <p:cNvSpPr txBox="1">
            <a:spLocks noGrp="1"/>
          </p:cNvSpPr>
          <p:nvPr/>
        </p:nvSpPr>
        <p:spPr>
          <a:xfrm>
            <a:off x="395996" y="4496494"/>
            <a:ext cx="380000" cy="13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3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36" name="SlLabel2">
            <a:extLst>
              <a:ext uri="{FF2B5EF4-FFF2-40B4-BE49-F238E27FC236}">
                <a16:creationId xmlns:a16="http://schemas.microsoft.com/office/drawing/2014/main" id="{7EBDAAD9-778E-26FD-8494-A4312B90A13F}"/>
              </a:ext>
            </a:extLst>
          </p:cNvPr>
          <p:cNvSpPr txBox="1">
            <a:spLocks noGrp="1"/>
          </p:cNvSpPr>
          <p:nvPr/>
        </p:nvSpPr>
        <p:spPr>
          <a:xfrm>
            <a:off x="845996" y="4576494"/>
            <a:ext cx="10992000" cy="3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Slogan 3</a:t>
            </a:r>
          </a:p>
        </p:txBody>
      </p:sp>
      <p:sp>
        <p:nvSpPr>
          <p:cNvPr id="37" name="SlContent2">
            <a:extLst>
              <a:ext uri="{FF2B5EF4-FFF2-40B4-BE49-F238E27FC236}">
                <a16:creationId xmlns:a16="http://schemas.microsoft.com/office/drawing/2014/main" id="{7EFE6AAF-FAD2-6F79-7689-094254AF3F30}"/>
              </a:ext>
            </a:extLst>
          </p:cNvPr>
          <p:cNvSpPr txBox="1">
            <a:spLocks noGrp="1"/>
          </p:cNvSpPr>
          <p:nvPr/>
        </p:nvSpPr>
        <p:spPr>
          <a:xfrm>
            <a:off x="845996" y="4976494"/>
            <a:ext cx="10992000" cy="8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300" b="0" i="0" dirty="0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{{slogan_3}}</a:t>
            </a:r>
          </a:p>
        </p:txBody>
      </p:sp>
    </p:spTree>
    <p:extLst>
      <p:ext uri="{BB962C8B-B14F-4D97-AF65-F5344CB8AC3E}">
        <p14:creationId xmlns:p14="http://schemas.microsoft.com/office/powerpoint/2010/main" val="3903484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DB959-E264-E957-D6FC-25869AAD1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634BE7-D258-AF1A-AC0A-4D27CA5ED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B6C1C-4B1E-1E4E-6FD2-4FB03F168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1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en-US" noProof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12</a:t>
            </a:fld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reenBar">
            <a:extLst>
              <a:ext uri="{FF2B5EF4-FFF2-40B4-BE49-F238E27FC236}">
                <a16:creationId xmlns:a16="http://schemas.microsoft.com/office/drawing/2014/main" id="{037BD411-0AD5-9889-9308-1474FADB0C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CB786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ectionTitle">
            <a:extLst>
              <a:ext uri="{FF2B5EF4-FFF2-40B4-BE49-F238E27FC236}">
                <a16:creationId xmlns:a16="http://schemas.microsoft.com/office/drawing/2014/main" id="{57338438-B3CC-FDAF-1CED-EEA086465978}"/>
              </a:ext>
            </a:extLst>
          </p:cNvPr>
          <p:cNvSpPr txBox="1">
            <a:spLocks noGrp="1"/>
          </p:cNvSpPr>
          <p:nvPr/>
        </p:nvSpPr>
        <p:spPr>
          <a:xfrm>
            <a:off x="550000" y="2400000"/>
            <a:ext cx="10000000" cy="12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40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Mental Model</a:t>
            </a:r>
          </a:p>
        </p:txBody>
      </p:sp>
      <p:sp>
        <p:nvSpPr>
          <p:cNvPr id="12" name="SectionSub">
            <a:extLst>
              <a:ext uri="{FF2B5EF4-FFF2-40B4-BE49-F238E27FC236}">
                <a16:creationId xmlns:a16="http://schemas.microsoft.com/office/drawing/2014/main" id="{3D42B2BE-539A-9C71-F31A-C4C2EA94BC6C}"/>
              </a:ext>
            </a:extLst>
          </p:cNvPr>
          <p:cNvSpPr txBox="1">
            <a:spLocks noGrp="1"/>
          </p:cNvSpPr>
          <p:nvPr/>
        </p:nvSpPr>
        <p:spPr>
          <a:xfrm>
            <a:off x="550000" y="3700000"/>
            <a:ext cx="10000000" cy="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0" i="1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"How do your customers think about their own business?"</a:t>
            </a:r>
          </a:p>
        </p:txBody>
      </p:sp>
    </p:spTree>
    <p:extLst>
      <p:ext uri="{BB962C8B-B14F-4D97-AF65-F5344CB8AC3E}">
        <p14:creationId xmlns:p14="http://schemas.microsoft.com/office/powerpoint/2010/main" val="1671009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E25D8-0C17-1AAA-349E-880E7EFED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02B0B9-612F-7BA0-0E4B-675339250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de-DE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13</a:t>
            </a:fld>
            <a:endParaRPr lang="de-A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6566DE-ABE1-6B37-E0B4-0615694AE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21" name="TitleBar">
            <a:extLst>
              <a:ext uri="{FF2B5EF4-FFF2-40B4-BE49-F238E27FC236}">
                <a16:creationId xmlns:a16="http://schemas.microsoft.com/office/drawing/2014/main" id="{1A48DD87-D6BD-7EF2-FC25-CE4F7FD412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itleAccent">
            <a:extLst>
              <a:ext uri="{FF2B5EF4-FFF2-40B4-BE49-F238E27FC236}">
                <a16:creationId xmlns:a16="http://schemas.microsoft.com/office/drawing/2014/main" id="{D50A2A8A-B3A8-ED72-AB15-6A7F52BE42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1028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itleText">
            <a:extLst>
              <a:ext uri="{FF2B5EF4-FFF2-40B4-BE49-F238E27FC236}">
                <a16:creationId xmlns:a16="http://schemas.microsoft.com/office/drawing/2014/main" id="{8C5BBDA0-D618-3F93-C232-09D27A8EB928}"/>
              </a:ext>
            </a:extLst>
          </p:cNvPr>
          <p:cNvSpPr txBox="1">
            <a:spLocks noGrp="1"/>
          </p:cNvSpPr>
          <p:nvPr/>
        </p:nvSpPr>
        <p:spPr>
          <a:xfrm>
            <a:off x="320000" y="0"/>
            <a:ext cx="10000000" cy="10287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2000" b="1" i="0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MENTAL MODEL</a:t>
            </a:r>
          </a:p>
          <a:p>
            <a:pPr algn="l">
              <a:spcBef>
                <a:spcPts val="0"/>
              </a:spcBef>
              <a:buNone/>
            </a:pPr>
            <a:r>
              <a:rPr lang="en-US" sz="2000" b="1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{{cmm_persona}}</a:t>
            </a:r>
            <a:endParaRPr lang="en-US" sz="2000" b="1" i="0" noProof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H0">
            <a:extLst>
              <a:ext uri="{FF2B5EF4-FFF2-40B4-BE49-F238E27FC236}">
                <a16:creationId xmlns:a16="http://schemas.microsoft.com/office/drawing/2014/main" id="{E1486A89-AB72-E8AD-2D8E-3BF28149DEFF}"/>
              </a:ext>
            </a:extLst>
          </p:cNvPr>
          <p:cNvSpPr>
            <a:spLocks noGrp="1"/>
          </p:cNvSpPr>
          <p:nvPr/>
        </p:nvSpPr>
        <p:spPr>
          <a:xfrm>
            <a:off x="395996" y="1150000"/>
            <a:ext cx="2650000" cy="480000"/>
          </a:xfrm>
          <a:prstGeom prst="rect">
            <a:avLst/>
          </a:prstGeom>
          <a:solidFill>
            <a:srgbClr val="00134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Business Objective</a:t>
            </a:r>
          </a:p>
        </p:txBody>
      </p:sp>
      <p:sp>
        <p:nvSpPr>
          <p:cNvPr id="6" name="H1">
            <a:extLst>
              <a:ext uri="{FF2B5EF4-FFF2-40B4-BE49-F238E27FC236}">
                <a16:creationId xmlns:a16="http://schemas.microsoft.com/office/drawing/2014/main" id="{6FE3EA49-C3E4-5510-DA39-FBF702F178DE}"/>
              </a:ext>
            </a:extLst>
          </p:cNvPr>
          <p:cNvSpPr>
            <a:spLocks noGrp="1"/>
          </p:cNvSpPr>
          <p:nvPr/>
        </p:nvSpPr>
        <p:spPr>
          <a:xfrm>
            <a:off x="3245996" y="1150000"/>
            <a:ext cx="2650000" cy="48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en-US" sz="1300" b="1" dirty="0">
                <a:solidFill>
                  <a:schemeClr val="bg1"/>
                </a:solidFill>
                <a:latin typeface="Calibri"/>
              </a:rPr>
              <a:t>Driving Factors</a:t>
            </a:r>
          </a:p>
        </p:txBody>
      </p:sp>
      <p:sp>
        <p:nvSpPr>
          <p:cNvPr id="7" name="H2">
            <a:extLst>
              <a:ext uri="{FF2B5EF4-FFF2-40B4-BE49-F238E27FC236}">
                <a16:creationId xmlns:a16="http://schemas.microsoft.com/office/drawing/2014/main" id="{4D67ACF6-1ACF-6D35-6379-CEA814F97DA7}"/>
              </a:ext>
            </a:extLst>
          </p:cNvPr>
          <p:cNvSpPr>
            <a:spLocks noGrp="1"/>
          </p:cNvSpPr>
          <p:nvPr/>
        </p:nvSpPr>
        <p:spPr>
          <a:xfrm>
            <a:off x="6095996" y="1150000"/>
            <a:ext cx="2650000" cy="48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en-US" sz="1300" b="1" dirty="0">
                <a:solidFill>
                  <a:schemeClr val="bg1"/>
                </a:solidFill>
                <a:latin typeface="Calibri"/>
              </a:rPr>
              <a:t>Pain Points</a:t>
            </a:r>
          </a:p>
        </p:txBody>
      </p:sp>
      <p:sp>
        <p:nvSpPr>
          <p:cNvPr id="8" name="H3">
            <a:extLst>
              <a:ext uri="{FF2B5EF4-FFF2-40B4-BE49-F238E27FC236}">
                <a16:creationId xmlns:a16="http://schemas.microsoft.com/office/drawing/2014/main" id="{52CCA663-6BA9-FF87-4477-B62265B7F350}"/>
              </a:ext>
            </a:extLst>
          </p:cNvPr>
          <p:cNvSpPr>
            <a:spLocks noGrp="1"/>
          </p:cNvSpPr>
          <p:nvPr/>
        </p:nvSpPr>
        <p:spPr>
          <a:xfrm>
            <a:off x="8945996" y="1150000"/>
            <a:ext cx="2912000" cy="48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Use Cases</a:t>
            </a:r>
          </a:p>
        </p:txBody>
      </p:sp>
      <p:sp>
        <p:nvSpPr>
          <p:cNvPr id="9" name="ObjA">
            <a:extLst>
              <a:ext uri="{FF2B5EF4-FFF2-40B4-BE49-F238E27FC236}">
                <a16:creationId xmlns:a16="http://schemas.microsoft.com/office/drawing/2014/main" id="{C48E80EE-8C2B-4163-349E-F4DBE99BFF8C}"/>
              </a:ext>
            </a:extLst>
          </p:cNvPr>
          <p:cNvSpPr>
            <a:spLocks noGrp="1"/>
          </p:cNvSpPr>
          <p:nvPr/>
        </p:nvSpPr>
        <p:spPr>
          <a:xfrm>
            <a:off x="395996" y="1800000"/>
            <a:ext cx="2650000" cy="3800000"/>
          </a:xfrm>
          <a:prstGeom prst="rect">
            <a:avLst/>
          </a:prstGeom>
          <a:solidFill>
            <a:srgbClr val="E5EAF8"/>
          </a:solidFill>
          <a:ln w="9525">
            <a:solidFill>
              <a:srgbClr val="D0D8F0"/>
            </a:solidFill>
          </a:ln>
        </p:spPr>
        <p:txBody>
          <a:bodyPr lIns="91440" tIns="91440" rIns="91440" bIns="91440" anchor="ctr"/>
          <a:lstStyle/>
          <a:p>
            <a:pPr algn="l">
              <a:buNone/>
            </a:pPr>
            <a:r>
              <a:rPr lang="en-US" sz="1600" b="1" dirty="0">
                <a:solidFill>
                  <a:srgbClr val="00134B"/>
                </a:solidFill>
                <a:latin typeface="Calibri"/>
              </a:rPr>
              <a:t>{{cmm_objective}}</a:t>
            </a:r>
          </a:p>
        </p:txBody>
      </p:sp>
      <p:sp>
        <p:nvSpPr>
          <p:cNvPr id="10" name="Arr1">
            <a:extLst>
              <a:ext uri="{FF2B5EF4-FFF2-40B4-BE49-F238E27FC236}">
                <a16:creationId xmlns:a16="http://schemas.microsoft.com/office/drawing/2014/main" id="{F1DDBADF-3FB1-B099-F8D1-73D8E4D2C8B0}"/>
              </a:ext>
            </a:extLst>
          </p:cNvPr>
          <p:cNvSpPr>
            <a:spLocks noGrp="1"/>
          </p:cNvSpPr>
          <p:nvPr/>
        </p:nvSpPr>
        <p:spPr>
          <a:xfrm>
            <a:off x="3045996" y="1282967"/>
            <a:ext cx="200000" cy="2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Arr2">
            <a:extLst>
              <a:ext uri="{FF2B5EF4-FFF2-40B4-BE49-F238E27FC236}">
                <a16:creationId xmlns:a16="http://schemas.microsoft.com/office/drawing/2014/main" id="{3385C446-7588-75A8-F1A6-3D793151A33B}"/>
              </a:ext>
            </a:extLst>
          </p:cNvPr>
          <p:cNvSpPr>
            <a:spLocks noGrp="1"/>
          </p:cNvSpPr>
          <p:nvPr/>
        </p:nvSpPr>
        <p:spPr>
          <a:xfrm>
            <a:off x="5895996" y="1282967"/>
            <a:ext cx="200000" cy="2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Arr3">
            <a:extLst>
              <a:ext uri="{FF2B5EF4-FFF2-40B4-BE49-F238E27FC236}">
                <a16:creationId xmlns:a16="http://schemas.microsoft.com/office/drawing/2014/main" id="{F6C45F06-34B3-98F6-9A5B-04F59444F556}"/>
              </a:ext>
            </a:extLst>
          </p:cNvPr>
          <p:cNvSpPr>
            <a:spLocks noGrp="1"/>
          </p:cNvSpPr>
          <p:nvPr/>
        </p:nvSpPr>
        <p:spPr>
          <a:xfrm>
            <a:off x="8745996" y="1282967"/>
            <a:ext cx="200000" cy="2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DF1">
            <a:extLst>
              <a:ext uri="{FF2B5EF4-FFF2-40B4-BE49-F238E27FC236}">
                <a16:creationId xmlns:a16="http://schemas.microsoft.com/office/drawing/2014/main" id="{59C1E259-7617-1CB1-7B1C-FA2889D140B6}"/>
              </a:ext>
            </a:extLst>
          </p:cNvPr>
          <p:cNvSpPr>
            <a:spLocks noGrp="1"/>
          </p:cNvSpPr>
          <p:nvPr/>
        </p:nvSpPr>
        <p:spPr>
          <a:xfrm>
            <a:off x="3245996" y="1800000"/>
            <a:ext cx="2650000" cy="770000"/>
          </a:xfrm>
          <a:prstGeom prst="rect">
            <a:avLst/>
          </a:prstGeom>
          <a:solidFill>
            <a:srgbClr val="E5EAF8"/>
          </a:solidFill>
          <a:ln w="9525">
            <a:solidFill>
              <a:srgbClr val="D0D8F0"/>
            </a:solidFill>
          </a:ln>
        </p:spPr>
        <p:txBody>
          <a:bodyPr lIns="91440" tIns="91440" rIns="91440" bIns="91440" anchor="ctr"/>
          <a:lstStyle/>
          <a:p>
            <a:pPr algn="l">
              <a:buNone/>
            </a:pPr>
            <a:r>
              <a:rPr lang="en-US" sz="1200" b="0" dirty="0">
                <a:solidFill>
                  <a:srgbClr val="393939"/>
                </a:solidFill>
                <a:latin typeface="Calibri"/>
              </a:rPr>
              <a:t>{{cmm_driving_factor_1}}</a:t>
            </a:r>
          </a:p>
        </p:txBody>
      </p:sp>
      <p:sp>
        <p:nvSpPr>
          <p:cNvPr id="14" name="DF2">
            <a:extLst>
              <a:ext uri="{FF2B5EF4-FFF2-40B4-BE49-F238E27FC236}">
                <a16:creationId xmlns:a16="http://schemas.microsoft.com/office/drawing/2014/main" id="{394DCA48-3C0B-2A7B-BF97-D054AD77F0F2}"/>
              </a:ext>
            </a:extLst>
          </p:cNvPr>
          <p:cNvSpPr>
            <a:spLocks noGrp="1"/>
          </p:cNvSpPr>
          <p:nvPr/>
        </p:nvSpPr>
        <p:spPr>
          <a:xfrm>
            <a:off x="3245996" y="2670000"/>
            <a:ext cx="2650000" cy="770000"/>
          </a:xfrm>
          <a:prstGeom prst="rect">
            <a:avLst/>
          </a:prstGeom>
          <a:solidFill>
            <a:srgbClr val="E5EAF8"/>
          </a:solidFill>
          <a:ln w="9525">
            <a:solidFill>
              <a:srgbClr val="D0D8F0"/>
            </a:solidFill>
          </a:ln>
        </p:spPr>
        <p:txBody>
          <a:bodyPr lIns="91440" tIns="91440" rIns="91440" bIns="91440" anchor="ctr"/>
          <a:lstStyle/>
          <a:p>
            <a:pPr algn="l">
              <a:buNone/>
            </a:pPr>
            <a:r>
              <a:rPr lang="en-US" sz="1200" b="0" dirty="0">
                <a:solidFill>
                  <a:srgbClr val="393939"/>
                </a:solidFill>
                <a:latin typeface="Calibri"/>
              </a:rPr>
              <a:t>{{cmm_driving_factor_2}}</a:t>
            </a:r>
          </a:p>
        </p:txBody>
      </p:sp>
      <p:sp>
        <p:nvSpPr>
          <p:cNvPr id="15" name="PP1">
            <a:extLst>
              <a:ext uri="{FF2B5EF4-FFF2-40B4-BE49-F238E27FC236}">
                <a16:creationId xmlns:a16="http://schemas.microsoft.com/office/drawing/2014/main" id="{0C7E0AE1-67E7-DD0E-B30B-F9D41884EB5F}"/>
              </a:ext>
            </a:extLst>
          </p:cNvPr>
          <p:cNvSpPr>
            <a:spLocks noGrp="1"/>
          </p:cNvSpPr>
          <p:nvPr/>
        </p:nvSpPr>
        <p:spPr>
          <a:xfrm>
            <a:off x="6095996" y="1800000"/>
            <a:ext cx="2650000" cy="770000"/>
          </a:xfrm>
          <a:prstGeom prst="rect">
            <a:avLst/>
          </a:prstGeom>
          <a:solidFill>
            <a:srgbClr val="FDE8E8"/>
          </a:solidFill>
          <a:ln w="9525">
            <a:solidFill>
              <a:srgbClr val="F5C0C0"/>
            </a:solidFill>
          </a:ln>
        </p:spPr>
        <p:txBody>
          <a:bodyPr lIns="91440" tIns="91440" rIns="91440" bIns="91440" anchor="ctr"/>
          <a:lstStyle/>
          <a:p>
            <a:pPr algn="l">
              <a:buNone/>
            </a:pPr>
            <a:r>
              <a:rPr lang="en-US" sz="1200" b="0" dirty="0">
                <a:solidFill>
                  <a:srgbClr val="880000"/>
                </a:solidFill>
                <a:latin typeface="Calibri"/>
              </a:rPr>
              <a:t>{{cmm_pain_point_1}}</a:t>
            </a:r>
          </a:p>
        </p:txBody>
      </p:sp>
      <p:sp>
        <p:nvSpPr>
          <p:cNvPr id="16" name="PP2">
            <a:extLst>
              <a:ext uri="{FF2B5EF4-FFF2-40B4-BE49-F238E27FC236}">
                <a16:creationId xmlns:a16="http://schemas.microsoft.com/office/drawing/2014/main" id="{B830EDC3-5E83-7FC5-2350-6B57881F4E56}"/>
              </a:ext>
            </a:extLst>
          </p:cNvPr>
          <p:cNvSpPr>
            <a:spLocks noGrp="1"/>
          </p:cNvSpPr>
          <p:nvPr/>
        </p:nvSpPr>
        <p:spPr>
          <a:xfrm>
            <a:off x="6095996" y="2670000"/>
            <a:ext cx="2650000" cy="770000"/>
          </a:xfrm>
          <a:prstGeom prst="rect">
            <a:avLst/>
          </a:prstGeom>
          <a:solidFill>
            <a:srgbClr val="FDE8E8"/>
          </a:solidFill>
          <a:ln w="9525">
            <a:solidFill>
              <a:srgbClr val="F5C0C0"/>
            </a:solidFill>
          </a:ln>
        </p:spPr>
        <p:txBody>
          <a:bodyPr lIns="91440" tIns="91440" rIns="91440" bIns="91440" anchor="ctr"/>
          <a:lstStyle/>
          <a:p>
            <a:pPr algn="l">
              <a:buNone/>
            </a:pPr>
            <a:r>
              <a:rPr lang="en-US" sz="1200" b="0" dirty="0">
                <a:solidFill>
                  <a:srgbClr val="880000"/>
                </a:solidFill>
                <a:latin typeface="Calibri"/>
              </a:rPr>
              <a:t>{{cmm_pain_point_2}}</a:t>
            </a:r>
          </a:p>
        </p:txBody>
      </p:sp>
      <p:sp>
        <p:nvSpPr>
          <p:cNvPr id="17" name="UC1">
            <a:extLst>
              <a:ext uri="{FF2B5EF4-FFF2-40B4-BE49-F238E27FC236}">
                <a16:creationId xmlns:a16="http://schemas.microsoft.com/office/drawing/2014/main" id="{787C19B4-CCEE-3E54-F11F-E1DCE474B35D}"/>
              </a:ext>
            </a:extLst>
          </p:cNvPr>
          <p:cNvSpPr>
            <a:spLocks noGrp="1"/>
          </p:cNvSpPr>
          <p:nvPr/>
        </p:nvSpPr>
        <p:spPr>
          <a:xfrm>
            <a:off x="8945996" y="1800000"/>
            <a:ext cx="2912000" cy="770000"/>
          </a:xfrm>
          <a:prstGeom prst="rect">
            <a:avLst/>
          </a:prstGeom>
          <a:solidFill>
            <a:srgbClr val="EBF5EF"/>
          </a:solidFill>
          <a:ln w="9525">
            <a:solidFill>
              <a:srgbClr val="C5E6D6"/>
            </a:solidFill>
          </a:ln>
        </p:spPr>
        <p:txBody>
          <a:bodyPr lIns="91440" tIns="91440" rIns="91440" bIns="91440" anchor="ctr"/>
          <a:lstStyle/>
          <a:p>
            <a:pPr algn="l">
              <a:buNone/>
            </a:pPr>
            <a:r>
              <a:rPr lang="en-US" sz="1200" b="0" dirty="0">
                <a:solidFill>
                  <a:srgbClr val="1A6B50"/>
                </a:solidFill>
                <a:latin typeface="Calibri"/>
              </a:rPr>
              <a:t>{{cmm_use_case_1}}</a:t>
            </a:r>
          </a:p>
        </p:txBody>
      </p:sp>
      <p:sp>
        <p:nvSpPr>
          <p:cNvPr id="18" name="UC2">
            <a:extLst>
              <a:ext uri="{FF2B5EF4-FFF2-40B4-BE49-F238E27FC236}">
                <a16:creationId xmlns:a16="http://schemas.microsoft.com/office/drawing/2014/main" id="{596CEB7D-499C-D136-9D7D-6B0305FA0722}"/>
              </a:ext>
            </a:extLst>
          </p:cNvPr>
          <p:cNvSpPr>
            <a:spLocks noGrp="1"/>
          </p:cNvSpPr>
          <p:nvPr/>
        </p:nvSpPr>
        <p:spPr>
          <a:xfrm>
            <a:off x="8945996" y="2670000"/>
            <a:ext cx="2912000" cy="770000"/>
          </a:xfrm>
          <a:prstGeom prst="rect">
            <a:avLst/>
          </a:prstGeom>
          <a:solidFill>
            <a:srgbClr val="EBF5EF"/>
          </a:solidFill>
          <a:ln w="9525">
            <a:solidFill>
              <a:srgbClr val="C5E6D6"/>
            </a:solidFill>
          </a:ln>
        </p:spPr>
        <p:txBody>
          <a:bodyPr lIns="91440" tIns="91440" rIns="91440" bIns="91440" anchor="ctr"/>
          <a:lstStyle/>
          <a:p>
            <a:pPr algn="l">
              <a:buNone/>
            </a:pPr>
            <a:r>
              <a:rPr lang="en-US" sz="1200" b="0" dirty="0">
                <a:solidFill>
                  <a:srgbClr val="1A6B50"/>
                </a:solidFill>
                <a:latin typeface="Calibri"/>
              </a:rPr>
              <a:t>{{cmm_use_case_2}}</a:t>
            </a:r>
          </a:p>
        </p:txBody>
      </p:sp>
    </p:spTree>
    <p:extLst>
      <p:ext uri="{BB962C8B-B14F-4D97-AF65-F5344CB8AC3E}">
        <p14:creationId xmlns:p14="http://schemas.microsoft.com/office/powerpoint/2010/main" val="4175486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D4938-3F3C-AF4C-E6F0-3CE1E4B5A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B4848B-4696-FC44-0534-BFBAF3E3B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7ED87F-1F89-A8F0-9A5D-DB1E8231E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1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en-US" noProof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14</a:t>
            </a:fld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reenBar">
            <a:extLst>
              <a:ext uri="{FF2B5EF4-FFF2-40B4-BE49-F238E27FC236}">
                <a16:creationId xmlns:a16="http://schemas.microsoft.com/office/drawing/2014/main" id="{9C05D770-9B41-5EC0-05CC-21C37497AF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CB786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ectionTitle">
            <a:extLst>
              <a:ext uri="{FF2B5EF4-FFF2-40B4-BE49-F238E27FC236}">
                <a16:creationId xmlns:a16="http://schemas.microsoft.com/office/drawing/2014/main" id="{F2E44264-C3CE-1F38-8594-9960D7CE69F6}"/>
              </a:ext>
            </a:extLst>
          </p:cNvPr>
          <p:cNvSpPr txBox="1">
            <a:spLocks noGrp="1"/>
          </p:cNvSpPr>
          <p:nvPr/>
        </p:nvSpPr>
        <p:spPr>
          <a:xfrm>
            <a:off x="550000" y="2400000"/>
            <a:ext cx="10000000" cy="12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40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Unique Selling Points (USPs)</a:t>
            </a:r>
          </a:p>
        </p:txBody>
      </p:sp>
      <p:sp>
        <p:nvSpPr>
          <p:cNvPr id="12" name="SectionSub">
            <a:extLst>
              <a:ext uri="{FF2B5EF4-FFF2-40B4-BE49-F238E27FC236}">
                <a16:creationId xmlns:a16="http://schemas.microsoft.com/office/drawing/2014/main" id="{F042F490-3738-F9CC-5554-FE136734F0FC}"/>
              </a:ext>
            </a:extLst>
          </p:cNvPr>
          <p:cNvSpPr txBox="1">
            <a:spLocks noGrp="1"/>
          </p:cNvSpPr>
          <p:nvPr/>
        </p:nvSpPr>
        <p:spPr>
          <a:xfrm>
            <a:off x="550000" y="3700000"/>
            <a:ext cx="10000000" cy="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0" i="1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"Why should customers buy from you and not from competitors?"</a:t>
            </a:r>
          </a:p>
        </p:txBody>
      </p:sp>
    </p:spTree>
    <p:extLst>
      <p:ext uri="{BB962C8B-B14F-4D97-AF65-F5344CB8AC3E}">
        <p14:creationId xmlns:p14="http://schemas.microsoft.com/office/powerpoint/2010/main" val="2506630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108A9-EB2D-AE4B-E397-AE7B3787C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24E2C7-BF65-7388-9EAF-AAD13F1D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de-DE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15</a:t>
            </a:fld>
            <a:endParaRPr lang="de-A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CE8C20-28AF-FC9D-7330-E69C23CAC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21" name="TitleBar">
            <a:extLst>
              <a:ext uri="{FF2B5EF4-FFF2-40B4-BE49-F238E27FC236}">
                <a16:creationId xmlns:a16="http://schemas.microsoft.com/office/drawing/2014/main" id="{DBB813C4-B253-655D-B4A4-068BE5B003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itleAccent">
            <a:extLst>
              <a:ext uri="{FF2B5EF4-FFF2-40B4-BE49-F238E27FC236}">
                <a16:creationId xmlns:a16="http://schemas.microsoft.com/office/drawing/2014/main" id="{39E016AC-51F4-E272-5966-742C7D3F03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1028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itleText">
            <a:extLst>
              <a:ext uri="{FF2B5EF4-FFF2-40B4-BE49-F238E27FC236}">
                <a16:creationId xmlns:a16="http://schemas.microsoft.com/office/drawing/2014/main" id="{8C8CCFF5-8501-3F63-BCC2-636807D00DFE}"/>
              </a:ext>
            </a:extLst>
          </p:cNvPr>
          <p:cNvSpPr txBox="1">
            <a:spLocks noGrp="1"/>
          </p:cNvSpPr>
          <p:nvPr/>
        </p:nvSpPr>
        <p:spPr>
          <a:xfrm>
            <a:off x="320000" y="0"/>
            <a:ext cx="10000000" cy="10287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2000" b="1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UNIQUE SELLING POINTS (USPs)</a:t>
            </a:r>
            <a:endParaRPr lang="en-US" sz="2000" b="1" i="0" noProof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USP0Card">
            <a:extLst>
              <a:ext uri="{FF2B5EF4-FFF2-40B4-BE49-F238E27FC236}">
                <a16:creationId xmlns:a16="http://schemas.microsoft.com/office/drawing/2014/main" id="{C6F2B1A7-51DB-5157-1592-2FBDD6DC72F9}"/>
              </a:ext>
            </a:extLst>
          </p:cNvPr>
          <p:cNvSpPr>
            <a:spLocks noGrp="1"/>
          </p:cNvSpPr>
          <p:nvPr/>
        </p:nvSpPr>
        <p:spPr>
          <a:xfrm>
            <a:off x="646000" y="1250000"/>
            <a:ext cx="3500000" cy="4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USP0Hdr">
            <a:extLst>
              <a:ext uri="{FF2B5EF4-FFF2-40B4-BE49-F238E27FC236}">
                <a16:creationId xmlns:a16="http://schemas.microsoft.com/office/drawing/2014/main" id="{ED3DF330-C367-C363-D634-A9C98E2164A1}"/>
              </a:ext>
            </a:extLst>
          </p:cNvPr>
          <p:cNvSpPr>
            <a:spLocks noGrp="1"/>
          </p:cNvSpPr>
          <p:nvPr/>
        </p:nvSpPr>
        <p:spPr>
          <a:xfrm>
            <a:off x="646000" y="1250000"/>
            <a:ext cx="3500000" cy="4800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USP0HdrTxt">
            <a:extLst>
              <a:ext uri="{FF2B5EF4-FFF2-40B4-BE49-F238E27FC236}">
                <a16:creationId xmlns:a16="http://schemas.microsoft.com/office/drawing/2014/main" id="{17420411-B2CC-EE4B-013A-246A90546E9A}"/>
              </a:ext>
            </a:extLst>
          </p:cNvPr>
          <p:cNvSpPr txBox="1">
            <a:spLocks noGrp="1"/>
          </p:cNvSpPr>
          <p:nvPr/>
        </p:nvSpPr>
        <p:spPr>
          <a:xfrm>
            <a:off x="696000" y="1250000"/>
            <a:ext cx="3400000" cy="4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</a:rPr>
              <a:t>{{usp_1_title}}</a:t>
            </a:r>
          </a:p>
        </p:txBody>
      </p:sp>
      <p:sp>
        <p:nvSpPr>
          <p:cNvPr id="24" name="USP0Body">
            <a:extLst>
              <a:ext uri="{FF2B5EF4-FFF2-40B4-BE49-F238E27FC236}">
                <a16:creationId xmlns:a16="http://schemas.microsoft.com/office/drawing/2014/main" id="{E1A123E0-DCC5-02E0-B763-F01875B09916}"/>
              </a:ext>
            </a:extLst>
          </p:cNvPr>
          <p:cNvSpPr txBox="1">
            <a:spLocks noGrp="1"/>
          </p:cNvSpPr>
          <p:nvPr/>
        </p:nvSpPr>
        <p:spPr>
          <a:xfrm>
            <a:off x="746000" y="1800000"/>
            <a:ext cx="3300000" cy="405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l">
              <a:lnSpc>
                <a:spcPts val="2400"/>
              </a:lnSpc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393939"/>
                </a:solidFill>
                <a:latin typeface="Calibri"/>
              </a:rPr>
              <a:t>{{usp_1_body_1}}</a:t>
            </a:r>
          </a:p>
          <a:p>
            <a:pPr algn="l">
              <a:lnSpc>
                <a:spcPts val="2400"/>
              </a:lnSpc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393939"/>
                </a:solidFill>
                <a:latin typeface="Calibri"/>
              </a:rPr>
              <a:t>{{usp_1_body_2}}</a:t>
            </a:r>
          </a:p>
          <a:p>
            <a:pPr algn="l">
              <a:lnSpc>
                <a:spcPts val="2400"/>
              </a:lnSpc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393939"/>
                </a:solidFill>
                <a:latin typeface="Calibri"/>
              </a:rPr>
              <a:t>{{usp_1_body_3}}</a:t>
            </a:r>
          </a:p>
        </p:txBody>
      </p:sp>
      <p:sp>
        <p:nvSpPr>
          <p:cNvPr id="25" name="USP1Card">
            <a:extLst>
              <a:ext uri="{FF2B5EF4-FFF2-40B4-BE49-F238E27FC236}">
                <a16:creationId xmlns:a16="http://schemas.microsoft.com/office/drawing/2014/main" id="{4B84DA62-9A43-7318-4EF5-46D2AAC24B9D}"/>
              </a:ext>
            </a:extLst>
          </p:cNvPr>
          <p:cNvSpPr>
            <a:spLocks noGrp="1"/>
          </p:cNvSpPr>
          <p:nvPr/>
        </p:nvSpPr>
        <p:spPr>
          <a:xfrm>
            <a:off x="4346000" y="1250000"/>
            <a:ext cx="3500000" cy="4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USP1Hdr">
            <a:extLst>
              <a:ext uri="{FF2B5EF4-FFF2-40B4-BE49-F238E27FC236}">
                <a16:creationId xmlns:a16="http://schemas.microsoft.com/office/drawing/2014/main" id="{1D9802A5-4220-6697-D8E7-578CFA212FAE}"/>
              </a:ext>
            </a:extLst>
          </p:cNvPr>
          <p:cNvSpPr>
            <a:spLocks noGrp="1"/>
          </p:cNvSpPr>
          <p:nvPr/>
        </p:nvSpPr>
        <p:spPr>
          <a:xfrm>
            <a:off x="4346000" y="1250000"/>
            <a:ext cx="3500000" cy="480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USP1HdrTxt">
            <a:extLst>
              <a:ext uri="{FF2B5EF4-FFF2-40B4-BE49-F238E27FC236}">
                <a16:creationId xmlns:a16="http://schemas.microsoft.com/office/drawing/2014/main" id="{FB438909-289A-FD04-8484-4E69DF57A9B0}"/>
              </a:ext>
            </a:extLst>
          </p:cNvPr>
          <p:cNvSpPr txBox="1">
            <a:spLocks noGrp="1"/>
          </p:cNvSpPr>
          <p:nvPr/>
        </p:nvSpPr>
        <p:spPr>
          <a:xfrm>
            <a:off x="4396000" y="1250000"/>
            <a:ext cx="3400000" cy="4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</a:rPr>
              <a:t>{{usp_2_title}}</a:t>
            </a:r>
          </a:p>
        </p:txBody>
      </p:sp>
      <p:sp>
        <p:nvSpPr>
          <p:cNvPr id="28" name="USP1Body">
            <a:extLst>
              <a:ext uri="{FF2B5EF4-FFF2-40B4-BE49-F238E27FC236}">
                <a16:creationId xmlns:a16="http://schemas.microsoft.com/office/drawing/2014/main" id="{B2412E3D-FC11-96BA-1599-8E67B2618851}"/>
              </a:ext>
            </a:extLst>
          </p:cNvPr>
          <p:cNvSpPr txBox="1">
            <a:spLocks noGrp="1"/>
          </p:cNvSpPr>
          <p:nvPr/>
        </p:nvSpPr>
        <p:spPr>
          <a:xfrm>
            <a:off x="4446000" y="1800000"/>
            <a:ext cx="3300000" cy="405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l">
              <a:lnSpc>
                <a:spcPts val="2400"/>
              </a:lnSpc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393939"/>
                </a:solidFill>
                <a:latin typeface="Calibri"/>
              </a:rPr>
              <a:t>{{usp_2_body_1}}</a:t>
            </a:r>
          </a:p>
          <a:p>
            <a:pPr algn="l">
              <a:lnSpc>
                <a:spcPts val="2400"/>
              </a:lnSpc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393939"/>
                </a:solidFill>
                <a:latin typeface="Calibri"/>
              </a:rPr>
              <a:t>{{usp_2_body_2}}</a:t>
            </a:r>
          </a:p>
          <a:p>
            <a:pPr algn="l">
              <a:lnSpc>
                <a:spcPts val="2400"/>
              </a:lnSpc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393939"/>
                </a:solidFill>
                <a:latin typeface="Calibri"/>
              </a:rPr>
              <a:t>{{usp_2_body_3}}</a:t>
            </a:r>
          </a:p>
        </p:txBody>
      </p:sp>
      <p:sp>
        <p:nvSpPr>
          <p:cNvPr id="29" name="USP2Card">
            <a:extLst>
              <a:ext uri="{FF2B5EF4-FFF2-40B4-BE49-F238E27FC236}">
                <a16:creationId xmlns:a16="http://schemas.microsoft.com/office/drawing/2014/main" id="{B6C2ADC2-A6DF-DF71-DDBD-C0A4E22DD10A}"/>
              </a:ext>
            </a:extLst>
          </p:cNvPr>
          <p:cNvSpPr>
            <a:spLocks noGrp="1"/>
          </p:cNvSpPr>
          <p:nvPr/>
        </p:nvSpPr>
        <p:spPr>
          <a:xfrm>
            <a:off x="8046000" y="1250000"/>
            <a:ext cx="3500000" cy="4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USP2Hdr">
            <a:extLst>
              <a:ext uri="{FF2B5EF4-FFF2-40B4-BE49-F238E27FC236}">
                <a16:creationId xmlns:a16="http://schemas.microsoft.com/office/drawing/2014/main" id="{67D106D5-363B-78DC-10C7-AB6DE8D8F78B}"/>
              </a:ext>
            </a:extLst>
          </p:cNvPr>
          <p:cNvSpPr>
            <a:spLocks noGrp="1"/>
          </p:cNvSpPr>
          <p:nvPr/>
        </p:nvSpPr>
        <p:spPr>
          <a:xfrm>
            <a:off x="8046000" y="1250000"/>
            <a:ext cx="3500000" cy="480000"/>
          </a:xfrm>
          <a:prstGeom prst="rect">
            <a:avLst/>
          </a:prstGeom>
          <a:solidFill>
            <a:srgbClr val="2CB7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USP2HdrTxt">
            <a:extLst>
              <a:ext uri="{FF2B5EF4-FFF2-40B4-BE49-F238E27FC236}">
                <a16:creationId xmlns:a16="http://schemas.microsoft.com/office/drawing/2014/main" id="{A63A3127-33BF-78EB-C441-DECEFD173563}"/>
              </a:ext>
            </a:extLst>
          </p:cNvPr>
          <p:cNvSpPr txBox="1">
            <a:spLocks noGrp="1"/>
          </p:cNvSpPr>
          <p:nvPr/>
        </p:nvSpPr>
        <p:spPr>
          <a:xfrm>
            <a:off x="8096000" y="1250000"/>
            <a:ext cx="3400000" cy="4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</a:rPr>
              <a:t>{{usp_3_title}}</a:t>
            </a:r>
          </a:p>
        </p:txBody>
      </p:sp>
      <p:sp>
        <p:nvSpPr>
          <p:cNvPr id="32" name="USP2Body">
            <a:extLst>
              <a:ext uri="{FF2B5EF4-FFF2-40B4-BE49-F238E27FC236}">
                <a16:creationId xmlns:a16="http://schemas.microsoft.com/office/drawing/2014/main" id="{0307C064-2EA5-6BE9-6349-BD43E87B341B}"/>
              </a:ext>
            </a:extLst>
          </p:cNvPr>
          <p:cNvSpPr txBox="1">
            <a:spLocks noGrp="1"/>
          </p:cNvSpPr>
          <p:nvPr/>
        </p:nvSpPr>
        <p:spPr>
          <a:xfrm>
            <a:off x="8146000" y="1800000"/>
            <a:ext cx="3300000" cy="405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l">
              <a:lnSpc>
                <a:spcPts val="2400"/>
              </a:lnSpc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393939"/>
                </a:solidFill>
                <a:latin typeface="Calibri"/>
              </a:rPr>
              <a:t>{{usp_3_body_1}}</a:t>
            </a:r>
          </a:p>
          <a:p>
            <a:pPr algn="l">
              <a:lnSpc>
                <a:spcPts val="2400"/>
              </a:lnSpc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393939"/>
                </a:solidFill>
                <a:latin typeface="Calibri"/>
              </a:rPr>
              <a:t>{{usp_3_body_2}}</a:t>
            </a:r>
          </a:p>
          <a:p>
            <a:pPr algn="l">
              <a:lnSpc>
                <a:spcPts val="2400"/>
              </a:lnSpc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393939"/>
                </a:solidFill>
                <a:latin typeface="Calibri"/>
              </a:rPr>
              <a:t>{{usp_3_body_3}}</a:t>
            </a:r>
          </a:p>
        </p:txBody>
      </p:sp>
    </p:spTree>
    <p:extLst>
      <p:ext uri="{BB962C8B-B14F-4D97-AF65-F5344CB8AC3E}">
        <p14:creationId xmlns:p14="http://schemas.microsoft.com/office/powerpoint/2010/main" val="3104195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CD6C-0881-AA4F-7E7B-EC7C6FB56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C061D9-E63D-C4BD-8CEA-74DDE3014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C35F3-4A01-99D3-F83E-4B0D992A3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1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en-US" noProof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16</a:t>
            </a:fld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reenBar">
            <a:extLst>
              <a:ext uri="{FF2B5EF4-FFF2-40B4-BE49-F238E27FC236}">
                <a16:creationId xmlns:a16="http://schemas.microsoft.com/office/drawing/2014/main" id="{A8F102B1-FBB5-A3B8-1471-DF264B0F69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CB786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ectionTitle">
            <a:extLst>
              <a:ext uri="{FF2B5EF4-FFF2-40B4-BE49-F238E27FC236}">
                <a16:creationId xmlns:a16="http://schemas.microsoft.com/office/drawing/2014/main" id="{601A7C54-068B-D4DC-90C3-B220401EA094}"/>
              </a:ext>
            </a:extLst>
          </p:cNvPr>
          <p:cNvSpPr txBox="1">
            <a:spLocks noGrp="1"/>
          </p:cNvSpPr>
          <p:nvPr/>
        </p:nvSpPr>
        <p:spPr>
          <a:xfrm>
            <a:off x="550000" y="2400000"/>
            <a:ext cx="10000000" cy="12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40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 Insight</a:t>
            </a:r>
          </a:p>
        </p:txBody>
      </p:sp>
      <p:sp>
        <p:nvSpPr>
          <p:cNvPr id="12" name="SectionSub">
            <a:extLst>
              <a:ext uri="{FF2B5EF4-FFF2-40B4-BE49-F238E27FC236}">
                <a16:creationId xmlns:a16="http://schemas.microsoft.com/office/drawing/2014/main" id="{2DCB43F1-AC65-41F1-EDD1-8360B7C61113}"/>
              </a:ext>
            </a:extLst>
          </p:cNvPr>
          <p:cNvSpPr txBox="1">
            <a:spLocks noGrp="1"/>
          </p:cNvSpPr>
          <p:nvPr/>
        </p:nvSpPr>
        <p:spPr>
          <a:xfrm>
            <a:off x="550000" y="3700000"/>
            <a:ext cx="10000000" cy="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0" i="1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"How do you effectively communication your unique value?”?"</a:t>
            </a:r>
          </a:p>
        </p:txBody>
      </p:sp>
    </p:spTree>
    <p:extLst>
      <p:ext uri="{BB962C8B-B14F-4D97-AF65-F5344CB8AC3E}">
        <p14:creationId xmlns:p14="http://schemas.microsoft.com/office/powerpoint/2010/main" val="1822555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42A39-D033-66BF-61A0-270E18439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5AC0AF-22A2-5273-E077-58500FE0D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de-DE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17</a:t>
            </a:fld>
            <a:endParaRPr lang="de-A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B397E4-D533-117A-E656-9666EF5CA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21" name="TitleBar">
            <a:extLst>
              <a:ext uri="{FF2B5EF4-FFF2-40B4-BE49-F238E27FC236}">
                <a16:creationId xmlns:a16="http://schemas.microsoft.com/office/drawing/2014/main" id="{9BAA4F64-C5F7-790D-ACD1-C213C1FC58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itleAccent">
            <a:extLst>
              <a:ext uri="{FF2B5EF4-FFF2-40B4-BE49-F238E27FC236}">
                <a16:creationId xmlns:a16="http://schemas.microsoft.com/office/drawing/2014/main" id="{D788CDB9-45D5-555B-38D4-8417E2752A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1028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itleText">
            <a:extLst>
              <a:ext uri="{FF2B5EF4-FFF2-40B4-BE49-F238E27FC236}">
                <a16:creationId xmlns:a16="http://schemas.microsoft.com/office/drawing/2014/main" id="{724D34AB-702F-E318-129B-B2A704273F50}"/>
              </a:ext>
            </a:extLst>
          </p:cNvPr>
          <p:cNvSpPr txBox="1">
            <a:spLocks noGrp="1"/>
          </p:cNvSpPr>
          <p:nvPr/>
        </p:nvSpPr>
        <p:spPr>
          <a:xfrm>
            <a:off x="320000" y="0"/>
            <a:ext cx="10000000" cy="10287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2000" b="1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 INSIGHT</a:t>
            </a:r>
            <a:endParaRPr lang="en-US" sz="2000" b="1" i="0" noProof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Node0Bg">
            <a:extLst>
              <a:ext uri="{FF2B5EF4-FFF2-40B4-BE49-F238E27FC236}">
                <a16:creationId xmlns:a16="http://schemas.microsoft.com/office/drawing/2014/main" id="{8E73D4E3-8955-D459-FB37-5F2F6B7F8E1D}"/>
              </a:ext>
            </a:extLst>
          </p:cNvPr>
          <p:cNvSpPr>
            <a:spLocks noGrp="1"/>
          </p:cNvSpPr>
          <p:nvPr/>
        </p:nvSpPr>
        <p:spPr>
          <a:xfrm>
            <a:off x="429192" y="1450000"/>
            <a:ext cx="2400000" cy="600000"/>
          </a:xfrm>
          <a:prstGeom prst="rect">
            <a:avLst/>
          </a:prstGeom>
          <a:solidFill>
            <a:srgbClr val="00134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Node0Lbl">
            <a:extLst>
              <a:ext uri="{FF2B5EF4-FFF2-40B4-BE49-F238E27FC236}">
                <a16:creationId xmlns:a16="http://schemas.microsoft.com/office/drawing/2014/main" id="{F167E3B5-CC48-A965-607A-D13453BDC01B}"/>
              </a:ext>
            </a:extLst>
          </p:cNvPr>
          <p:cNvSpPr txBox="1">
            <a:spLocks noGrp="1"/>
          </p:cNvSpPr>
          <p:nvPr/>
        </p:nvSpPr>
        <p:spPr>
          <a:xfrm>
            <a:off x="479192" y="1450000"/>
            <a:ext cx="2300000" cy="2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Business Objective</a:t>
            </a:r>
          </a:p>
        </p:txBody>
      </p:sp>
      <p:sp>
        <p:nvSpPr>
          <p:cNvPr id="7" name="Node0Val">
            <a:extLst>
              <a:ext uri="{FF2B5EF4-FFF2-40B4-BE49-F238E27FC236}">
                <a16:creationId xmlns:a16="http://schemas.microsoft.com/office/drawing/2014/main" id="{9D02553E-D8CC-8F23-A7CA-921DC2DF9493}"/>
              </a:ext>
            </a:extLst>
          </p:cNvPr>
          <p:cNvSpPr txBox="1">
            <a:spLocks noGrp="1"/>
          </p:cNvSpPr>
          <p:nvPr/>
        </p:nvSpPr>
        <p:spPr>
          <a:xfrm>
            <a:off x="479192" y="1730000"/>
            <a:ext cx="2300000" cy="3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300" b="0" i="0" dirty="0">
                <a:solidFill>
                  <a:srgbClr val="E5EAF8"/>
                </a:solidFill>
                <a:latin typeface="Calibri"/>
              </a:rPr>
              <a:t>{{ci_objective}}</a:t>
            </a:r>
          </a:p>
        </p:txBody>
      </p:sp>
      <p:sp>
        <p:nvSpPr>
          <p:cNvPr id="8" name="Node1Bg">
            <a:extLst>
              <a:ext uri="{FF2B5EF4-FFF2-40B4-BE49-F238E27FC236}">
                <a16:creationId xmlns:a16="http://schemas.microsoft.com/office/drawing/2014/main" id="{66287251-2CC7-F80C-FFFE-5B0A45C8FFAE}"/>
              </a:ext>
            </a:extLst>
          </p:cNvPr>
          <p:cNvSpPr>
            <a:spLocks noGrp="1"/>
          </p:cNvSpPr>
          <p:nvPr/>
        </p:nvSpPr>
        <p:spPr>
          <a:xfrm>
            <a:off x="3249192" y="1450000"/>
            <a:ext cx="2400000" cy="600000"/>
          </a:xfrm>
          <a:prstGeom prst="rect">
            <a:avLst/>
          </a:prstGeom>
          <a:solidFill>
            <a:srgbClr val="B0304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Node1Lbl">
            <a:extLst>
              <a:ext uri="{FF2B5EF4-FFF2-40B4-BE49-F238E27FC236}">
                <a16:creationId xmlns:a16="http://schemas.microsoft.com/office/drawing/2014/main" id="{DE338038-0724-895C-88D8-53C24419A58A}"/>
              </a:ext>
            </a:extLst>
          </p:cNvPr>
          <p:cNvSpPr txBox="1">
            <a:spLocks noGrp="1"/>
          </p:cNvSpPr>
          <p:nvPr/>
        </p:nvSpPr>
        <p:spPr>
          <a:xfrm>
            <a:off x="3299192" y="1450000"/>
            <a:ext cx="2300000" cy="2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Pain Point</a:t>
            </a:r>
          </a:p>
        </p:txBody>
      </p:sp>
      <p:sp>
        <p:nvSpPr>
          <p:cNvPr id="10" name="Node1Val">
            <a:extLst>
              <a:ext uri="{FF2B5EF4-FFF2-40B4-BE49-F238E27FC236}">
                <a16:creationId xmlns:a16="http://schemas.microsoft.com/office/drawing/2014/main" id="{664375EF-C0D4-731D-40EA-204009CC3C03}"/>
              </a:ext>
            </a:extLst>
          </p:cNvPr>
          <p:cNvSpPr txBox="1">
            <a:spLocks noGrp="1"/>
          </p:cNvSpPr>
          <p:nvPr/>
        </p:nvSpPr>
        <p:spPr>
          <a:xfrm>
            <a:off x="3299192" y="1730000"/>
            <a:ext cx="2300000" cy="3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300" b="0" i="0" dirty="0">
                <a:solidFill>
                  <a:srgbClr val="E5EAF8"/>
                </a:solidFill>
                <a:latin typeface="Calibri"/>
              </a:rPr>
              <a:t>{{ci_pain_point}}</a:t>
            </a:r>
          </a:p>
        </p:txBody>
      </p:sp>
      <p:sp>
        <p:nvSpPr>
          <p:cNvPr id="11" name="Node2Bg">
            <a:extLst>
              <a:ext uri="{FF2B5EF4-FFF2-40B4-BE49-F238E27FC236}">
                <a16:creationId xmlns:a16="http://schemas.microsoft.com/office/drawing/2014/main" id="{D043C833-A7F7-2C1B-0D1B-227A4F0DACEE}"/>
              </a:ext>
            </a:extLst>
          </p:cNvPr>
          <p:cNvSpPr>
            <a:spLocks noGrp="1"/>
          </p:cNvSpPr>
          <p:nvPr/>
        </p:nvSpPr>
        <p:spPr>
          <a:xfrm>
            <a:off x="6069192" y="1450000"/>
            <a:ext cx="2400000" cy="600000"/>
          </a:xfrm>
          <a:prstGeom prst="rect">
            <a:avLst/>
          </a:prstGeom>
          <a:solidFill>
            <a:srgbClr val="0030BC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Node2Lbl">
            <a:extLst>
              <a:ext uri="{FF2B5EF4-FFF2-40B4-BE49-F238E27FC236}">
                <a16:creationId xmlns:a16="http://schemas.microsoft.com/office/drawing/2014/main" id="{50066EB4-B696-9C62-9213-1ABD69986F53}"/>
              </a:ext>
            </a:extLst>
          </p:cNvPr>
          <p:cNvSpPr txBox="1">
            <a:spLocks noGrp="1"/>
          </p:cNvSpPr>
          <p:nvPr/>
        </p:nvSpPr>
        <p:spPr>
          <a:xfrm>
            <a:off x="6119192" y="1450000"/>
            <a:ext cx="2300000" cy="2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Use Case</a:t>
            </a:r>
          </a:p>
        </p:txBody>
      </p:sp>
      <p:sp>
        <p:nvSpPr>
          <p:cNvPr id="13" name="Node2Val">
            <a:extLst>
              <a:ext uri="{FF2B5EF4-FFF2-40B4-BE49-F238E27FC236}">
                <a16:creationId xmlns:a16="http://schemas.microsoft.com/office/drawing/2014/main" id="{C9ADEECB-6947-93FD-D1C8-0924FE7A1248}"/>
              </a:ext>
            </a:extLst>
          </p:cNvPr>
          <p:cNvSpPr txBox="1">
            <a:spLocks noGrp="1"/>
          </p:cNvSpPr>
          <p:nvPr/>
        </p:nvSpPr>
        <p:spPr>
          <a:xfrm>
            <a:off x="6119192" y="1730000"/>
            <a:ext cx="2300000" cy="3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300" b="0" i="0" dirty="0">
                <a:solidFill>
                  <a:srgbClr val="E5EAF8"/>
                </a:solidFill>
                <a:latin typeface="Calibri"/>
              </a:rPr>
              <a:t>{{ci_use_case}}</a:t>
            </a:r>
          </a:p>
        </p:txBody>
      </p:sp>
      <p:sp>
        <p:nvSpPr>
          <p:cNvPr id="14" name="Node3Bg">
            <a:extLst>
              <a:ext uri="{FF2B5EF4-FFF2-40B4-BE49-F238E27FC236}">
                <a16:creationId xmlns:a16="http://schemas.microsoft.com/office/drawing/2014/main" id="{3D625438-3EF2-258B-8013-86E3BB5CDE74}"/>
              </a:ext>
            </a:extLst>
          </p:cNvPr>
          <p:cNvSpPr>
            <a:spLocks noGrp="1"/>
          </p:cNvSpPr>
          <p:nvPr/>
        </p:nvSpPr>
        <p:spPr>
          <a:xfrm>
            <a:off x="8889192" y="1450000"/>
            <a:ext cx="2400000" cy="600000"/>
          </a:xfrm>
          <a:prstGeom prst="rect">
            <a:avLst/>
          </a:prstGeom>
          <a:solidFill>
            <a:srgbClr val="2CB78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Node3Lbl">
            <a:extLst>
              <a:ext uri="{FF2B5EF4-FFF2-40B4-BE49-F238E27FC236}">
                <a16:creationId xmlns:a16="http://schemas.microsoft.com/office/drawing/2014/main" id="{EBA2E378-155E-5586-C384-57F0F3639808}"/>
              </a:ext>
            </a:extLst>
          </p:cNvPr>
          <p:cNvSpPr txBox="1">
            <a:spLocks noGrp="1"/>
          </p:cNvSpPr>
          <p:nvPr/>
        </p:nvSpPr>
        <p:spPr>
          <a:xfrm>
            <a:off x="8939192" y="1450000"/>
            <a:ext cx="2300000" cy="2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USP</a:t>
            </a:r>
          </a:p>
        </p:txBody>
      </p:sp>
      <p:sp>
        <p:nvSpPr>
          <p:cNvPr id="16" name="Node3Val">
            <a:extLst>
              <a:ext uri="{FF2B5EF4-FFF2-40B4-BE49-F238E27FC236}">
                <a16:creationId xmlns:a16="http://schemas.microsoft.com/office/drawing/2014/main" id="{12A28470-B69D-D9E4-F4F7-EB731013D470}"/>
              </a:ext>
            </a:extLst>
          </p:cNvPr>
          <p:cNvSpPr txBox="1">
            <a:spLocks noGrp="1"/>
          </p:cNvSpPr>
          <p:nvPr/>
        </p:nvSpPr>
        <p:spPr>
          <a:xfrm>
            <a:off x="8939192" y="1730000"/>
            <a:ext cx="2300000" cy="3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300" b="0" i="0" dirty="0">
                <a:solidFill>
                  <a:srgbClr val="E5EAF8"/>
                </a:solidFill>
                <a:latin typeface="Calibri"/>
              </a:rPr>
              <a:t>{{ci_usp}}</a:t>
            </a:r>
          </a:p>
        </p:txBody>
      </p:sp>
      <p:sp>
        <p:nvSpPr>
          <p:cNvPr id="17" name="Arrow0">
            <a:extLst>
              <a:ext uri="{FF2B5EF4-FFF2-40B4-BE49-F238E27FC236}">
                <a16:creationId xmlns:a16="http://schemas.microsoft.com/office/drawing/2014/main" id="{EB17E5FC-A31C-77CA-2454-46C6D59EEF49}"/>
              </a:ext>
            </a:extLst>
          </p:cNvPr>
          <p:cNvSpPr>
            <a:spLocks noGrp="1"/>
          </p:cNvSpPr>
          <p:nvPr/>
        </p:nvSpPr>
        <p:spPr>
          <a:xfrm>
            <a:off x="2851494" y="1670000"/>
            <a:ext cx="380000" cy="160000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Arrow1">
            <a:extLst>
              <a:ext uri="{FF2B5EF4-FFF2-40B4-BE49-F238E27FC236}">
                <a16:creationId xmlns:a16="http://schemas.microsoft.com/office/drawing/2014/main" id="{00E193C9-05D2-1D55-3FA9-15ADBB6A44F0}"/>
              </a:ext>
            </a:extLst>
          </p:cNvPr>
          <p:cNvSpPr>
            <a:spLocks noGrp="1"/>
          </p:cNvSpPr>
          <p:nvPr/>
        </p:nvSpPr>
        <p:spPr>
          <a:xfrm>
            <a:off x="5671494" y="1670000"/>
            <a:ext cx="380000" cy="160000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Arrow2">
            <a:extLst>
              <a:ext uri="{FF2B5EF4-FFF2-40B4-BE49-F238E27FC236}">
                <a16:creationId xmlns:a16="http://schemas.microsoft.com/office/drawing/2014/main" id="{43D3E013-3B69-363F-33CD-FDF0B128A826}"/>
              </a:ext>
            </a:extLst>
          </p:cNvPr>
          <p:cNvSpPr>
            <a:spLocks noGrp="1"/>
          </p:cNvSpPr>
          <p:nvPr/>
        </p:nvSpPr>
        <p:spPr>
          <a:xfrm>
            <a:off x="8491494" y="1670000"/>
            <a:ext cx="380000" cy="160000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InsightBox">
            <a:extLst>
              <a:ext uri="{FF2B5EF4-FFF2-40B4-BE49-F238E27FC236}">
                <a16:creationId xmlns:a16="http://schemas.microsoft.com/office/drawing/2014/main" id="{923B8D4E-E58A-C4A9-C497-170CFE6C24E2}"/>
              </a:ext>
            </a:extLst>
          </p:cNvPr>
          <p:cNvSpPr>
            <a:spLocks noGrp="1"/>
          </p:cNvSpPr>
          <p:nvPr/>
        </p:nvSpPr>
        <p:spPr>
          <a:xfrm>
            <a:off x="429192" y="2350000"/>
            <a:ext cx="10860000" cy="3815850"/>
          </a:xfrm>
          <a:prstGeom prst="rect">
            <a:avLst/>
          </a:prstGeom>
          <a:solidFill>
            <a:srgbClr val="E5EAF8"/>
          </a:solidFill>
          <a:ln w="9525">
            <a:solidFill>
              <a:srgbClr val="0030B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InsightAccent">
            <a:extLst>
              <a:ext uri="{FF2B5EF4-FFF2-40B4-BE49-F238E27FC236}">
                <a16:creationId xmlns:a16="http://schemas.microsoft.com/office/drawing/2014/main" id="{ED4ED460-38B9-4619-2105-574D454B7090}"/>
              </a:ext>
            </a:extLst>
          </p:cNvPr>
          <p:cNvSpPr>
            <a:spLocks noGrp="1"/>
          </p:cNvSpPr>
          <p:nvPr/>
        </p:nvSpPr>
        <p:spPr>
          <a:xfrm>
            <a:off x="429192" y="2350000"/>
            <a:ext cx="18288" cy="3816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InsightTitle">
            <a:extLst>
              <a:ext uri="{FF2B5EF4-FFF2-40B4-BE49-F238E27FC236}">
                <a16:creationId xmlns:a16="http://schemas.microsoft.com/office/drawing/2014/main" id="{4DDB0641-F0C4-2F0F-3F37-DE21FD86E3BD}"/>
              </a:ext>
            </a:extLst>
          </p:cNvPr>
          <p:cNvSpPr txBox="1">
            <a:spLocks noGrp="1"/>
          </p:cNvSpPr>
          <p:nvPr/>
        </p:nvSpPr>
        <p:spPr>
          <a:xfrm>
            <a:off x="589192" y="2450000"/>
            <a:ext cx="10656004" cy="4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00134B"/>
                </a:solidFill>
                <a:latin typeface="Calibri"/>
              </a:rPr>
              <a:t>{{ci_title}}</a:t>
            </a:r>
          </a:p>
        </p:txBody>
      </p:sp>
      <p:sp>
        <p:nvSpPr>
          <p:cNvPr id="37" name="InsightBody">
            <a:extLst>
              <a:ext uri="{FF2B5EF4-FFF2-40B4-BE49-F238E27FC236}">
                <a16:creationId xmlns:a16="http://schemas.microsoft.com/office/drawing/2014/main" id="{5C3D3F3B-37DF-5A44-B52E-5D5426B8C13B}"/>
              </a:ext>
            </a:extLst>
          </p:cNvPr>
          <p:cNvSpPr txBox="1">
            <a:spLocks noGrp="1"/>
          </p:cNvSpPr>
          <p:nvPr/>
        </p:nvSpPr>
        <p:spPr>
          <a:xfrm>
            <a:off x="589192" y="2950000"/>
            <a:ext cx="10656004" cy="290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400" b="0" dirty="0">
                <a:solidFill>
                  <a:srgbClr val="393939"/>
                </a:solidFill>
                <a:latin typeface="Calibri"/>
              </a:rPr>
              <a:t>{{ci_narrative_1}}</a:t>
            </a:r>
          </a:p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400" b="0" dirty="0">
                <a:solidFill>
                  <a:srgbClr val="393939"/>
                </a:solidFill>
                <a:latin typeface="Calibri"/>
              </a:rPr>
              <a:t>{{ci_narrative_2}}</a:t>
            </a:r>
          </a:p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400" b="1" dirty="0">
                <a:solidFill>
                  <a:srgbClr val="00134B"/>
                </a:solidFill>
                <a:latin typeface="Calibri"/>
              </a:rPr>
              <a:t>{{ci_narrative_3}}</a:t>
            </a:r>
          </a:p>
        </p:txBody>
      </p:sp>
    </p:spTree>
    <p:extLst>
      <p:ext uri="{BB962C8B-B14F-4D97-AF65-F5344CB8AC3E}">
        <p14:creationId xmlns:p14="http://schemas.microsoft.com/office/powerpoint/2010/main" val="3066972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AEFF0-2BCF-28CB-AC30-A7697AB3A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714491-6E28-6BD0-C0D7-058D831E9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1"/>
              <a:t>Page </a:t>
            </a:r>
            <a:fld id="{9F87C01F-1C7D-412C-ABA2-21273AD5B01E}" type="slidenum">
              <a:rPr lang="en-US" noProof="1" dirty="0" smtClean="0"/>
              <a:pPr/>
              <a:t>18</a:t>
            </a:fld>
            <a:endParaRPr lang="en-US" noProof="1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31F5BF1-828D-D736-6F6C-9E8A900BF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1"/>
              <a:t>© Vector Renewables | 2026-03-09</a:t>
            </a:r>
          </a:p>
        </p:txBody>
      </p:sp>
      <p:pic>
        <p:nvPicPr>
          <p:cNvPr id="5" name="Picture Placeholder 40" descr="A person in a blue suit&#10;&#10;AI-generated content may be incorrect.">
            <a:extLst>
              <a:ext uri="{FF2B5EF4-FFF2-40B4-BE49-F238E27FC236}">
                <a16:creationId xmlns:a16="http://schemas.microsoft.com/office/drawing/2014/main" id="{779F6C93-F9DE-0E39-21D3-39829DCE03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578891" y="1509970"/>
            <a:ext cx="1260000" cy="1260000"/>
          </a:xfrm>
          <a:prstGeom prst="ellipse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E191BAF-CBE1-2E92-2BE1-7E535DB8C7B2}"/>
              </a:ext>
            </a:extLst>
          </p:cNvPr>
          <p:cNvSpPr txBox="1">
            <a:spLocks/>
          </p:cNvSpPr>
          <p:nvPr/>
        </p:nvSpPr>
        <p:spPr>
          <a:xfrm>
            <a:off x="4086438" y="2926268"/>
            <a:ext cx="2350682" cy="2600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000" b="1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STEFANO SILVANI</a:t>
            </a:r>
            <a:endParaRPr lang="en-US" sz="1000" noProof="1">
              <a:solidFill>
                <a:srgbClr val="0013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33DEFF2-E1A2-0A62-5E3F-89971BC1B0F7}"/>
              </a:ext>
            </a:extLst>
          </p:cNvPr>
          <p:cNvSpPr txBox="1">
            <a:spLocks/>
          </p:cNvSpPr>
          <p:nvPr/>
        </p:nvSpPr>
        <p:spPr>
          <a:xfrm>
            <a:off x="6785233" y="2926268"/>
            <a:ext cx="2186745" cy="2600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000" b="1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MICHAEL OKOLI</a:t>
            </a:r>
            <a:endParaRPr lang="en-US" sz="1000" noProof="1">
              <a:solidFill>
                <a:srgbClr val="0013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5BB64DE-C915-7E71-91A2-C546F76828A6}"/>
              </a:ext>
            </a:extLst>
          </p:cNvPr>
          <p:cNvSpPr txBox="1">
            <a:spLocks/>
          </p:cNvSpPr>
          <p:nvPr/>
        </p:nvSpPr>
        <p:spPr>
          <a:xfrm>
            <a:off x="9047197" y="2926268"/>
            <a:ext cx="2690671" cy="2600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000" b="1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CHRISTOPH CONRAD</a:t>
            </a:r>
            <a:endParaRPr lang="en-US" sz="1000" noProof="1">
              <a:solidFill>
                <a:srgbClr val="0013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ADE36F7F-3E8B-24A9-7537-F5A162F4214E}"/>
              </a:ext>
            </a:extLst>
          </p:cNvPr>
          <p:cNvSpPr txBox="1">
            <a:spLocks/>
          </p:cNvSpPr>
          <p:nvPr/>
        </p:nvSpPr>
        <p:spPr>
          <a:xfrm>
            <a:off x="4242519" y="5311573"/>
            <a:ext cx="2186745" cy="2600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000" b="1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GABRIELE PERRONE</a:t>
            </a:r>
            <a:endParaRPr lang="en-US" sz="1000" noProof="1">
              <a:solidFill>
                <a:srgbClr val="0013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7A476B2D-F911-93F6-F8CC-AABDCF9C3302}"/>
              </a:ext>
            </a:extLst>
          </p:cNvPr>
          <p:cNvSpPr txBox="1">
            <a:spLocks/>
          </p:cNvSpPr>
          <p:nvPr/>
        </p:nvSpPr>
        <p:spPr>
          <a:xfrm>
            <a:off x="6785233" y="5311279"/>
            <a:ext cx="2186745" cy="2600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000" b="1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ROSARIO LAFACE</a:t>
            </a:r>
            <a:endParaRPr lang="en-US" sz="1000" noProof="1">
              <a:solidFill>
                <a:srgbClr val="0013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Placeholder 42" descr="A person in a suit smiling&#10;&#10;AI-generated content may be incorrect.">
            <a:extLst>
              <a:ext uri="{FF2B5EF4-FFF2-40B4-BE49-F238E27FC236}">
                <a16:creationId xmlns:a16="http://schemas.microsoft.com/office/drawing/2014/main" id="{E7633A57-A3B5-C4C1-A059-A127A7D315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059910" y="1509970"/>
            <a:ext cx="1260000" cy="1260000"/>
          </a:xfrm>
          <a:prstGeom prst="ellipse">
            <a:avLst/>
          </a:prstGeom>
        </p:spPr>
      </p:pic>
      <p:pic>
        <p:nvPicPr>
          <p:cNvPr id="12" name="Picture Placeholder 58">
            <a:extLst>
              <a:ext uri="{FF2B5EF4-FFF2-40B4-BE49-F238E27FC236}">
                <a16:creationId xmlns:a16="http://schemas.microsoft.com/office/drawing/2014/main" id="{2754B349-D5A6-BDC5-EAA7-AA11D45E37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059910" y="3893922"/>
            <a:ext cx="1260000" cy="1260000"/>
          </a:xfrm>
          <a:prstGeom prst="ellipse">
            <a:avLst/>
          </a:prstGeom>
        </p:spPr>
      </p:pic>
      <p:pic>
        <p:nvPicPr>
          <p:cNvPr id="13" name="Picture Placeholder 62">
            <a:extLst>
              <a:ext uri="{FF2B5EF4-FFF2-40B4-BE49-F238E27FC236}">
                <a16:creationId xmlns:a16="http://schemas.microsoft.com/office/drawing/2014/main" id="{942E112A-0037-9694-CA77-C84E36067ED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578891" y="3893922"/>
            <a:ext cx="1260000" cy="1260000"/>
          </a:xfrm>
          <a:prstGeom prst="ellipse">
            <a:avLst/>
          </a:prstGeom>
        </p:spPr>
      </p:pic>
      <p:pic>
        <p:nvPicPr>
          <p:cNvPr id="14" name="Picture 14" descr="A blue square with black letters&#10;&#10;AI-generated content may be incorrect.">
            <a:hlinkClick r:id="rId6"/>
            <a:extLst>
              <a:ext uri="{FF2B5EF4-FFF2-40B4-BE49-F238E27FC236}">
                <a16:creationId xmlns:a16="http://schemas.microsoft.com/office/drawing/2014/main" id="{18D271D1-B87F-D995-4008-88C39F23364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379" r="21037"/>
          <a:stretch>
            <a:fillRect/>
          </a:stretch>
        </p:blipFill>
        <p:spPr>
          <a:xfrm>
            <a:off x="7133176" y="2951780"/>
            <a:ext cx="174856" cy="167889"/>
          </a:xfrm>
          <a:prstGeom prst="rect">
            <a:avLst/>
          </a:prstGeom>
        </p:spPr>
      </p:pic>
      <p:pic>
        <p:nvPicPr>
          <p:cNvPr id="15" name="Picture 15" descr="A blue square with black letters&#10;&#10;AI-generated content may be incorrect.">
            <a:hlinkClick r:id="rId8"/>
            <a:extLst>
              <a:ext uri="{FF2B5EF4-FFF2-40B4-BE49-F238E27FC236}">
                <a16:creationId xmlns:a16="http://schemas.microsoft.com/office/drawing/2014/main" id="{5E7A2898-5A2D-64A7-1700-80DC45834CB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379" r="21037"/>
          <a:stretch>
            <a:fillRect/>
          </a:stretch>
        </p:blipFill>
        <p:spPr>
          <a:xfrm>
            <a:off x="4424210" y="5332694"/>
            <a:ext cx="174856" cy="167889"/>
          </a:xfrm>
          <a:prstGeom prst="rect">
            <a:avLst/>
          </a:prstGeom>
        </p:spPr>
      </p:pic>
      <p:pic>
        <p:nvPicPr>
          <p:cNvPr id="16" name="Picture 16" descr="A blue square with black letters&#10;&#10;AI-generated content may be incorrect.">
            <a:hlinkClick r:id="rId9"/>
            <a:extLst>
              <a:ext uri="{FF2B5EF4-FFF2-40B4-BE49-F238E27FC236}">
                <a16:creationId xmlns:a16="http://schemas.microsoft.com/office/drawing/2014/main" id="{51DAEFD6-35F1-24E5-5FEA-E9D469DA648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379" r="21037"/>
          <a:stretch>
            <a:fillRect/>
          </a:stretch>
        </p:blipFill>
        <p:spPr>
          <a:xfrm>
            <a:off x="7059910" y="5332400"/>
            <a:ext cx="174856" cy="167889"/>
          </a:xfrm>
          <a:prstGeom prst="rect">
            <a:avLst/>
          </a:prstGeom>
        </p:spPr>
      </p:pic>
      <p:pic>
        <p:nvPicPr>
          <p:cNvPr id="17" name="Picture 17" descr="A blue square with black letters&#10;&#10;AI-generated content may be incorrect.">
            <a:hlinkClick r:id="rId10"/>
            <a:extLst>
              <a:ext uri="{FF2B5EF4-FFF2-40B4-BE49-F238E27FC236}">
                <a16:creationId xmlns:a16="http://schemas.microsoft.com/office/drawing/2014/main" id="{E0D26C9B-9853-75F6-0995-1A2E09F24C6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379" r="21037"/>
          <a:stretch>
            <a:fillRect/>
          </a:stretch>
        </p:blipFill>
        <p:spPr>
          <a:xfrm>
            <a:off x="9475976" y="2951780"/>
            <a:ext cx="174856" cy="167889"/>
          </a:xfrm>
          <a:prstGeom prst="rect">
            <a:avLst/>
          </a:prstGeom>
        </p:spPr>
      </p:pic>
      <p:pic>
        <p:nvPicPr>
          <p:cNvPr id="18" name="Picture Placeholder 5" descr="A person in a suit&#10;&#10;AI-generated content may be incorrect.">
            <a:extLst>
              <a:ext uri="{FF2B5EF4-FFF2-40B4-BE49-F238E27FC236}">
                <a16:creationId xmlns:a16="http://schemas.microsoft.com/office/drawing/2014/main" id="{53D565B1-7B43-1A8D-90AF-BA1E0F65DFA9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44" r="44"/>
          <a:stretch>
            <a:fillRect/>
          </a:stretch>
        </p:blipFill>
        <p:spPr>
          <a:xfrm>
            <a:off x="9540929" y="1509970"/>
            <a:ext cx="1260000" cy="1260000"/>
          </a:xfrm>
          <a:prstGeom prst="ellipse">
            <a:avLst/>
          </a:prstGeom>
        </p:spPr>
      </p:pic>
      <p:pic>
        <p:nvPicPr>
          <p:cNvPr id="19" name="Picture 21" descr="A blue square with black letters&#10;&#10;AI-generated content may be incorrect.">
            <a:hlinkClick r:id="rId12"/>
            <a:extLst>
              <a:ext uri="{FF2B5EF4-FFF2-40B4-BE49-F238E27FC236}">
                <a16:creationId xmlns:a16="http://schemas.microsoft.com/office/drawing/2014/main" id="{18AF6CEA-1FA0-3434-2869-AF84CB26302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379" r="21037"/>
          <a:stretch>
            <a:fillRect/>
          </a:stretch>
        </p:blipFill>
        <p:spPr>
          <a:xfrm>
            <a:off x="4434531" y="2946928"/>
            <a:ext cx="174856" cy="167889"/>
          </a:xfrm>
          <a:prstGeom prst="rect">
            <a:avLst/>
          </a:prstGeom>
        </p:spPr>
      </p:pic>
      <p:sp>
        <p:nvSpPr>
          <p:cNvPr id="20" name="TextBox 22">
            <a:extLst>
              <a:ext uri="{FF2B5EF4-FFF2-40B4-BE49-F238E27FC236}">
                <a16:creationId xmlns:a16="http://schemas.microsoft.com/office/drawing/2014/main" id="{438F0A6A-5CD6-99D3-FC4A-C063EA6C0D86}"/>
              </a:ext>
            </a:extLst>
          </p:cNvPr>
          <p:cNvSpPr txBox="1"/>
          <p:nvPr/>
        </p:nvSpPr>
        <p:spPr>
          <a:xfrm>
            <a:off x="4086438" y="3141784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GTM leader with 10+ years scaling value-based enterprise sales.</a:t>
            </a:r>
          </a:p>
        </p:txBody>
      </p:sp>
      <p:sp>
        <p:nvSpPr>
          <p:cNvPr id="21" name="TextBox 23">
            <a:extLst>
              <a:ext uri="{FF2B5EF4-FFF2-40B4-BE49-F238E27FC236}">
                <a16:creationId xmlns:a16="http://schemas.microsoft.com/office/drawing/2014/main" id="{3B8423B7-6AD9-64FA-CEE1-9A51C44509C8}"/>
              </a:ext>
            </a:extLst>
          </p:cNvPr>
          <p:cNvSpPr txBox="1"/>
          <p:nvPr/>
        </p:nvSpPr>
        <p:spPr>
          <a:xfrm>
            <a:off x="6631978" y="3141784"/>
            <a:ext cx="234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 sales leader in enterprise. Coach 50+ sales reps in value-selling.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205E2855-1493-720F-1033-B5ABD6E85526}"/>
              </a:ext>
            </a:extLst>
          </p:cNvPr>
          <p:cNvSpPr txBox="1"/>
          <p:nvPr/>
        </p:nvSpPr>
        <p:spPr>
          <a:xfrm>
            <a:off x="9128147" y="3141784"/>
            <a:ext cx="234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Advisory board member.</a:t>
            </a:r>
          </a:p>
          <a:p>
            <a:pPr algn="ctr"/>
            <a:r>
              <a:rPr lang="en-US" sz="1000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40+ years in B2B sales &amp; marketing.</a:t>
            </a:r>
          </a:p>
        </p:txBody>
      </p:sp>
      <p:sp>
        <p:nvSpPr>
          <p:cNvPr id="23" name="TextBox 25">
            <a:extLst>
              <a:ext uri="{FF2B5EF4-FFF2-40B4-BE49-F238E27FC236}">
                <a16:creationId xmlns:a16="http://schemas.microsoft.com/office/drawing/2014/main" id="{4FDCED5E-439D-F0C6-5811-BFF26314D09B}"/>
              </a:ext>
            </a:extLst>
          </p:cNvPr>
          <p:cNvSpPr txBox="1"/>
          <p:nvPr/>
        </p:nvSpPr>
        <p:spPr>
          <a:xfrm>
            <a:off x="4086438" y="5537927"/>
            <a:ext cx="234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software architect with </a:t>
            </a:r>
          </a:p>
          <a:p>
            <a:pPr algn="ctr"/>
            <a:r>
              <a:rPr lang="en-US" sz="1000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10+ years in software development.</a:t>
            </a:r>
          </a:p>
        </p:txBody>
      </p:sp>
      <p:sp>
        <p:nvSpPr>
          <p:cNvPr id="24" name="TextBox 26">
            <a:extLst>
              <a:ext uri="{FF2B5EF4-FFF2-40B4-BE49-F238E27FC236}">
                <a16:creationId xmlns:a16="http://schemas.microsoft.com/office/drawing/2014/main" id="{82028C13-4334-D1CF-11D2-5FDC79736F02}"/>
              </a:ext>
            </a:extLst>
          </p:cNvPr>
          <p:cNvSpPr txBox="1"/>
          <p:nvPr/>
        </p:nvSpPr>
        <p:spPr>
          <a:xfrm>
            <a:off x="6631978" y="5537633"/>
            <a:ext cx="234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AI system architect. </a:t>
            </a:r>
            <a:br>
              <a:rPr lang="en-US" sz="1000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00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10+ years in AI models development.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637370D3-FC45-6279-84E5-899B1468F037}"/>
              </a:ext>
            </a:extLst>
          </p:cNvPr>
          <p:cNvSpPr txBox="1">
            <a:spLocks/>
          </p:cNvSpPr>
          <p:nvPr/>
        </p:nvSpPr>
        <p:spPr>
          <a:xfrm>
            <a:off x="419100" y="1967916"/>
            <a:ext cx="3329264" cy="35323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70+ years of B2B tech sales and marketing experience  in SMB and Enterprise.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400" noProof="1">
              <a:solidFill>
                <a:srgbClr val="0013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400" noProof="1">
              <a:solidFill>
                <a:srgbClr val="0013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400" noProof="1">
              <a:solidFill>
                <a:srgbClr val="0013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itle 18">
            <a:extLst>
              <a:ext uri="{FF2B5EF4-FFF2-40B4-BE49-F238E27FC236}">
                <a16:creationId xmlns:a16="http://schemas.microsoft.com/office/drawing/2014/main" id="{5EC6404F-322F-B159-C3C1-90EF08ED4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58351"/>
            <a:ext cx="9782697" cy="1197138"/>
          </a:xfrm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sz="3600" b="0" noProof="1">
                <a:solidFill>
                  <a:srgbClr val="01134A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THE VALUE ACCELERATOR TEAM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334F9045-8EE5-2587-9964-9ED728DF7C40}"/>
              </a:ext>
            </a:extLst>
          </p:cNvPr>
          <p:cNvSpPr txBox="1">
            <a:spLocks/>
          </p:cNvSpPr>
          <p:nvPr/>
        </p:nvSpPr>
        <p:spPr>
          <a:xfrm>
            <a:off x="407988" y="1244479"/>
            <a:ext cx="3430732" cy="6463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99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800" b="1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Built by people who have done the job.</a:t>
            </a:r>
          </a:p>
        </p:txBody>
      </p:sp>
      <p:sp>
        <p:nvSpPr>
          <p:cNvPr id="2" name="Rechteck 6">
            <a:extLst>
              <a:ext uri="{FF2B5EF4-FFF2-40B4-BE49-F238E27FC236}">
                <a16:creationId xmlns:a16="http://schemas.microsoft.com/office/drawing/2014/main" id="{1DA23FB2-26E9-0779-AB37-2FD84BD3BB7B}"/>
              </a:ext>
            </a:extLst>
          </p:cNvPr>
          <p:cNvSpPr/>
          <p:nvPr/>
        </p:nvSpPr>
        <p:spPr>
          <a:xfrm>
            <a:off x="407989" y="4122086"/>
            <a:ext cx="3091350" cy="17432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200" b="1" noProof="1">
                <a:solidFill>
                  <a:srgbClr val="002060"/>
                </a:solidFill>
              </a:rPr>
              <a:t>Value Accelerator GmbH</a:t>
            </a:r>
          </a:p>
          <a:p>
            <a:r>
              <a:rPr lang="en-US" sz="1200" noProof="1">
                <a:solidFill>
                  <a:srgbClr val="002060"/>
                </a:solidFill>
              </a:rPr>
              <a:t>Grabenstrasse 11b</a:t>
            </a:r>
          </a:p>
          <a:p>
            <a:r>
              <a:rPr lang="en-US" sz="1200" noProof="1">
                <a:solidFill>
                  <a:srgbClr val="002060"/>
                </a:solidFill>
              </a:rPr>
              <a:t>6340 Baar, Switzerland</a:t>
            </a:r>
          </a:p>
          <a:p>
            <a:endParaRPr lang="en-US" sz="1200" noProof="1">
              <a:solidFill>
                <a:srgbClr val="002060"/>
              </a:solidFill>
            </a:endParaRPr>
          </a:p>
          <a:p>
            <a:r>
              <a:rPr lang="en-US" sz="1200" noProof="1">
                <a:solidFill>
                  <a:srgbClr val="002060"/>
                </a:solidFill>
              </a:rPr>
              <a:t>E-Mail: info@value-accelerator.io</a:t>
            </a:r>
          </a:p>
          <a:p>
            <a:r>
              <a:rPr lang="en-US" sz="1200" noProof="1">
                <a:solidFill>
                  <a:srgbClr val="002060"/>
                </a:solidFill>
              </a:rPr>
              <a:t>Website: </a:t>
            </a:r>
            <a:r>
              <a:rPr lang="en-US" sz="1200" noProof="1">
                <a:solidFill>
                  <a:srgbClr val="002060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www.value-accelerator.io</a:t>
            </a:r>
            <a:endParaRPr lang="en-US" sz="1200" noProof="1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502375"/>
      </p:ext>
    </p:extLst>
  </p:cSld>
  <p:clrMapOvr>
    <a:masterClrMapping/>
  </p:clrMapOvr>
</p:sld>
</file>

<file path=ppt/theme/theme1.xml><?xml version="1.0" encoding="utf-8"?>
<a:theme xmlns:a="http://schemas.openxmlformats.org/drawingml/2006/main" name="VA_Corporate ID_V1">
  <a:themeElements>
    <a:clrScheme name="Custom 2">
      <a:dk1>
        <a:srgbClr val="000000"/>
      </a:dk1>
      <a:lt1>
        <a:srgbClr val="FFFFFF"/>
      </a:lt1>
      <a:dk2>
        <a:srgbClr val="5A5A5A"/>
      </a:dk2>
      <a:lt2>
        <a:srgbClr val="E5EAF8"/>
      </a:lt2>
      <a:accent1>
        <a:srgbClr val="0030BC"/>
      </a:accent1>
      <a:accent2>
        <a:srgbClr val="CE3644"/>
      </a:accent2>
      <a:accent3>
        <a:srgbClr val="DB6100"/>
      </a:accent3>
      <a:accent4>
        <a:srgbClr val="E1CC09"/>
      </a:accent4>
      <a:accent5>
        <a:srgbClr val="319970"/>
      </a:accent5>
      <a:accent6>
        <a:srgbClr val="AA00FF"/>
      </a:accent6>
      <a:hlink>
        <a:srgbClr val="2CB786"/>
      </a:hlink>
      <a:folHlink>
        <a:srgbClr val="39393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VA_Corporate ID_V1">
  <a:themeElements>
    <a:clrScheme name="Custom 4">
      <a:dk1>
        <a:srgbClr val="000000"/>
      </a:dk1>
      <a:lt1>
        <a:srgbClr val="FFFFFF"/>
      </a:lt1>
      <a:dk2>
        <a:srgbClr val="5A5A5A"/>
      </a:dk2>
      <a:lt2>
        <a:srgbClr val="E5EAF8"/>
      </a:lt2>
      <a:accent1>
        <a:srgbClr val="0030BC"/>
      </a:accent1>
      <a:accent2>
        <a:srgbClr val="CE3644"/>
      </a:accent2>
      <a:accent3>
        <a:srgbClr val="DB6100"/>
      </a:accent3>
      <a:accent4>
        <a:srgbClr val="E1CC09"/>
      </a:accent4>
      <a:accent5>
        <a:srgbClr val="319970"/>
      </a:accent5>
      <a:accent6>
        <a:srgbClr val="AA00FF"/>
      </a:accent6>
      <a:hlink>
        <a:srgbClr val="2CB786"/>
      </a:hlink>
      <a:folHlink>
        <a:srgbClr val="39393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950</Words>
  <Application>Microsoft Office PowerPoint</Application>
  <PresentationFormat>Widescreen</PresentationFormat>
  <Paragraphs>221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Titoli diapositive</vt:lpstr>
      </vt:variant>
      <vt:variant>
        <vt:i4>18</vt:i4>
      </vt:variant>
    </vt:vector>
  </HeadingPairs>
  <TitlesOfParts>
    <vt:vector size="20" baseType="lpstr">
      <vt:lpstr>VA_Corporate ID_V1</vt:lpstr>
      <vt:lpstr>1_VA_Corporate ID_V1</vt:lpstr>
      <vt:lpstr>Customer Name Go-To-Market Blueprint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THE VALUE ACCELERATOR TEAM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Stefano Silvani</dc:creator>
  <cp:lastModifiedBy>Stefano Silvani</cp:lastModifiedBy>
  <cp:revision>2</cp:revision>
  <dcterms:created xsi:type="dcterms:W3CDTF">2026-03-29T08:04:27Z</dcterms:created>
  <dcterms:modified xsi:type="dcterms:W3CDTF">2026-06-04T13:21:31Z</dcterms:modified>
</cp:coreProperties>
</file>